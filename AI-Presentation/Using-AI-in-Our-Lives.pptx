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In the next 45 minutes I'm not going to sell you on AI, and I'm not going to scare you about it. I'll show what free AI tools can genuinely do for everyday things — slides, studying, email, holidays. Everything today is usable tonight, for free, with an account you probably already have. Four live demos, so expect a few 'oh, it actually did that' moments.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ground rules. One: everything is free-tier. Two: I'll always give the downside too — every tool has one. Three: interrupt me, this works best as a conversation. And remember: AI makes confident mistakes, so treat it as a very fast intern, not an oracle. We'll return to that at the end.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map. A short history, then the main event: eight everyday jobs and the best free tool for each. Four come with a live demo. We finish on the stuff nobody likes to talk about — privacy, accuracy, and where to be careful.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very short history so we understand how we got here.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is older than most think — the term was coined in 1956. For decades it was expert systems: humans hand-coding thousands of if-this-then-that rules, brittle and expensive. The 2010s brought machine learning — systems that learn patterns from data (spam filters, photo tagging, recommendations). The big shift for us was late 2022, when generative AI — tools that CREATE text, images, audio — became usable by anyone through a chat box. That's when AI left the lab and hit our phones.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now? Four things converged. Models got dramatically larger and trained on far more data. The interface became plain conversation. Models became multimodal — they read your PDF, look at a photo, listen, and talk back. And it's baked into Gmail, your keyboard, your browser. You don't 'go to' AI anymore; it comes to you. The skill that matters now isn't coding — it's knowing what to ask and how to check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remember one thing, make it this. Treat AI like a fast, well-read intern who never sleeps. Great first draft in seconds — but it can be confidently wrong, and it doesn't know your context unless you tell it. You are always the editor and final decision-maker. Keep that frame and you get the benefit without the burns.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job: the free tool I'd reach for first, an alternative or two, and the catch.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eight jobs. Notice a theme: you rarely need a dedicated app. Two free general assistants — ChatGPT and Google Gemini — plus Canva and NotebookLM cover about 90% of this. Let's start with something everyone here does: making slides.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job: making a presentation — like this one. The standout is Gamma: paste your notes and ~30 seconds later you have a designed 10–15 slide deck. Canva Magic Design is the best FULLY free option with thousands of templates. If you live in PowerPoint or Google Slides, Copilot and Gemini build slides right inside them. The catch: AI decks can be generic and occasionally invent a statistic — re-style and check every number. This deck is what we'll build in Demo 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see it. I've got a page of rough notes (demo1-source-reading.md). I paste them into Gamma with a specific prompt and ask for an 8-slide deck. While it generates, notice it chooses layouts, pulls images, writes headlines. [Generate.] Under a minute from a wall of text to something presentable. I'd tweak colours and fix any invented fact — minutes of polish, not hours of building. Full prompt in the run-sheet.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job: studying. Top pick is NotebookLM from Google — free with any Google account. Unlike a normal chatbot, it only answers from documents YOU upload and cites the exact line, so it rarely makes things up. Upload notes, a chapter, even a YouTube lecture, and get summaries, quizzes, flashcards, a mind map, a study guide. The showstopper is the Audio Overview — your notes as a two-host podcast for the bus. Catch: rubbish in, rubbish out — feed it good sources.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wow moment for students. I've uploaded a reading (demo2-study-source.md). One click gives a study guide and a quiz drawn straight from the text. Now the fun part — I pre-generated an Audio Overview because it takes a few minutes. [Play 15–20 sec.] Two AI hosts discussing YOUR material naturally. Imagine revising by listening to a podcast made from your own lecture notes. That's the jaw-drop.</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Third job: the email-calendar-meeting treadmill. On a free personal Google account you already get a lot: Gmail drafts and refines replies, and when an email mentions a date it offers one-tap 'Add to Calendar'. In Meet, AI can take notes and give a recap. Honesty moment: the deepest integrations — finding slots across colleagues' calendars, auto Meet transcription — are PAID Workspace features. So I'll show a version that works on a FREE account using the free Gemini app as the glue.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realistic flow on a free account. Step one: in the free Gemini app I ask it to draft a meeting invitation email. Step two: drop it into Gmail; because it names a day and time, Gmail shows 'Add to Calendar' — one tap and the event exists. Step three: in Calendar I hit 'Add Google Meet', generating the link, and the invite goes out. Three tools, one minute, zero back-and-forth. Full click-path in the run-sheet.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Fourth job — about integrity as much as productivity: using AI to UNDERSTAND an assignment, not do it for you. The trick is the prompt: 'Act as a tutor. Explain what this question is really asking, list the key concepts, and quiz me — do not write the answer.' NotebookLM's Learning Guide and ChatGPT's study mode both do this. You learn the material and keep a defensible, honest workflow.</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prompt (also in your handout). Notice it forbids the AI from writing the answer and forces it to check your understanding. This is how you use AI to get smarter instead of getting caught. If your school has an AI policy, this workflow usually sits on the right side of it — but check, because they vary.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Fifth job: posters and EDMs (electronic direct mail). For most people Canva Magic Design is fastest — describe your poster, get a fully editable design. Microsoft Designer is completely free and good for social graphics. For readable text INSIDE an AI image — normally AI's weak spot — Ideogram is the specialist. Two catches: AI still misspells words in images, so proofread; and free tiers usually forbid commercial use and may add a watermark. Let's make one using this session as the case study.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Meta moment: let's make the promotional poster for this exact session. I paste the brief — title, date, audience, vibe — into Canva's AI (demo4-poster-brief.md). [Generate.] Several editable layouts appear. I pick one and, because it's editable, I fix the date or swap a colour in seconds. For headline text baked into the image, I'd use Ideogram — I'll show a pre-made one to compare. Proofread, download, done.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Sixth job: video — the fastest-moving area, so treat specifics as 'true today'. For turning a script or slides into narrated video, Canva and CapCut are friendliest and export without watermark. For jaw-dropping generated clips from text, Google Veo (via the free Gemini app, small daily allowance) is most realistic and even generates sound. Runway, Kling, Luma give more control. Reality check: free video is short, rate-limited, often watermarked, and NOT licensed for commercial use. Prompt's in your handout.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Seventh — the fun one. A general assistant like ChatGPT or Gemini turns a vague idea — '10 relaxed days in Japan, food-focused, mid-budget' — into a day-by-day plan in seconds. Dedicated free tools like Wonderplan and Google Travel add maps and budgets. The secret is detail in your prompt. The big catch: AI's prices, hours, and 'this place exists' claims can be stale or invented — always verify before booking. Plan, don't pay.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Eighth: small daily wins. Snap your fridge, get three dinner ideas. Paste a confusing letter: 'explain this like I'm busy, what do I do?' Drop a 40-page PDF, get five key points. Soften an awkward message, translate a menu with your camera, write the poem you're dreading. Individually minor; together they hand back real time each week. One caution: don't paste passwords, ID numbers, medical or financial details into free AI.</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stay balanced, four things to genuinely watch. Hallucinations: AI invents facts, citations and quotes with total confidence — verify anything that matters. Stale or wrong info, especially prices and current events. Bias: it mirrors its training data. Privacy: on free tiers your inputs may train the model, so never paste confidential or personal data. Not reasons to avoid AI — reasons to stay the editor.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 people who get great results use it? Five habits. Give context and an example of what 'good' looks like. Ask it to show reasoning or sources. Verify anything factual against a second source. Treat the first answer as a starting point and push back. And keep the final judgement human. Do these and you're ahead of most people using these tools.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do nothing else, install these four. A general assistant for daily questions, drafting and travel. NotebookLM for study and documents. Canva for posters, EDMs and simple video. Gamma for slides. All free. Pick one job from today and try it this week — that's how it sticks.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challenge: tonight, pick one task that eats 15 minutes — a reply, a summary, a plan — and hand it to a free AI. Notice what it nailed and what you had to fix. That gap IS the skill. Thank you — I'd love your questions, especially on any of the demos.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2A43"/>
        </a:solidFill>
        <a:effectLst/>
      </p:bgPr>
    </p:bg>
    <p:spTree>
      <p:nvGrpSpPr>
        <p:cNvPr id="1" name=""/>
        <p:cNvGrpSpPr/>
        <p:nvPr/>
      </p:nvGrpSpPr>
      <p:grpSpPr/>
      <p:sp>
        <p:nvSpPr>
          <p:cNvPr id="2" name="Rectangle 1"/>
          <p:cNvSpPr/>
          <p:nvPr/>
        </p:nvSpPr>
        <p:spPr>
          <a:xfrm>
            <a:off x="0" y="0"/>
            <a:ext cx="12191695" cy="228600"/>
          </a:xfrm>
          <a:prstGeom prst="rect">
            <a:avLst/>
          </a:prstGeom>
          <a:solidFill>
            <a:srgbClr val="18B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29400"/>
            <a:ext cx="12191695" cy="22860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509760" y="822960"/>
            <a:ext cx="256032" cy="256032"/>
          </a:xfrm>
          <a:prstGeom prst="ellipse">
            <a:avLst/>
          </a:prstGeom>
          <a:solidFill>
            <a:srgbClr val="18B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012680" y="822960"/>
            <a:ext cx="256032" cy="256032"/>
          </a:xfrm>
          <a:prstGeom prst="ellipse">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515600" y="822960"/>
            <a:ext cx="256032" cy="256032"/>
          </a:xfrm>
          <a:prstGeom prst="ellipse">
            <a:avLst/>
          </a:prstGeom>
          <a:solidFill>
            <a:srgbClr val="18B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509760" y="1325880"/>
            <a:ext cx="256032" cy="256032"/>
          </a:xfrm>
          <a:prstGeom prst="ellipse">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012680" y="1325880"/>
            <a:ext cx="256032" cy="256032"/>
          </a:xfrm>
          <a:prstGeom prst="ellipse">
            <a:avLst/>
          </a:prstGeom>
          <a:solidFill>
            <a:srgbClr val="18B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515600" y="1325880"/>
            <a:ext cx="256032" cy="256032"/>
          </a:xfrm>
          <a:prstGeom prst="ellipse">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77440"/>
            <a:ext cx="10515600" cy="1828800"/>
          </a:xfrm>
          <a:prstGeom prst="rect">
            <a:avLst/>
          </a:prstGeom>
          <a:noFill/>
        </p:spPr>
        <p:txBody>
          <a:bodyPr wrap="square" anchor="t">
            <a:spAutoFit/>
          </a:bodyPr>
          <a:lstStyle/>
          <a:p>
            <a:r>
              <a:rPr sz="5400" b="1" i="0">
                <a:solidFill>
                  <a:srgbClr val="FFFFFF"/>
                </a:solidFill>
                <a:latin typeface="Calibri"/>
              </a:rPr>
              <a:t>Using AI in Our Lives</a:t>
            </a:r>
          </a:p>
          <a:p>
            <a:pPr>
              <a:spcBef>
                <a:spcPts val="1400"/>
              </a:spcBef>
            </a:pPr>
            <a:r>
              <a:rPr sz="2400" b="0" i="0">
                <a:solidFill>
                  <a:srgbClr val="18B6B0"/>
                </a:solidFill>
                <a:latin typeface="Calibri"/>
              </a:rPr>
              <a:t>A practical, no-hype tour — using only free tools</a:t>
            </a:r>
          </a:p>
        </p:txBody>
      </p:sp>
      <p:sp>
        <p:nvSpPr>
          <p:cNvPr id="11" name="TextBox 10"/>
          <p:cNvSpPr txBox="1"/>
          <p:nvPr/>
        </p:nvSpPr>
        <p:spPr>
          <a:xfrm>
            <a:off x="822960" y="5760720"/>
            <a:ext cx="10515600" cy="548640"/>
          </a:xfrm>
          <a:prstGeom prst="rect">
            <a:avLst/>
          </a:prstGeom>
          <a:noFill/>
        </p:spPr>
        <p:txBody>
          <a:bodyPr wrap="square" anchor="t">
            <a:spAutoFit/>
          </a:bodyPr>
          <a:lstStyle/>
          <a:p>
            <a:r>
              <a:rPr sz="1600" b="0" i="0">
                <a:solidFill>
                  <a:srgbClr val="B8C7D4"/>
                </a:solidFill>
                <a:latin typeface="Calibri"/>
              </a:rPr>
              <a:t>[Your name]  ·  [Date]  ·  45-minute sharing session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8FB"/>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8B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058400" cy="457200"/>
          </a:xfrm>
          <a:prstGeom prst="rect">
            <a:avLst/>
          </a:prstGeom>
          <a:noFill/>
        </p:spPr>
        <p:txBody>
          <a:bodyPr wrap="square" anchor="t">
            <a:spAutoFit/>
          </a:bodyPr>
          <a:lstStyle/>
          <a:p>
            <a:r>
              <a:rPr sz="1300" b="1" i="0">
                <a:solidFill>
                  <a:srgbClr val="18B6B0"/>
                </a:solidFill>
                <a:latin typeface="Calibri"/>
              </a:rPr>
              <a:t>OPENING</a:t>
            </a:r>
          </a:p>
        </p:txBody>
      </p:sp>
      <p:sp>
        <p:nvSpPr>
          <p:cNvPr id="4" name="TextBox 3"/>
          <p:cNvSpPr txBox="1"/>
          <p:nvPr/>
        </p:nvSpPr>
        <p:spPr>
          <a:xfrm>
            <a:off x="640080" y="868680"/>
            <a:ext cx="10972800" cy="1097280"/>
          </a:xfrm>
          <a:prstGeom prst="rect">
            <a:avLst/>
          </a:prstGeom>
          <a:noFill/>
        </p:spPr>
        <p:txBody>
          <a:bodyPr wrap="square" anchor="t">
            <a:spAutoFit/>
          </a:bodyPr>
          <a:lstStyle/>
          <a:p>
            <a:r>
              <a:rPr sz="3400" b="1" i="0">
                <a:solidFill>
                  <a:srgbClr val="0F2A43"/>
                </a:solidFill>
                <a:latin typeface="Calibri"/>
              </a:rPr>
              <a:t>Ground rules for today</a:t>
            </a:r>
          </a:p>
        </p:txBody>
      </p:sp>
      <p:sp>
        <p:nvSpPr>
          <p:cNvPr id="5" name="Rectangle 4"/>
          <p:cNvSpPr/>
          <p:nvPr/>
        </p:nvSpPr>
        <p:spPr>
          <a:xfrm>
            <a:off x="658368" y="1783080"/>
            <a:ext cx="1280160" cy="54864"/>
          </a:xfrm>
          <a:prstGeom prst="rect">
            <a:avLst/>
          </a:prstGeom>
          <a:solidFill>
            <a:srgbClr val="18B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057400"/>
            <a:ext cx="10972800" cy="4389120"/>
          </a:xfrm>
          <a:prstGeom prst="rect">
            <a:avLst/>
          </a:prstGeom>
          <a:noFill/>
        </p:spPr>
        <p:txBody>
          <a:bodyPr wrap="square" anchor="t">
            <a:spAutoFit/>
          </a:bodyPr>
          <a:lstStyle/>
          <a:p>
            <a:pPr>
              <a:spcBef>
                <a:spcPts val="0"/>
              </a:spcBef>
              <a:spcAft>
                <a:spcPts val="1000"/>
              </a:spcAft>
            </a:pPr>
            <a:r>
              <a:rPr sz="2200" b="1" i="0">
                <a:solidFill>
                  <a:srgbClr val="222B33"/>
                </a:solidFill>
                <a:latin typeface="Calibri"/>
              </a:rPr>
              <a:t>•  Free tools only — no credit card</a:t>
            </a:r>
          </a:p>
          <a:p>
            <a:pPr>
              <a:spcBef>
                <a:spcPts val="0"/>
              </a:spcBef>
              <a:spcAft>
                <a:spcPts val="1000"/>
              </a:spcAft>
            </a:pPr>
            <a:r>
              <a:rPr sz="2200" b="1" i="0">
                <a:solidFill>
                  <a:srgbClr val="222B33"/>
                </a:solidFill>
                <a:latin typeface="Calibri"/>
              </a:rPr>
              <a:t>•  Honest pros and cons for every tool</a:t>
            </a:r>
          </a:p>
          <a:p>
            <a:pPr>
              <a:spcBef>
                <a:spcPts val="0"/>
              </a:spcBef>
              <a:spcAft>
                <a:spcPts val="1000"/>
              </a:spcAft>
            </a:pPr>
            <a:r>
              <a:rPr sz="2200" b="1" i="0">
                <a:solidFill>
                  <a:srgbClr val="222B33"/>
                </a:solidFill>
                <a:latin typeface="Calibri"/>
              </a:rPr>
              <a:t>•  4 live demos woven throughout</a:t>
            </a:r>
          </a:p>
          <a:p>
            <a:pPr>
              <a:spcBef>
                <a:spcPts val="0"/>
              </a:spcBef>
              <a:spcAft>
                <a:spcPts val="1000"/>
              </a:spcAft>
            </a:pPr>
            <a:r>
              <a:rPr sz="2200" b="1" i="0">
                <a:solidFill>
                  <a:srgbClr val="222B33"/>
                </a:solidFill>
                <a:latin typeface="Calibri"/>
              </a:rPr>
              <a:t>•  Ask questions anytime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8FB"/>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8B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058400" cy="457200"/>
          </a:xfrm>
          <a:prstGeom prst="rect">
            <a:avLst/>
          </a:prstGeom>
          <a:noFill/>
        </p:spPr>
        <p:txBody>
          <a:bodyPr wrap="square" anchor="t">
            <a:spAutoFit/>
          </a:bodyPr>
          <a:lstStyle/>
          <a:p>
            <a:r>
              <a:rPr sz="1300" b="1" i="0">
                <a:solidFill>
                  <a:srgbClr val="18B6B0"/>
                </a:solidFill>
                <a:latin typeface="Calibri"/>
              </a:rPr>
              <a:t>OPENING</a:t>
            </a:r>
          </a:p>
        </p:txBody>
      </p:sp>
      <p:sp>
        <p:nvSpPr>
          <p:cNvPr id="4" name="TextBox 3"/>
          <p:cNvSpPr txBox="1"/>
          <p:nvPr/>
        </p:nvSpPr>
        <p:spPr>
          <a:xfrm>
            <a:off x="640080" y="868680"/>
            <a:ext cx="10972800" cy="1097280"/>
          </a:xfrm>
          <a:prstGeom prst="rect">
            <a:avLst/>
          </a:prstGeom>
          <a:noFill/>
        </p:spPr>
        <p:txBody>
          <a:bodyPr wrap="square" anchor="t">
            <a:spAutoFit/>
          </a:bodyPr>
          <a:lstStyle/>
          <a:p>
            <a:r>
              <a:rPr sz="3400" b="1" i="0">
                <a:solidFill>
                  <a:srgbClr val="0F2A43"/>
                </a:solidFill>
                <a:latin typeface="Calibri"/>
              </a:rPr>
              <a:t>What we'll cover</a:t>
            </a:r>
          </a:p>
        </p:txBody>
      </p:sp>
      <p:sp>
        <p:nvSpPr>
          <p:cNvPr id="5" name="Rectangle 4"/>
          <p:cNvSpPr/>
          <p:nvPr/>
        </p:nvSpPr>
        <p:spPr>
          <a:xfrm>
            <a:off x="658368" y="1783080"/>
            <a:ext cx="1280160" cy="54864"/>
          </a:xfrm>
          <a:prstGeom prst="rect">
            <a:avLst/>
          </a:prstGeom>
          <a:solidFill>
            <a:srgbClr val="18B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057400"/>
            <a:ext cx="10972800" cy="4389120"/>
          </a:xfrm>
          <a:prstGeom prst="rect">
            <a:avLst/>
          </a:prstGeom>
          <a:noFill/>
        </p:spPr>
        <p:txBody>
          <a:bodyPr wrap="square" anchor="t">
            <a:spAutoFit/>
          </a:bodyPr>
          <a:lstStyle/>
          <a:p>
            <a:pPr>
              <a:spcBef>
                <a:spcPts val="0"/>
              </a:spcBef>
              <a:spcAft>
                <a:spcPts val="1000"/>
              </a:spcAft>
            </a:pPr>
            <a:r>
              <a:rPr sz="2200" b="1" i="0">
                <a:solidFill>
                  <a:srgbClr val="222B33"/>
                </a:solidFill>
                <a:latin typeface="Calibri"/>
              </a:rPr>
              <a:t>•  The story of AI (2 min)</a:t>
            </a:r>
          </a:p>
          <a:p>
            <a:pPr>
              <a:spcBef>
                <a:spcPts val="0"/>
              </a:spcBef>
              <a:spcAft>
                <a:spcPts val="1000"/>
              </a:spcAft>
            </a:pPr>
            <a:r>
              <a:rPr sz="2200" b="1" i="0">
                <a:solidFill>
                  <a:srgbClr val="222B33"/>
                </a:solidFill>
                <a:latin typeface="Calibri"/>
              </a:rPr>
              <a:t>•  8 everyday jobs AI does well</a:t>
            </a:r>
          </a:p>
          <a:p>
            <a:pPr>
              <a:spcBef>
                <a:spcPts val="0"/>
              </a:spcBef>
              <a:spcAft>
                <a:spcPts val="1000"/>
              </a:spcAft>
            </a:pPr>
            <a:r>
              <a:rPr sz="2200" b="1" i="0">
                <a:solidFill>
                  <a:srgbClr val="222B33"/>
                </a:solidFill>
                <a:latin typeface="Calibri"/>
              </a:rPr>
              <a:t>•  Live demos: slides · study · email · poster</a:t>
            </a:r>
          </a:p>
          <a:p>
            <a:pPr>
              <a:spcBef>
                <a:spcPts val="0"/>
              </a:spcBef>
              <a:spcAft>
                <a:spcPts val="1000"/>
              </a:spcAft>
            </a:pPr>
            <a:r>
              <a:rPr sz="2200" b="1" i="0">
                <a:solidFill>
                  <a:srgbClr val="222B33"/>
                </a:solidFill>
                <a:latin typeface="Calibri"/>
              </a:rPr>
              <a:t>•  Ethics &amp; pitfalls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E6FB8"/>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18B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468880"/>
            <a:ext cx="10058400" cy="1828800"/>
          </a:xfrm>
          <a:prstGeom prst="rect">
            <a:avLst/>
          </a:prstGeom>
          <a:noFill/>
        </p:spPr>
        <p:txBody>
          <a:bodyPr wrap="square" anchor="t">
            <a:spAutoFit/>
          </a:bodyPr>
          <a:lstStyle/>
          <a:p>
            <a:r>
              <a:rPr sz="2200" b="1" i="0">
                <a:solidFill>
                  <a:srgbClr val="C9E8F0"/>
                </a:solidFill>
                <a:latin typeface="Calibri"/>
              </a:rPr>
              <a:t>Section 1</a:t>
            </a:r>
          </a:p>
          <a:p>
            <a:pPr>
              <a:spcBef>
                <a:spcPts val="800"/>
              </a:spcBef>
            </a:pPr>
            <a:r>
              <a:rPr sz="4400" b="1" i="0">
                <a:solidFill>
                  <a:srgbClr val="FFFFFF"/>
                </a:solidFill>
                <a:latin typeface="Calibri"/>
              </a:rPr>
              <a:t>The Evolution of AI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8FB"/>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8B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058400" cy="457200"/>
          </a:xfrm>
          <a:prstGeom prst="rect">
            <a:avLst/>
          </a:prstGeom>
          <a:noFill/>
        </p:spPr>
        <p:txBody>
          <a:bodyPr wrap="square" anchor="t">
            <a:spAutoFit/>
          </a:bodyPr>
          <a:lstStyle/>
          <a:p>
            <a:r>
              <a:rPr sz="1300" b="1" i="0">
                <a:solidFill>
                  <a:srgbClr val="18B6B0"/>
                </a:solidFill>
                <a:latin typeface="Calibri"/>
              </a:rPr>
              <a:t>EVOLUTION OF AI</a:t>
            </a:r>
          </a:p>
        </p:txBody>
      </p:sp>
      <p:sp>
        <p:nvSpPr>
          <p:cNvPr id="4" name="TextBox 3"/>
          <p:cNvSpPr txBox="1"/>
          <p:nvPr/>
        </p:nvSpPr>
        <p:spPr>
          <a:xfrm>
            <a:off x="640080" y="868680"/>
            <a:ext cx="10972800" cy="1097280"/>
          </a:xfrm>
          <a:prstGeom prst="rect">
            <a:avLst/>
          </a:prstGeom>
          <a:noFill/>
        </p:spPr>
        <p:txBody>
          <a:bodyPr wrap="square" anchor="t">
            <a:spAutoFit/>
          </a:bodyPr>
          <a:lstStyle/>
          <a:p>
            <a:r>
              <a:rPr sz="3400" b="1" i="0">
                <a:solidFill>
                  <a:srgbClr val="0F2A43"/>
                </a:solidFill>
                <a:latin typeface="Calibri"/>
              </a:rPr>
              <a:t>AI didn't start with ChatGPT</a:t>
            </a:r>
          </a:p>
        </p:txBody>
      </p:sp>
      <p:sp>
        <p:nvSpPr>
          <p:cNvPr id="5" name="Rectangle 4"/>
          <p:cNvSpPr/>
          <p:nvPr/>
        </p:nvSpPr>
        <p:spPr>
          <a:xfrm>
            <a:off x="658368" y="1783080"/>
            <a:ext cx="1280160" cy="54864"/>
          </a:xfrm>
          <a:prstGeom prst="rect">
            <a:avLst/>
          </a:prstGeom>
          <a:solidFill>
            <a:srgbClr val="18B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057400"/>
            <a:ext cx="10972800" cy="4389120"/>
          </a:xfrm>
          <a:prstGeom prst="rect">
            <a:avLst/>
          </a:prstGeom>
          <a:noFill/>
        </p:spPr>
        <p:txBody>
          <a:bodyPr wrap="square" anchor="t">
            <a:spAutoFit/>
          </a:bodyPr>
          <a:lstStyle/>
          <a:p>
            <a:pPr>
              <a:spcBef>
                <a:spcPts val="0"/>
              </a:spcBef>
              <a:spcAft>
                <a:spcPts val="1000"/>
              </a:spcAft>
            </a:pPr>
            <a:r>
              <a:rPr sz="2200" b="1" i="0">
                <a:solidFill>
                  <a:srgbClr val="222B33"/>
                </a:solidFill>
                <a:latin typeface="Calibri"/>
              </a:rPr>
              <a:t>•  1950s: the idea is born</a:t>
            </a:r>
          </a:p>
          <a:p>
            <a:pPr>
              <a:spcBef>
                <a:spcPts val="0"/>
              </a:spcBef>
              <a:spcAft>
                <a:spcPts val="1000"/>
              </a:spcAft>
            </a:pPr>
            <a:r>
              <a:rPr sz="2200" b="1" i="0">
                <a:solidFill>
                  <a:srgbClr val="222B33"/>
                </a:solidFill>
                <a:latin typeface="Calibri"/>
              </a:rPr>
              <a:t>•  1980s–90s: rules &amp; expert systems</a:t>
            </a:r>
          </a:p>
          <a:p>
            <a:pPr>
              <a:spcBef>
                <a:spcPts val="0"/>
              </a:spcBef>
              <a:spcAft>
                <a:spcPts val="1000"/>
              </a:spcAft>
            </a:pPr>
            <a:r>
              <a:rPr sz="2200" b="1" i="0">
                <a:solidFill>
                  <a:srgbClr val="222B33"/>
                </a:solidFill>
                <a:latin typeface="Calibri"/>
              </a:rPr>
              <a:t>•  2010s: the machine-learning wave</a:t>
            </a:r>
          </a:p>
          <a:p>
            <a:pPr>
              <a:spcBef>
                <a:spcPts val="0"/>
              </a:spcBef>
              <a:spcAft>
                <a:spcPts val="1000"/>
              </a:spcAft>
            </a:pPr>
            <a:r>
              <a:rPr sz="2200" b="1" i="0">
                <a:solidFill>
                  <a:srgbClr val="222B33"/>
                </a:solidFill>
                <a:latin typeface="Calibri"/>
              </a:rPr>
              <a:t>•  2022 →: generative AI for everyone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8FB"/>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8B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058400" cy="457200"/>
          </a:xfrm>
          <a:prstGeom prst="rect">
            <a:avLst/>
          </a:prstGeom>
          <a:noFill/>
        </p:spPr>
        <p:txBody>
          <a:bodyPr wrap="square" anchor="t">
            <a:spAutoFit/>
          </a:bodyPr>
          <a:lstStyle/>
          <a:p>
            <a:r>
              <a:rPr sz="1300" b="1" i="0">
                <a:solidFill>
                  <a:srgbClr val="18B6B0"/>
                </a:solidFill>
                <a:latin typeface="Calibri"/>
              </a:rPr>
              <a:t>EVOLUTION OF AI</a:t>
            </a:r>
          </a:p>
        </p:txBody>
      </p:sp>
      <p:sp>
        <p:nvSpPr>
          <p:cNvPr id="4" name="TextBox 3"/>
          <p:cNvSpPr txBox="1"/>
          <p:nvPr/>
        </p:nvSpPr>
        <p:spPr>
          <a:xfrm>
            <a:off x="640080" y="868680"/>
            <a:ext cx="10972800" cy="1097280"/>
          </a:xfrm>
          <a:prstGeom prst="rect">
            <a:avLst/>
          </a:prstGeom>
          <a:noFill/>
        </p:spPr>
        <p:txBody>
          <a:bodyPr wrap="square" anchor="t">
            <a:spAutoFit/>
          </a:bodyPr>
          <a:lstStyle/>
          <a:p>
            <a:r>
              <a:rPr sz="3400" b="1" i="0">
                <a:solidFill>
                  <a:srgbClr val="0F2A43"/>
                </a:solidFill>
                <a:latin typeface="Calibri"/>
              </a:rPr>
              <a:t>Why it suddenly feels everywhere</a:t>
            </a:r>
          </a:p>
        </p:txBody>
      </p:sp>
      <p:sp>
        <p:nvSpPr>
          <p:cNvPr id="5" name="Rectangle 4"/>
          <p:cNvSpPr/>
          <p:nvPr/>
        </p:nvSpPr>
        <p:spPr>
          <a:xfrm>
            <a:off x="658368" y="1783080"/>
            <a:ext cx="1280160" cy="54864"/>
          </a:xfrm>
          <a:prstGeom prst="rect">
            <a:avLst/>
          </a:prstGeom>
          <a:solidFill>
            <a:srgbClr val="18B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057400"/>
            <a:ext cx="10972800" cy="4389120"/>
          </a:xfrm>
          <a:prstGeom prst="rect">
            <a:avLst/>
          </a:prstGeom>
          <a:noFill/>
        </p:spPr>
        <p:txBody>
          <a:bodyPr wrap="square" anchor="t">
            <a:spAutoFit/>
          </a:bodyPr>
          <a:lstStyle/>
          <a:p>
            <a:pPr>
              <a:spcBef>
                <a:spcPts val="0"/>
              </a:spcBef>
              <a:spcAft>
                <a:spcPts val="1000"/>
              </a:spcAft>
            </a:pPr>
            <a:r>
              <a:rPr sz="2200" b="1" i="0">
                <a:solidFill>
                  <a:srgbClr val="222B33"/>
                </a:solidFill>
                <a:latin typeface="Calibri"/>
              </a:rPr>
              <a:t>•  Bigger models + far more data</a:t>
            </a:r>
          </a:p>
          <a:p>
            <a:pPr>
              <a:spcBef>
                <a:spcPts val="0"/>
              </a:spcBef>
              <a:spcAft>
                <a:spcPts val="1000"/>
              </a:spcAft>
            </a:pPr>
            <a:r>
              <a:rPr sz="2200" b="1" i="0">
                <a:solidFill>
                  <a:srgbClr val="222B33"/>
                </a:solidFill>
                <a:latin typeface="Calibri"/>
              </a:rPr>
              <a:t>•  Chat interface = no manual needed</a:t>
            </a:r>
          </a:p>
          <a:p>
            <a:pPr>
              <a:spcBef>
                <a:spcPts val="0"/>
              </a:spcBef>
              <a:spcAft>
                <a:spcPts val="1000"/>
              </a:spcAft>
            </a:pPr>
            <a:r>
              <a:rPr sz="2200" b="1" i="0">
                <a:solidFill>
                  <a:srgbClr val="222B33"/>
                </a:solidFill>
                <a:latin typeface="Calibri"/>
              </a:rPr>
              <a:t>•  It now sees, hears, and speaks</a:t>
            </a:r>
          </a:p>
          <a:p>
            <a:pPr>
              <a:spcBef>
                <a:spcPts val="0"/>
              </a:spcBef>
              <a:spcAft>
                <a:spcPts val="1000"/>
              </a:spcAft>
            </a:pPr>
            <a:r>
              <a:rPr sz="2200" b="1" i="0">
                <a:solidFill>
                  <a:srgbClr val="222B33"/>
                </a:solidFill>
                <a:latin typeface="Calibri"/>
              </a:rPr>
              <a:t>•  Built into apps you already use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8FB"/>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8B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058400" cy="457200"/>
          </a:xfrm>
          <a:prstGeom prst="rect">
            <a:avLst/>
          </a:prstGeom>
          <a:noFill/>
        </p:spPr>
        <p:txBody>
          <a:bodyPr wrap="square" anchor="t">
            <a:spAutoFit/>
          </a:bodyPr>
          <a:lstStyle/>
          <a:p>
            <a:r>
              <a:rPr sz="1300" b="1" i="0">
                <a:solidFill>
                  <a:srgbClr val="18B6B0"/>
                </a:solidFill>
                <a:latin typeface="Calibri"/>
              </a:rPr>
              <a:t>EVOLUTION OF AI</a:t>
            </a:r>
          </a:p>
        </p:txBody>
      </p:sp>
      <p:sp>
        <p:nvSpPr>
          <p:cNvPr id="4" name="TextBox 3"/>
          <p:cNvSpPr txBox="1"/>
          <p:nvPr/>
        </p:nvSpPr>
        <p:spPr>
          <a:xfrm>
            <a:off x="640080" y="868680"/>
            <a:ext cx="10972800" cy="1097280"/>
          </a:xfrm>
          <a:prstGeom prst="rect">
            <a:avLst/>
          </a:prstGeom>
          <a:noFill/>
        </p:spPr>
        <p:txBody>
          <a:bodyPr wrap="square" anchor="t">
            <a:spAutoFit/>
          </a:bodyPr>
          <a:lstStyle/>
          <a:p>
            <a:r>
              <a:rPr sz="3400" b="1" i="0">
                <a:solidFill>
                  <a:srgbClr val="0F2A43"/>
                </a:solidFill>
                <a:latin typeface="Calibri"/>
              </a:rPr>
              <a:t>The one mental model to keep</a:t>
            </a:r>
          </a:p>
        </p:txBody>
      </p:sp>
      <p:sp>
        <p:nvSpPr>
          <p:cNvPr id="5" name="Rectangle 4"/>
          <p:cNvSpPr/>
          <p:nvPr/>
        </p:nvSpPr>
        <p:spPr>
          <a:xfrm>
            <a:off x="658368" y="1783080"/>
            <a:ext cx="1280160" cy="54864"/>
          </a:xfrm>
          <a:prstGeom prst="rect">
            <a:avLst/>
          </a:prstGeom>
          <a:solidFill>
            <a:srgbClr val="18B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057400"/>
            <a:ext cx="10972800" cy="4389120"/>
          </a:xfrm>
          <a:prstGeom prst="rect">
            <a:avLst/>
          </a:prstGeom>
          <a:noFill/>
        </p:spPr>
        <p:txBody>
          <a:bodyPr wrap="square" anchor="t">
            <a:spAutoFit/>
          </a:bodyPr>
          <a:lstStyle/>
          <a:p>
            <a:pPr>
              <a:spcBef>
                <a:spcPts val="0"/>
              </a:spcBef>
              <a:spcAft>
                <a:spcPts val="1000"/>
              </a:spcAft>
            </a:pPr>
            <a:r>
              <a:rPr sz="2200" b="1" i="0">
                <a:solidFill>
                  <a:srgbClr val="222B33"/>
                </a:solidFill>
                <a:latin typeface="Calibri"/>
              </a:rPr>
              <a:t>•  AI = a fast, confident, well-read intern</a:t>
            </a:r>
          </a:p>
          <a:p>
            <a:pPr>
              <a:spcBef>
                <a:spcPts val="0"/>
              </a:spcBef>
              <a:spcAft>
                <a:spcPts val="1000"/>
              </a:spcAft>
            </a:pPr>
            <a:r>
              <a:rPr sz="2200" b="1" i="0">
                <a:solidFill>
                  <a:srgbClr val="222B33"/>
                </a:solidFill>
                <a:latin typeface="Calibri"/>
              </a:rPr>
              <a:t>•  Brilliant first drafts in seconds</a:t>
            </a:r>
          </a:p>
          <a:p>
            <a:pPr>
              <a:spcBef>
                <a:spcPts val="0"/>
              </a:spcBef>
              <a:spcAft>
                <a:spcPts val="1000"/>
              </a:spcAft>
            </a:pPr>
            <a:r>
              <a:rPr sz="2200" b="1" i="0">
                <a:solidFill>
                  <a:srgbClr val="222B33"/>
                </a:solidFill>
                <a:latin typeface="Calibri"/>
              </a:rPr>
              <a:t>•  But sometimes confidently wrong</a:t>
            </a:r>
          </a:p>
          <a:p>
            <a:pPr>
              <a:spcBef>
                <a:spcPts val="0"/>
              </a:spcBef>
              <a:spcAft>
                <a:spcPts val="1000"/>
              </a:spcAft>
            </a:pPr>
            <a:r>
              <a:rPr sz="2200" b="1" i="0">
                <a:solidFill>
                  <a:srgbClr val="222B33"/>
                </a:solidFill>
                <a:latin typeface="Calibri"/>
              </a:rPr>
              <a:t>•  You always stay the editor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E6FB8"/>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18B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468880"/>
            <a:ext cx="10058400" cy="1828800"/>
          </a:xfrm>
          <a:prstGeom prst="rect">
            <a:avLst/>
          </a:prstGeom>
          <a:noFill/>
        </p:spPr>
        <p:txBody>
          <a:bodyPr wrap="square" anchor="t">
            <a:spAutoFit/>
          </a:bodyPr>
          <a:lstStyle/>
          <a:p>
            <a:r>
              <a:rPr sz="2200" b="1" i="0">
                <a:solidFill>
                  <a:srgbClr val="C9E8F0"/>
                </a:solidFill>
                <a:latin typeface="Calibri"/>
              </a:rPr>
              <a:t>Section 2</a:t>
            </a:r>
          </a:p>
          <a:p>
            <a:pPr>
              <a:spcBef>
                <a:spcPts val="800"/>
              </a:spcBef>
            </a:pPr>
            <a:r>
              <a:rPr sz="4400" b="1" i="0">
                <a:solidFill>
                  <a:srgbClr val="FFFFFF"/>
                </a:solidFill>
                <a:latin typeface="Calibri"/>
              </a:rPr>
              <a:t>8 Everyday Jobs AI Does Well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8FB"/>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8B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058400" cy="457200"/>
          </a:xfrm>
          <a:prstGeom prst="rect">
            <a:avLst/>
          </a:prstGeom>
          <a:noFill/>
        </p:spPr>
        <p:txBody>
          <a:bodyPr wrap="square" anchor="t">
            <a:spAutoFit/>
          </a:bodyPr>
          <a:lstStyle/>
          <a:p>
            <a:r>
              <a:rPr sz="1300" b="1" i="0">
                <a:solidFill>
                  <a:srgbClr val="18B6B0"/>
                </a:solidFill>
                <a:latin typeface="Calibri"/>
              </a:rPr>
              <a:t>OVERVIEW</a:t>
            </a:r>
          </a:p>
        </p:txBody>
      </p:sp>
      <p:sp>
        <p:nvSpPr>
          <p:cNvPr id="4" name="TextBox 3"/>
          <p:cNvSpPr txBox="1"/>
          <p:nvPr/>
        </p:nvSpPr>
        <p:spPr>
          <a:xfrm>
            <a:off x="640080" y="868680"/>
            <a:ext cx="10972800" cy="1097280"/>
          </a:xfrm>
          <a:prstGeom prst="rect">
            <a:avLst/>
          </a:prstGeom>
          <a:noFill/>
        </p:spPr>
        <p:txBody>
          <a:bodyPr wrap="square" anchor="t">
            <a:spAutoFit/>
          </a:bodyPr>
          <a:lstStyle/>
          <a:p>
            <a:r>
              <a:rPr sz="3400" b="1" i="0">
                <a:solidFill>
                  <a:srgbClr val="0F2A43"/>
                </a:solidFill>
                <a:latin typeface="Calibri"/>
              </a:rPr>
              <a:t>The everyday AI toolkit</a:t>
            </a:r>
          </a:p>
        </p:txBody>
      </p:sp>
      <p:sp>
        <p:nvSpPr>
          <p:cNvPr id="5" name="Rectangle 4"/>
          <p:cNvSpPr/>
          <p:nvPr/>
        </p:nvSpPr>
        <p:spPr>
          <a:xfrm>
            <a:off x="658368" y="1783080"/>
            <a:ext cx="1280160" cy="54864"/>
          </a:xfrm>
          <a:prstGeom prst="rect">
            <a:avLst/>
          </a:prstGeom>
          <a:solidFill>
            <a:srgbClr val="18B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057400"/>
            <a:ext cx="10972800" cy="4389120"/>
          </a:xfrm>
          <a:prstGeom prst="rect">
            <a:avLst/>
          </a:prstGeom>
          <a:noFill/>
        </p:spPr>
        <p:txBody>
          <a:bodyPr wrap="square" anchor="t">
            <a:spAutoFit/>
          </a:bodyPr>
          <a:lstStyle/>
          <a:p>
            <a:pPr>
              <a:spcBef>
                <a:spcPts val="0"/>
              </a:spcBef>
              <a:spcAft>
                <a:spcPts val="1000"/>
              </a:spcAft>
            </a:pPr>
            <a:r>
              <a:rPr sz="2200" b="1" i="0">
                <a:solidFill>
                  <a:srgbClr val="222B33"/>
                </a:solidFill>
                <a:latin typeface="Calibri"/>
              </a:rPr>
              <a:t>•  Slides · Study · Email/Calendar</a:t>
            </a:r>
          </a:p>
          <a:p>
            <a:pPr>
              <a:spcBef>
                <a:spcPts val="0"/>
              </a:spcBef>
              <a:spcAft>
                <a:spcPts val="1000"/>
              </a:spcAft>
            </a:pPr>
            <a:r>
              <a:rPr sz="2200" b="1" i="0">
                <a:solidFill>
                  <a:srgbClr val="222B33"/>
                </a:solidFill>
                <a:latin typeface="Calibri"/>
              </a:rPr>
              <a:t>•  Assignments · Posters · Video</a:t>
            </a:r>
          </a:p>
          <a:p>
            <a:pPr>
              <a:spcBef>
                <a:spcPts val="0"/>
              </a:spcBef>
              <a:spcAft>
                <a:spcPts val="1000"/>
              </a:spcAft>
            </a:pPr>
            <a:r>
              <a:rPr sz="2200" b="1" i="0">
                <a:solidFill>
                  <a:srgbClr val="222B33"/>
                </a:solidFill>
                <a:latin typeface="Calibri"/>
              </a:rPr>
              <a:t>•  Travel · Daily life</a:t>
            </a:r>
          </a:p>
          <a:p>
            <a:pPr>
              <a:spcBef>
                <a:spcPts val="0"/>
              </a:spcBef>
              <a:spcAft>
                <a:spcPts val="1000"/>
              </a:spcAft>
            </a:pPr>
            <a:r>
              <a:rPr sz="2200" b="1" i="0">
                <a:solidFill>
                  <a:srgbClr val="222B33"/>
                </a:solidFill>
                <a:latin typeface="Calibri"/>
              </a:rPr>
              <a:t>•  All on free tiers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8FB"/>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8B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058400" cy="457200"/>
          </a:xfrm>
          <a:prstGeom prst="rect">
            <a:avLst/>
          </a:prstGeom>
          <a:noFill/>
        </p:spPr>
        <p:txBody>
          <a:bodyPr wrap="square" anchor="t">
            <a:spAutoFit/>
          </a:bodyPr>
          <a:lstStyle/>
          <a:p>
            <a:r>
              <a:rPr sz="1300" b="1" i="0">
                <a:solidFill>
                  <a:srgbClr val="18B6B0"/>
                </a:solidFill>
                <a:latin typeface="Calibri"/>
              </a:rPr>
              <a:t>2.1 PRESENTATION PREPARATION</a:t>
            </a:r>
          </a:p>
        </p:txBody>
      </p:sp>
      <p:sp>
        <p:nvSpPr>
          <p:cNvPr id="4" name="TextBox 3"/>
          <p:cNvSpPr txBox="1"/>
          <p:nvPr/>
        </p:nvSpPr>
        <p:spPr>
          <a:xfrm>
            <a:off x="640080" y="868680"/>
            <a:ext cx="10972800" cy="1097280"/>
          </a:xfrm>
          <a:prstGeom prst="rect">
            <a:avLst/>
          </a:prstGeom>
          <a:noFill/>
        </p:spPr>
        <p:txBody>
          <a:bodyPr wrap="square" anchor="t">
            <a:spAutoFit/>
          </a:bodyPr>
          <a:lstStyle/>
          <a:p>
            <a:r>
              <a:rPr sz="3400" b="1" i="0">
                <a:solidFill>
                  <a:srgbClr val="0F2A43"/>
                </a:solidFill>
                <a:latin typeface="Calibri"/>
              </a:rPr>
              <a:t>Make slides in seconds</a:t>
            </a:r>
          </a:p>
        </p:txBody>
      </p:sp>
      <p:sp>
        <p:nvSpPr>
          <p:cNvPr id="5" name="Rectangle 4"/>
          <p:cNvSpPr/>
          <p:nvPr/>
        </p:nvSpPr>
        <p:spPr>
          <a:xfrm>
            <a:off x="658368" y="1783080"/>
            <a:ext cx="1280160" cy="54864"/>
          </a:xfrm>
          <a:prstGeom prst="rect">
            <a:avLst/>
          </a:prstGeom>
          <a:solidFill>
            <a:srgbClr val="18B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057400"/>
            <a:ext cx="10972800" cy="4389120"/>
          </a:xfrm>
          <a:prstGeom prst="rect">
            <a:avLst/>
          </a:prstGeom>
          <a:noFill/>
        </p:spPr>
        <p:txBody>
          <a:bodyPr wrap="square" anchor="t">
            <a:spAutoFit/>
          </a:bodyPr>
          <a:lstStyle/>
          <a:p>
            <a:pPr>
              <a:spcBef>
                <a:spcPts val="0"/>
              </a:spcBef>
              <a:spcAft>
                <a:spcPts val="1000"/>
              </a:spcAft>
            </a:pPr>
            <a:r>
              <a:rPr sz="2200" b="1" i="0">
                <a:solidFill>
                  <a:srgbClr val="222B33"/>
                </a:solidFill>
                <a:latin typeface="Calibri"/>
              </a:rPr>
              <a:t>•  Gamma — prompt → full designed deck</a:t>
            </a:r>
          </a:p>
          <a:p>
            <a:pPr>
              <a:spcBef>
                <a:spcPts val="0"/>
              </a:spcBef>
              <a:spcAft>
                <a:spcPts val="1000"/>
              </a:spcAft>
            </a:pPr>
            <a:r>
              <a:rPr sz="2200" b="1" i="0">
                <a:solidFill>
                  <a:srgbClr val="222B33"/>
                </a:solidFill>
                <a:latin typeface="Calibri"/>
              </a:rPr>
              <a:t>•  Canva — best truly-free, templates</a:t>
            </a:r>
          </a:p>
          <a:p>
            <a:pPr>
              <a:spcBef>
                <a:spcPts val="0"/>
              </a:spcBef>
              <a:spcAft>
                <a:spcPts val="1000"/>
              </a:spcAft>
            </a:pPr>
            <a:r>
              <a:rPr sz="2200" b="1" i="0">
                <a:solidFill>
                  <a:srgbClr val="222B33"/>
                </a:solidFill>
                <a:latin typeface="Calibri"/>
              </a:rPr>
              <a:t>•  Copilot / Gemini — inside Office / Google</a:t>
            </a:r>
          </a:p>
          <a:p>
            <a:pPr>
              <a:spcBef>
                <a:spcPts val="0"/>
              </a:spcBef>
              <a:spcAft>
                <a:spcPts val="1000"/>
              </a:spcAft>
            </a:pPr>
            <a:r>
              <a:rPr sz="2200" b="1" i="0">
                <a:solidFill>
                  <a:srgbClr val="222B33"/>
                </a:solidFill>
                <a:latin typeface="Calibri"/>
              </a:rPr>
              <a:t>•  Catch: fact-check &amp; re-style to your brand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8FB"/>
        </a:solidFill>
        <a:effectLst/>
      </p:bgPr>
    </p:bg>
    <p:spTree>
      <p:nvGrpSpPr>
        <p:cNvPr id="1" name=""/>
        <p:cNvGrpSpPr/>
        <p:nvPr/>
      </p:nvGrpSpPr>
      <p:grpSpPr/>
      <p:sp>
        <p:nvSpPr>
          <p:cNvPr id="2" name="Rectangle 1"/>
          <p:cNvSpPr/>
          <p:nvPr/>
        </p:nvSpPr>
        <p:spPr>
          <a:xfrm>
            <a:off x="0" y="0"/>
            <a:ext cx="3108960" cy="6858000"/>
          </a:xfrm>
          <a:prstGeom prst="rect">
            <a:avLst/>
          </a:prstGeom>
          <a:solidFill>
            <a:srgbClr val="18B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2468880"/>
            <a:ext cx="2560320" cy="1828800"/>
          </a:xfrm>
          <a:prstGeom prst="rect">
            <a:avLst/>
          </a:prstGeom>
          <a:noFill/>
        </p:spPr>
        <p:txBody>
          <a:bodyPr wrap="square" anchor="t">
            <a:spAutoFit/>
          </a:bodyPr>
          <a:lstStyle/>
          <a:p>
            <a:r>
              <a:rPr sz="5400" b="1" i="0">
                <a:solidFill>
                  <a:srgbClr val="FFFFFF"/>
                </a:solidFill>
                <a:latin typeface="Calibri"/>
              </a:rPr>
              <a:t>🎬</a:t>
            </a:r>
          </a:p>
          <a:p>
            <a:r>
              <a:rPr sz="3000" b="1" i="0">
                <a:solidFill>
                  <a:srgbClr val="FFFFFF"/>
                </a:solidFill>
                <a:latin typeface="Calibri"/>
              </a:rPr>
              <a:t>LIVE
DEMO</a:t>
            </a:r>
          </a:p>
        </p:txBody>
      </p:sp>
      <p:sp>
        <p:nvSpPr>
          <p:cNvPr id="4" name="TextBox 3"/>
          <p:cNvSpPr txBox="1"/>
          <p:nvPr/>
        </p:nvSpPr>
        <p:spPr>
          <a:xfrm>
            <a:off x="3474720" y="822960"/>
            <a:ext cx="8229600" cy="1097280"/>
          </a:xfrm>
          <a:prstGeom prst="rect">
            <a:avLst/>
          </a:prstGeom>
          <a:noFill/>
        </p:spPr>
        <p:txBody>
          <a:bodyPr wrap="square" anchor="t">
            <a:spAutoFit/>
          </a:bodyPr>
          <a:lstStyle/>
          <a:p>
            <a:r>
              <a:rPr sz="3000" b="1" i="0">
                <a:solidFill>
                  <a:srgbClr val="0F2A43"/>
                </a:solidFill>
                <a:latin typeface="Calibri"/>
              </a:rPr>
              <a:t>Demo 1 — Notes → stunning slides</a:t>
            </a:r>
          </a:p>
        </p:txBody>
      </p:sp>
      <p:sp>
        <p:nvSpPr>
          <p:cNvPr id="5" name="Rectangle 4"/>
          <p:cNvSpPr/>
          <p:nvPr/>
        </p:nvSpPr>
        <p:spPr>
          <a:xfrm>
            <a:off x="3493008" y="1828800"/>
            <a:ext cx="1280160" cy="54864"/>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474720" y="2103120"/>
            <a:ext cx="8229600" cy="4206240"/>
          </a:xfrm>
          <a:prstGeom prst="rect">
            <a:avLst/>
          </a:prstGeom>
          <a:noFill/>
        </p:spPr>
        <p:txBody>
          <a:bodyPr wrap="square" anchor="t">
            <a:spAutoFit/>
          </a:bodyPr>
          <a:lstStyle/>
          <a:p>
            <a:pPr>
              <a:spcBef>
                <a:spcPts val="0"/>
              </a:spcBef>
              <a:spcAft>
                <a:spcPts val="1000"/>
              </a:spcAft>
            </a:pPr>
            <a:r>
              <a:rPr sz="2200" b="1" i="0">
                <a:solidFill>
                  <a:srgbClr val="222B33"/>
                </a:solidFill>
                <a:latin typeface="Calibri"/>
              </a:rPr>
              <a:t>•  Source: a page of plain notes</a:t>
            </a:r>
          </a:p>
          <a:p>
            <a:pPr>
              <a:spcBef>
                <a:spcPts val="0"/>
              </a:spcBef>
              <a:spcAft>
                <a:spcPts val="1000"/>
              </a:spcAft>
            </a:pPr>
            <a:r>
              <a:rPr sz="2200" b="1" i="0">
                <a:solidFill>
                  <a:srgbClr val="222B33"/>
                </a:solidFill>
                <a:latin typeface="Calibri"/>
              </a:rPr>
              <a:t>•  Tool: Gamma (free)</a:t>
            </a:r>
          </a:p>
          <a:p>
            <a:pPr>
              <a:spcBef>
                <a:spcPts val="0"/>
              </a:spcBef>
              <a:spcAft>
                <a:spcPts val="1000"/>
              </a:spcAft>
            </a:pPr>
            <a:r>
              <a:rPr sz="2200" b="1" i="0">
                <a:solidFill>
                  <a:srgbClr val="222B33"/>
                </a:solidFill>
                <a:latin typeface="Calibri"/>
              </a:rPr>
              <a:t>•  Watch: 30 seconds to a designed deck</a:t>
            </a:r>
          </a:p>
          <a:p>
            <a:pPr>
              <a:spcBef>
                <a:spcPts val="0"/>
              </a:spcBef>
              <a:spcAft>
                <a:spcPts val="1000"/>
              </a:spcAft>
            </a:pPr>
            <a:r>
              <a:rPr sz="2200" b="1" i="0">
                <a:solidFill>
                  <a:srgbClr val="222B33"/>
                </a:solidFill>
                <a:latin typeface="Calibri"/>
              </a:rPr>
              <a:t>•  Wow: swap the theme live to restyle instantly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8FB"/>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8B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058400" cy="457200"/>
          </a:xfrm>
          <a:prstGeom prst="rect">
            <a:avLst/>
          </a:prstGeom>
          <a:noFill/>
        </p:spPr>
        <p:txBody>
          <a:bodyPr wrap="square" anchor="t">
            <a:spAutoFit/>
          </a:bodyPr>
          <a:lstStyle/>
          <a:p>
            <a:r>
              <a:rPr sz="1300" b="1" i="0">
                <a:solidFill>
                  <a:srgbClr val="18B6B0"/>
                </a:solidFill>
                <a:latin typeface="Calibri"/>
              </a:rPr>
              <a:t>2.2 AI FOR STUDENTS' STUDY</a:t>
            </a:r>
          </a:p>
        </p:txBody>
      </p:sp>
      <p:sp>
        <p:nvSpPr>
          <p:cNvPr id="4" name="TextBox 3"/>
          <p:cNvSpPr txBox="1"/>
          <p:nvPr/>
        </p:nvSpPr>
        <p:spPr>
          <a:xfrm>
            <a:off x="640080" y="868680"/>
            <a:ext cx="10972800" cy="1097280"/>
          </a:xfrm>
          <a:prstGeom prst="rect">
            <a:avLst/>
          </a:prstGeom>
          <a:noFill/>
        </p:spPr>
        <p:txBody>
          <a:bodyPr wrap="square" anchor="t">
            <a:spAutoFit/>
          </a:bodyPr>
          <a:lstStyle/>
          <a:p>
            <a:r>
              <a:rPr sz="3400" b="1" i="0">
                <a:solidFill>
                  <a:srgbClr val="0F2A43"/>
                </a:solidFill>
                <a:latin typeface="Calibri"/>
              </a:rPr>
              <a:t>Turn your notes into a tutor</a:t>
            </a:r>
          </a:p>
        </p:txBody>
      </p:sp>
      <p:sp>
        <p:nvSpPr>
          <p:cNvPr id="5" name="Rectangle 4"/>
          <p:cNvSpPr/>
          <p:nvPr/>
        </p:nvSpPr>
        <p:spPr>
          <a:xfrm>
            <a:off x="658368" y="1783080"/>
            <a:ext cx="1280160" cy="54864"/>
          </a:xfrm>
          <a:prstGeom prst="rect">
            <a:avLst/>
          </a:prstGeom>
          <a:solidFill>
            <a:srgbClr val="18B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057400"/>
            <a:ext cx="10972800" cy="4389120"/>
          </a:xfrm>
          <a:prstGeom prst="rect">
            <a:avLst/>
          </a:prstGeom>
          <a:noFill/>
        </p:spPr>
        <p:txBody>
          <a:bodyPr wrap="square" anchor="t">
            <a:spAutoFit/>
          </a:bodyPr>
          <a:lstStyle/>
          <a:p>
            <a:pPr>
              <a:spcBef>
                <a:spcPts val="0"/>
              </a:spcBef>
              <a:spcAft>
                <a:spcPts val="1000"/>
              </a:spcAft>
            </a:pPr>
            <a:r>
              <a:rPr sz="2200" b="1" i="0">
                <a:solidFill>
                  <a:srgbClr val="222B33"/>
                </a:solidFill>
                <a:latin typeface="Calibri"/>
              </a:rPr>
              <a:t>•  NotebookLM — grounded in YOUR notes</a:t>
            </a:r>
          </a:p>
          <a:p>
            <a:pPr>
              <a:spcBef>
                <a:spcPts val="0"/>
              </a:spcBef>
              <a:spcAft>
                <a:spcPts val="1000"/>
              </a:spcAft>
            </a:pPr>
            <a:r>
              <a:rPr sz="2200" b="1" i="0">
                <a:solidFill>
                  <a:srgbClr val="222B33"/>
                </a:solidFill>
                <a:latin typeface="Calibri"/>
              </a:rPr>
              <a:t>•  Summaries · quizzes · flashcards · mind maps</a:t>
            </a:r>
          </a:p>
          <a:p>
            <a:pPr>
              <a:spcBef>
                <a:spcPts val="0"/>
              </a:spcBef>
              <a:spcAft>
                <a:spcPts val="1000"/>
              </a:spcAft>
            </a:pPr>
            <a:r>
              <a:rPr sz="2200" b="1" i="0">
                <a:solidFill>
                  <a:srgbClr val="222B33"/>
                </a:solidFill>
                <a:latin typeface="Calibri"/>
              </a:rPr>
              <a:t>•  Audio Overview = your notes as a podcast</a:t>
            </a:r>
          </a:p>
          <a:p>
            <a:pPr>
              <a:spcBef>
                <a:spcPts val="0"/>
              </a:spcBef>
              <a:spcAft>
                <a:spcPts val="1000"/>
              </a:spcAft>
            </a:pPr>
            <a:r>
              <a:rPr sz="2200" b="1" i="0">
                <a:solidFill>
                  <a:srgbClr val="222B33"/>
                </a:solidFill>
                <a:latin typeface="Calibri"/>
              </a:rPr>
              <a:t>•  Catch: only as good as your sources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8FB"/>
        </a:solidFill>
        <a:effectLst/>
      </p:bgPr>
    </p:bg>
    <p:spTree>
      <p:nvGrpSpPr>
        <p:cNvPr id="1" name=""/>
        <p:cNvGrpSpPr/>
        <p:nvPr/>
      </p:nvGrpSpPr>
      <p:grpSpPr/>
      <p:sp>
        <p:nvSpPr>
          <p:cNvPr id="2" name="Rectangle 1"/>
          <p:cNvSpPr/>
          <p:nvPr/>
        </p:nvSpPr>
        <p:spPr>
          <a:xfrm>
            <a:off x="0" y="0"/>
            <a:ext cx="3108960" cy="6858000"/>
          </a:xfrm>
          <a:prstGeom prst="rect">
            <a:avLst/>
          </a:prstGeom>
          <a:solidFill>
            <a:srgbClr val="18B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2468880"/>
            <a:ext cx="2560320" cy="1828800"/>
          </a:xfrm>
          <a:prstGeom prst="rect">
            <a:avLst/>
          </a:prstGeom>
          <a:noFill/>
        </p:spPr>
        <p:txBody>
          <a:bodyPr wrap="square" anchor="t">
            <a:spAutoFit/>
          </a:bodyPr>
          <a:lstStyle/>
          <a:p>
            <a:r>
              <a:rPr sz="5400" b="1" i="0">
                <a:solidFill>
                  <a:srgbClr val="FFFFFF"/>
                </a:solidFill>
                <a:latin typeface="Calibri"/>
              </a:rPr>
              <a:t>🎬</a:t>
            </a:r>
          </a:p>
          <a:p>
            <a:r>
              <a:rPr sz="3000" b="1" i="0">
                <a:solidFill>
                  <a:srgbClr val="FFFFFF"/>
                </a:solidFill>
                <a:latin typeface="Calibri"/>
              </a:rPr>
              <a:t>LIVE
DEMO</a:t>
            </a:r>
          </a:p>
        </p:txBody>
      </p:sp>
      <p:sp>
        <p:nvSpPr>
          <p:cNvPr id="4" name="TextBox 3"/>
          <p:cNvSpPr txBox="1"/>
          <p:nvPr/>
        </p:nvSpPr>
        <p:spPr>
          <a:xfrm>
            <a:off x="3474720" y="822960"/>
            <a:ext cx="8229600" cy="1097280"/>
          </a:xfrm>
          <a:prstGeom prst="rect">
            <a:avLst/>
          </a:prstGeom>
          <a:noFill/>
        </p:spPr>
        <p:txBody>
          <a:bodyPr wrap="square" anchor="t">
            <a:spAutoFit/>
          </a:bodyPr>
          <a:lstStyle/>
          <a:p>
            <a:r>
              <a:rPr sz="3000" b="1" i="0">
                <a:solidFill>
                  <a:srgbClr val="0F2A43"/>
                </a:solidFill>
                <a:latin typeface="Calibri"/>
              </a:rPr>
              <a:t>Demo 2 — Your notes become a podcast</a:t>
            </a:r>
          </a:p>
        </p:txBody>
      </p:sp>
      <p:sp>
        <p:nvSpPr>
          <p:cNvPr id="5" name="Rectangle 4"/>
          <p:cNvSpPr/>
          <p:nvPr/>
        </p:nvSpPr>
        <p:spPr>
          <a:xfrm>
            <a:off x="3493008" y="1828800"/>
            <a:ext cx="1280160" cy="54864"/>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474720" y="2103120"/>
            <a:ext cx="8229600" cy="4206240"/>
          </a:xfrm>
          <a:prstGeom prst="rect">
            <a:avLst/>
          </a:prstGeom>
          <a:noFill/>
        </p:spPr>
        <p:txBody>
          <a:bodyPr wrap="square" anchor="t">
            <a:spAutoFit/>
          </a:bodyPr>
          <a:lstStyle/>
          <a:p>
            <a:pPr>
              <a:spcBef>
                <a:spcPts val="0"/>
              </a:spcBef>
              <a:spcAft>
                <a:spcPts val="1000"/>
              </a:spcAft>
            </a:pPr>
            <a:r>
              <a:rPr sz="2200" b="1" i="0">
                <a:solidFill>
                  <a:srgbClr val="222B33"/>
                </a:solidFill>
                <a:latin typeface="Calibri"/>
              </a:rPr>
              <a:t>•  Upload a reading</a:t>
            </a:r>
          </a:p>
          <a:p>
            <a:pPr>
              <a:spcBef>
                <a:spcPts val="0"/>
              </a:spcBef>
              <a:spcAft>
                <a:spcPts val="1000"/>
              </a:spcAft>
            </a:pPr>
            <a:r>
              <a:rPr sz="2200" b="1" i="0">
                <a:solidFill>
                  <a:srgbClr val="222B33"/>
                </a:solidFill>
                <a:latin typeface="Calibri"/>
              </a:rPr>
              <a:t>•  Generate: study guide + quiz</a:t>
            </a:r>
          </a:p>
          <a:p>
            <a:pPr>
              <a:spcBef>
                <a:spcPts val="0"/>
              </a:spcBef>
              <a:spcAft>
                <a:spcPts val="1000"/>
              </a:spcAft>
            </a:pPr>
            <a:r>
              <a:rPr sz="2200" b="1" i="0">
                <a:solidFill>
                  <a:srgbClr val="222B33"/>
                </a:solidFill>
                <a:latin typeface="Calibri"/>
              </a:rPr>
              <a:t>•  Play: 20 sec of the Audio Overview</a:t>
            </a:r>
          </a:p>
          <a:p>
            <a:pPr>
              <a:spcBef>
                <a:spcPts val="0"/>
              </a:spcBef>
              <a:spcAft>
                <a:spcPts val="1000"/>
              </a:spcAft>
            </a:pPr>
            <a:r>
              <a:rPr sz="2200" b="1" i="0">
                <a:solidFill>
                  <a:srgbClr val="222B33"/>
                </a:solidFill>
                <a:latin typeface="Calibri"/>
              </a:rPr>
              <a:t>•  Pre-generate the audio before the session!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8FB"/>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8B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058400" cy="457200"/>
          </a:xfrm>
          <a:prstGeom prst="rect">
            <a:avLst/>
          </a:prstGeom>
          <a:noFill/>
        </p:spPr>
        <p:txBody>
          <a:bodyPr wrap="square" anchor="t">
            <a:spAutoFit/>
          </a:bodyPr>
          <a:lstStyle/>
          <a:p>
            <a:r>
              <a:rPr sz="1300" b="1" i="0">
                <a:solidFill>
                  <a:srgbClr val="18B6B0"/>
                </a:solidFill>
                <a:latin typeface="Calibri"/>
              </a:rPr>
              <a:t>2.3 EMAIL · SCHEDULING · MEETINGS</a:t>
            </a:r>
          </a:p>
        </p:txBody>
      </p:sp>
      <p:sp>
        <p:nvSpPr>
          <p:cNvPr id="4" name="TextBox 3"/>
          <p:cNvSpPr txBox="1"/>
          <p:nvPr/>
        </p:nvSpPr>
        <p:spPr>
          <a:xfrm>
            <a:off x="640080" y="868680"/>
            <a:ext cx="10972800" cy="1097280"/>
          </a:xfrm>
          <a:prstGeom prst="rect">
            <a:avLst/>
          </a:prstGeom>
          <a:noFill/>
        </p:spPr>
        <p:txBody>
          <a:bodyPr wrap="square" anchor="t">
            <a:spAutoFit/>
          </a:bodyPr>
          <a:lstStyle/>
          <a:p>
            <a:r>
              <a:rPr sz="3400" b="1" i="0">
                <a:solidFill>
                  <a:srgbClr val="0F2A43"/>
                </a:solidFill>
                <a:latin typeface="Calibri"/>
              </a:rPr>
              <a:t>Tame the inbox-calendar treadmill</a:t>
            </a:r>
          </a:p>
        </p:txBody>
      </p:sp>
      <p:sp>
        <p:nvSpPr>
          <p:cNvPr id="5" name="Rectangle 4"/>
          <p:cNvSpPr/>
          <p:nvPr/>
        </p:nvSpPr>
        <p:spPr>
          <a:xfrm>
            <a:off x="658368" y="1783080"/>
            <a:ext cx="1280160" cy="54864"/>
          </a:xfrm>
          <a:prstGeom prst="rect">
            <a:avLst/>
          </a:prstGeom>
          <a:solidFill>
            <a:srgbClr val="18B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057400"/>
            <a:ext cx="10972800" cy="4389120"/>
          </a:xfrm>
          <a:prstGeom prst="rect">
            <a:avLst/>
          </a:prstGeom>
          <a:noFill/>
        </p:spPr>
        <p:txBody>
          <a:bodyPr wrap="square" anchor="t">
            <a:spAutoFit/>
          </a:bodyPr>
          <a:lstStyle/>
          <a:p>
            <a:pPr>
              <a:spcBef>
                <a:spcPts val="0"/>
              </a:spcBef>
              <a:spcAft>
                <a:spcPts val="1000"/>
              </a:spcAft>
            </a:pPr>
            <a:r>
              <a:rPr sz="2200" b="1" i="0">
                <a:solidFill>
                  <a:srgbClr val="222B33"/>
                </a:solidFill>
                <a:latin typeface="Calibri"/>
              </a:rPr>
              <a:t>•  Gmail: 'Help me write' a reply</a:t>
            </a:r>
          </a:p>
          <a:p>
            <a:pPr>
              <a:spcBef>
                <a:spcPts val="0"/>
              </a:spcBef>
              <a:spcAft>
                <a:spcPts val="1000"/>
              </a:spcAft>
            </a:pPr>
            <a:r>
              <a:rPr sz="2200" b="1" i="0">
                <a:solidFill>
                  <a:srgbClr val="222B33"/>
                </a:solidFill>
                <a:latin typeface="Calibri"/>
              </a:rPr>
              <a:t>•  Gmail → Calendar: one-tap 'Add to Calendar'</a:t>
            </a:r>
          </a:p>
          <a:p>
            <a:pPr>
              <a:spcBef>
                <a:spcPts val="0"/>
              </a:spcBef>
              <a:spcAft>
                <a:spcPts val="1000"/>
              </a:spcAft>
            </a:pPr>
            <a:r>
              <a:rPr sz="2200" b="1" i="0">
                <a:solidFill>
                  <a:srgbClr val="222B33"/>
                </a:solidFill>
                <a:latin typeface="Calibri"/>
              </a:rPr>
              <a:t>•  Meet: auto notes &amp; recap</a:t>
            </a:r>
          </a:p>
          <a:p>
            <a:pPr>
              <a:spcBef>
                <a:spcPts val="0"/>
              </a:spcBef>
              <a:spcAft>
                <a:spcPts val="1000"/>
              </a:spcAft>
            </a:pPr>
            <a:r>
              <a:rPr sz="2200" b="1" i="0">
                <a:solidFill>
                  <a:srgbClr val="222B33"/>
                </a:solidFill>
                <a:latin typeface="Calibri"/>
              </a:rPr>
              <a:t>•  Know the free vs paid line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8FB"/>
        </a:solidFill>
        <a:effectLst/>
      </p:bgPr>
    </p:bg>
    <p:spTree>
      <p:nvGrpSpPr>
        <p:cNvPr id="1" name=""/>
        <p:cNvGrpSpPr/>
        <p:nvPr/>
      </p:nvGrpSpPr>
      <p:grpSpPr/>
      <p:sp>
        <p:nvSpPr>
          <p:cNvPr id="2" name="Rectangle 1"/>
          <p:cNvSpPr/>
          <p:nvPr/>
        </p:nvSpPr>
        <p:spPr>
          <a:xfrm>
            <a:off x="0" y="0"/>
            <a:ext cx="3108960" cy="6858000"/>
          </a:xfrm>
          <a:prstGeom prst="rect">
            <a:avLst/>
          </a:prstGeom>
          <a:solidFill>
            <a:srgbClr val="18B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2468880"/>
            <a:ext cx="2560320" cy="1828800"/>
          </a:xfrm>
          <a:prstGeom prst="rect">
            <a:avLst/>
          </a:prstGeom>
          <a:noFill/>
        </p:spPr>
        <p:txBody>
          <a:bodyPr wrap="square" anchor="t">
            <a:spAutoFit/>
          </a:bodyPr>
          <a:lstStyle/>
          <a:p>
            <a:r>
              <a:rPr sz="5400" b="1" i="0">
                <a:solidFill>
                  <a:srgbClr val="FFFFFF"/>
                </a:solidFill>
                <a:latin typeface="Calibri"/>
              </a:rPr>
              <a:t>🎬</a:t>
            </a:r>
          </a:p>
          <a:p>
            <a:r>
              <a:rPr sz="3000" b="1" i="0">
                <a:solidFill>
                  <a:srgbClr val="FFFFFF"/>
                </a:solidFill>
                <a:latin typeface="Calibri"/>
              </a:rPr>
              <a:t>LIVE
DEMO</a:t>
            </a:r>
          </a:p>
        </p:txBody>
      </p:sp>
      <p:sp>
        <p:nvSpPr>
          <p:cNvPr id="4" name="TextBox 3"/>
          <p:cNvSpPr txBox="1"/>
          <p:nvPr/>
        </p:nvSpPr>
        <p:spPr>
          <a:xfrm>
            <a:off x="3474720" y="822960"/>
            <a:ext cx="8229600" cy="1097280"/>
          </a:xfrm>
          <a:prstGeom prst="rect">
            <a:avLst/>
          </a:prstGeom>
          <a:noFill/>
        </p:spPr>
        <p:txBody>
          <a:bodyPr wrap="square" anchor="t">
            <a:spAutoFit/>
          </a:bodyPr>
          <a:lstStyle/>
          <a:p>
            <a:r>
              <a:rPr sz="3000" b="1" i="0">
                <a:solidFill>
                  <a:srgbClr val="0F2A43"/>
                </a:solidFill>
                <a:latin typeface="Calibri"/>
              </a:rPr>
              <a:t>Demo 3 — Gmail + Calendar + Meet</a:t>
            </a:r>
          </a:p>
        </p:txBody>
      </p:sp>
      <p:sp>
        <p:nvSpPr>
          <p:cNvPr id="5" name="Rectangle 4"/>
          <p:cNvSpPr/>
          <p:nvPr/>
        </p:nvSpPr>
        <p:spPr>
          <a:xfrm>
            <a:off x="3493008" y="1828800"/>
            <a:ext cx="1280160" cy="54864"/>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474720" y="2103120"/>
            <a:ext cx="8229600" cy="4206240"/>
          </a:xfrm>
          <a:prstGeom prst="rect">
            <a:avLst/>
          </a:prstGeom>
          <a:noFill/>
        </p:spPr>
        <p:txBody>
          <a:bodyPr wrap="square" anchor="t">
            <a:spAutoFit/>
          </a:bodyPr>
          <a:lstStyle/>
          <a:p>
            <a:pPr>
              <a:spcBef>
                <a:spcPts val="0"/>
              </a:spcBef>
              <a:spcAft>
                <a:spcPts val="1000"/>
              </a:spcAft>
            </a:pPr>
            <a:r>
              <a:rPr sz="2200" b="1" i="0">
                <a:solidFill>
                  <a:srgbClr val="222B33"/>
                </a:solidFill>
                <a:latin typeface="Calibri"/>
              </a:rPr>
              <a:t>•  Draft the invite email (Gemini)</a:t>
            </a:r>
          </a:p>
          <a:p>
            <a:pPr>
              <a:spcBef>
                <a:spcPts val="0"/>
              </a:spcBef>
              <a:spcAft>
                <a:spcPts val="1000"/>
              </a:spcAft>
            </a:pPr>
            <a:r>
              <a:rPr sz="2200" b="1" i="0">
                <a:solidFill>
                  <a:srgbClr val="222B33"/>
                </a:solidFill>
                <a:latin typeface="Calibri"/>
              </a:rPr>
              <a:t>•  One tap → Calendar event</a:t>
            </a:r>
          </a:p>
          <a:p>
            <a:pPr>
              <a:spcBef>
                <a:spcPts val="0"/>
              </a:spcBef>
              <a:spcAft>
                <a:spcPts val="1000"/>
              </a:spcAft>
            </a:pPr>
            <a:r>
              <a:rPr sz="2200" b="1" i="0">
                <a:solidFill>
                  <a:srgbClr val="222B33"/>
                </a:solidFill>
                <a:latin typeface="Calibri"/>
              </a:rPr>
              <a:t>•  Add Meet link → share</a:t>
            </a:r>
          </a:p>
          <a:p>
            <a:pPr>
              <a:spcBef>
                <a:spcPts val="0"/>
              </a:spcBef>
              <a:spcAft>
                <a:spcPts val="1000"/>
              </a:spcAft>
            </a:pPr>
            <a:r>
              <a:rPr sz="2200" b="1" i="0">
                <a:solidFill>
                  <a:srgbClr val="222B33"/>
                </a:solidFill>
                <a:latin typeface="Calibri"/>
              </a:rPr>
              <a:t>•  Works on a free account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8FB"/>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8B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058400" cy="457200"/>
          </a:xfrm>
          <a:prstGeom prst="rect">
            <a:avLst/>
          </a:prstGeom>
          <a:noFill/>
        </p:spPr>
        <p:txBody>
          <a:bodyPr wrap="square" anchor="t">
            <a:spAutoFit/>
          </a:bodyPr>
          <a:lstStyle/>
          <a:p>
            <a:r>
              <a:rPr sz="1300" b="1" i="0">
                <a:solidFill>
                  <a:srgbClr val="18B6B0"/>
                </a:solidFill>
                <a:latin typeface="Calibri"/>
              </a:rPr>
              <a:t>2.4 ASSIGNMENT GUIDANCE</a:t>
            </a:r>
          </a:p>
        </p:txBody>
      </p:sp>
      <p:sp>
        <p:nvSpPr>
          <p:cNvPr id="4" name="TextBox 3"/>
          <p:cNvSpPr txBox="1"/>
          <p:nvPr/>
        </p:nvSpPr>
        <p:spPr>
          <a:xfrm>
            <a:off x="640080" y="868680"/>
            <a:ext cx="10972800" cy="1097280"/>
          </a:xfrm>
          <a:prstGeom prst="rect">
            <a:avLst/>
          </a:prstGeom>
          <a:noFill/>
        </p:spPr>
        <p:txBody>
          <a:bodyPr wrap="square" anchor="t">
            <a:spAutoFit/>
          </a:bodyPr>
          <a:lstStyle/>
          <a:p>
            <a:r>
              <a:rPr sz="3400" b="1" i="0">
                <a:solidFill>
                  <a:srgbClr val="0F2A43"/>
                </a:solidFill>
                <a:latin typeface="Calibri"/>
              </a:rPr>
              <a:t>Learn the work — don't outsource it</a:t>
            </a:r>
          </a:p>
        </p:txBody>
      </p:sp>
      <p:sp>
        <p:nvSpPr>
          <p:cNvPr id="5" name="Rectangle 4"/>
          <p:cNvSpPr/>
          <p:nvPr/>
        </p:nvSpPr>
        <p:spPr>
          <a:xfrm>
            <a:off x="658368" y="1783080"/>
            <a:ext cx="1280160" cy="54864"/>
          </a:xfrm>
          <a:prstGeom prst="rect">
            <a:avLst/>
          </a:prstGeom>
          <a:solidFill>
            <a:srgbClr val="18B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057400"/>
            <a:ext cx="10972800" cy="4389120"/>
          </a:xfrm>
          <a:prstGeom prst="rect">
            <a:avLst/>
          </a:prstGeom>
          <a:noFill/>
        </p:spPr>
        <p:txBody>
          <a:bodyPr wrap="square" anchor="t">
            <a:spAutoFit/>
          </a:bodyPr>
          <a:lstStyle/>
          <a:p>
            <a:pPr>
              <a:spcBef>
                <a:spcPts val="0"/>
              </a:spcBef>
              <a:spcAft>
                <a:spcPts val="1000"/>
              </a:spcAft>
            </a:pPr>
            <a:r>
              <a:rPr sz="2200" b="1" i="0">
                <a:solidFill>
                  <a:srgbClr val="222B33"/>
                </a:solidFill>
                <a:latin typeface="Calibri"/>
              </a:rPr>
              <a:t>•  Ask AI to be a tutor, not a ghost-writer</a:t>
            </a:r>
          </a:p>
          <a:p>
            <a:pPr>
              <a:spcBef>
                <a:spcPts val="0"/>
              </a:spcBef>
              <a:spcAft>
                <a:spcPts val="1000"/>
              </a:spcAft>
            </a:pPr>
            <a:r>
              <a:rPr sz="2200" b="1" i="0">
                <a:solidFill>
                  <a:srgbClr val="222B33"/>
                </a:solidFill>
                <a:latin typeface="Calibri"/>
              </a:rPr>
              <a:t>•  'Explain the question, don't answer it'</a:t>
            </a:r>
          </a:p>
          <a:p>
            <a:pPr>
              <a:spcBef>
                <a:spcPts val="0"/>
              </a:spcBef>
              <a:spcAft>
                <a:spcPts val="1000"/>
              </a:spcAft>
            </a:pPr>
            <a:r>
              <a:rPr sz="2200" b="1" i="0">
                <a:solidFill>
                  <a:srgbClr val="222B33"/>
                </a:solidFill>
                <a:latin typeface="Calibri"/>
              </a:rPr>
              <a:t>•  Break the task into steps</a:t>
            </a:r>
          </a:p>
          <a:p>
            <a:pPr>
              <a:spcBef>
                <a:spcPts val="0"/>
              </a:spcBef>
              <a:spcAft>
                <a:spcPts val="1000"/>
              </a:spcAft>
            </a:pPr>
            <a:r>
              <a:rPr sz="2200" b="1" i="0">
                <a:solidFill>
                  <a:srgbClr val="222B33"/>
                </a:solidFill>
                <a:latin typeface="Calibri"/>
              </a:rPr>
              <a:t>•  Socratic mode: it quizzes YOU</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8FB"/>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8B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058400" cy="457200"/>
          </a:xfrm>
          <a:prstGeom prst="rect">
            <a:avLst/>
          </a:prstGeom>
          <a:noFill/>
        </p:spPr>
        <p:txBody>
          <a:bodyPr wrap="square" anchor="t">
            <a:spAutoFit/>
          </a:bodyPr>
          <a:lstStyle/>
          <a:p>
            <a:r>
              <a:rPr sz="1300" b="1" i="0">
                <a:solidFill>
                  <a:srgbClr val="18B6B0"/>
                </a:solidFill>
                <a:latin typeface="Calibri"/>
              </a:rPr>
              <a:t>2.4 ASSIGNMENT GUIDANCE</a:t>
            </a:r>
          </a:p>
        </p:txBody>
      </p:sp>
      <p:sp>
        <p:nvSpPr>
          <p:cNvPr id="4" name="TextBox 3"/>
          <p:cNvSpPr txBox="1"/>
          <p:nvPr/>
        </p:nvSpPr>
        <p:spPr>
          <a:xfrm>
            <a:off x="640080" y="868680"/>
            <a:ext cx="10972800" cy="1097280"/>
          </a:xfrm>
          <a:prstGeom prst="rect">
            <a:avLst/>
          </a:prstGeom>
          <a:noFill/>
        </p:spPr>
        <p:txBody>
          <a:bodyPr wrap="square" anchor="t">
            <a:spAutoFit/>
          </a:bodyPr>
          <a:lstStyle/>
          <a:p>
            <a:r>
              <a:rPr sz="3400" b="1" i="0">
                <a:solidFill>
                  <a:srgbClr val="0F2A43"/>
                </a:solidFill>
                <a:latin typeface="Calibri"/>
              </a:rPr>
              <a:t>The 'tutor, not author' prompt</a:t>
            </a:r>
          </a:p>
        </p:txBody>
      </p:sp>
      <p:sp>
        <p:nvSpPr>
          <p:cNvPr id="5" name="Rectangle 4"/>
          <p:cNvSpPr/>
          <p:nvPr/>
        </p:nvSpPr>
        <p:spPr>
          <a:xfrm>
            <a:off x="658368" y="1783080"/>
            <a:ext cx="1280160" cy="54864"/>
          </a:xfrm>
          <a:prstGeom prst="rect">
            <a:avLst/>
          </a:prstGeom>
          <a:solidFill>
            <a:srgbClr val="18B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057400"/>
            <a:ext cx="10972800" cy="4389120"/>
          </a:xfrm>
          <a:prstGeom prst="rect">
            <a:avLst/>
          </a:prstGeom>
          <a:noFill/>
        </p:spPr>
        <p:txBody>
          <a:bodyPr wrap="square" anchor="t">
            <a:spAutoFit/>
          </a:bodyPr>
          <a:lstStyle/>
          <a:p>
            <a:pPr>
              <a:spcBef>
                <a:spcPts val="0"/>
              </a:spcBef>
              <a:spcAft>
                <a:spcPts val="1000"/>
              </a:spcAft>
            </a:pPr>
            <a:r>
              <a:rPr sz="2200" b="1" i="0">
                <a:solidFill>
                  <a:srgbClr val="222B33"/>
                </a:solidFill>
                <a:latin typeface="Calibri"/>
              </a:rPr>
              <a:t>•  Paste your assignment brief</a:t>
            </a:r>
          </a:p>
          <a:p>
            <a:pPr>
              <a:spcBef>
                <a:spcPts val="0"/>
              </a:spcBef>
              <a:spcAft>
                <a:spcPts val="1000"/>
              </a:spcAft>
            </a:pPr>
            <a:r>
              <a:rPr sz="2200" b="1" i="0">
                <a:solidFill>
                  <a:srgbClr val="222B33"/>
                </a:solidFill>
                <a:latin typeface="Calibri"/>
              </a:rPr>
              <a:t>•  'Be my Socratic tutor…'</a:t>
            </a:r>
          </a:p>
          <a:p>
            <a:pPr>
              <a:spcBef>
                <a:spcPts val="0"/>
              </a:spcBef>
              <a:spcAft>
                <a:spcPts val="1000"/>
              </a:spcAft>
            </a:pPr>
            <a:r>
              <a:rPr sz="2200" b="1" i="0">
                <a:solidFill>
                  <a:srgbClr val="222B33"/>
                </a:solidFill>
                <a:latin typeface="Calibri"/>
              </a:rPr>
              <a:t>•  It explains + questions you</a:t>
            </a:r>
          </a:p>
          <a:p>
            <a:pPr>
              <a:spcBef>
                <a:spcPts val="0"/>
              </a:spcBef>
              <a:spcAft>
                <a:spcPts val="1000"/>
              </a:spcAft>
            </a:pPr>
            <a:r>
              <a:rPr sz="2200" b="1" i="0">
                <a:solidFill>
                  <a:srgbClr val="222B33"/>
                </a:solidFill>
                <a:latin typeface="Calibri"/>
              </a:rPr>
              <a:t>•  You write the actual work</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F8FB"/>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8B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058400" cy="457200"/>
          </a:xfrm>
          <a:prstGeom prst="rect">
            <a:avLst/>
          </a:prstGeom>
          <a:noFill/>
        </p:spPr>
        <p:txBody>
          <a:bodyPr wrap="square" anchor="t">
            <a:spAutoFit/>
          </a:bodyPr>
          <a:lstStyle/>
          <a:p>
            <a:r>
              <a:rPr sz="1300" b="1" i="0">
                <a:solidFill>
                  <a:srgbClr val="18B6B0"/>
                </a:solidFill>
                <a:latin typeface="Calibri"/>
              </a:rPr>
              <a:t>2.5 EDM &amp; POSTER CREATION</a:t>
            </a:r>
          </a:p>
        </p:txBody>
      </p:sp>
      <p:sp>
        <p:nvSpPr>
          <p:cNvPr id="4" name="TextBox 3"/>
          <p:cNvSpPr txBox="1"/>
          <p:nvPr/>
        </p:nvSpPr>
        <p:spPr>
          <a:xfrm>
            <a:off x="640080" y="868680"/>
            <a:ext cx="10972800" cy="1097280"/>
          </a:xfrm>
          <a:prstGeom prst="rect">
            <a:avLst/>
          </a:prstGeom>
          <a:noFill/>
        </p:spPr>
        <p:txBody>
          <a:bodyPr wrap="square" anchor="t">
            <a:spAutoFit/>
          </a:bodyPr>
          <a:lstStyle/>
          <a:p>
            <a:r>
              <a:rPr sz="3400" b="1" i="0">
                <a:solidFill>
                  <a:srgbClr val="0F2A43"/>
                </a:solidFill>
                <a:latin typeface="Calibri"/>
              </a:rPr>
              <a:t>Design without a designer</a:t>
            </a:r>
          </a:p>
        </p:txBody>
      </p:sp>
      <p:sp>
        <p:nvSpPr>
          <p:cNvPr id="5" name="Rectangle 4"/>
          <p:cNvSpPr/>
          <p:nvPr/>
        </p:nvSpPr>
        <p:spPr>
          <a:xfrm>
            <a:off x="658368" y="1783080"/>
            <a:ext cx="1280160" cy="54864"/>
          </a:xfrm>
          <a:prstGeom prst="rect">
            <a:avLst/>
          </a:prstGeom>
          <a:solidFill>
            <a:srgbClr val="18B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057400"/>
            <a:ext cx="10972800" cy="4389120"/>
          </a:xfrm>
          <a:prstGeom prst="rect">
            <a:avLst/>
          </a:prstGeom>
          <a:noFill/>
        </p:spPr>
        <p:txBody>
          <a:bodyPr wrap="square" anchor="t">
            <a:spAutoFit/>
          </a:bodyPr>
          <a:lstStyle/>
          <a:p>
            <a:pPr>
              <a:spcBef>
                <a:spcPts val="0"/>
              </a:spcBef>
              <a:spcAft>
                <a:spcPts val="1000"/>
              </a:spcAft>
            </a:pPr>
            <a:r>
              <a:rPr sz="2200" b="1" i="0">
                <a:solidFill>
                  <a:srgbClr val="222B33"/>
                </a:solidFill>
                <a:latin typeface="Calibri"/>
              </a:rPr>
              <a:t>•  Canva — fast, editable, free</a:t>
            </a:r>
          </a:p>
          <a:p>
            <a:pPr>
              <a:spcBef>
                <a:spcPts val="0"/>
              </a:spcBef>
              <a:spcAft>
                <a:spcPts val="1000"/>
              </a:spcAft>
            </a:pPr>
            <a:r>
              <a:rPr sz="2200" b="1" i="0">
                <a:solidFill>
                  <a:srgbClr val="222B33"/>
                </a:solidFill>
                <a:latin typeface="Calibri"/>
              </a:rPr>
              <a:t>•  Microsoft Designer — genuinely free</a:t>
            </a:r>
          </a:p>
          <a:p>
            <a:pPr>
              <a:spcBef>
                <a:spcPts val="0"/>
              </a:spcBef>
              <a:spcAft>
                <a:spcPts val="1000"/>
              </a:spcAft>
            </a:pPr>
            <a:r>
              <a:rPr sz="2200" b="1" i="0">
                <a:solidFill>
                  <a:srgbClr val="222B33"/>
                </a:solidFill>
                <a:latin typeface="Calibri"/>
              </a:rPr>
              <a:t>•  Ideogram — best text INSIDE the image</a:t>
            </a:r>
          </a:p>
          <a:p>
            <a:pPr>
              <a:spcBef>
                <a:spcPts val="0"/>
              </a:spcBef>
              <a:spcAft>
                <a:spcPts val="1000"/>
              </a:spcAft>
            </a:pPr>
            <a:r>
              <a:rPr sz="2200" b="1" i="0">
                <a:solidFill>
                  <a:srgbClr val="222B33"/>
                </a:solidFill>
                <a:latin typeface="Calibri"/>
              </a:rPr>
              <a:t>•  Catch: proofread text &amp; check licensing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8FB"/>
        </a:solidFill>
        <a:effectLst/>
      </p:bgPr>
    </p:bg>
    <p:spTree>
      <p:nvGrpSpPr>
        <p:cNvPr id="1" name=""/>
        <p:cNvGrpSpPr/>
        <p:nvPr/>
      </p:nvGrpSpPr>
      <p:grpSpPr/>
      <p:sp>
        <p:nvSpPr>
          <p:cNvPr id="2" name="Rectangle 1"/>
          <p:cNvSpPr/>
          <p:nvPr/>
        </p:nvSpPr>
        <p:spPr>
          <a:xfrm>
            <a:off x="0" y="0"/>
            <a:ext cx="3108960" cy="6858000"/>
          </a:xfrm>
          <a:prstGeom prst="rect">
            <a:avLst/>
          </a:prstGeom>
          <a:solidFill>
            <a:srgbClr val="18B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2468880"/>
            <a:ext cx="2560320" cy="1828800"/>
          </a:xfrm>
          <a:prstGeom prst="rect">
            <a:avLst/>
          </a:prstGeom>
          <a:noFill/>
        </p:spPr>
        <p:txBody>
          <a:bodyPr wrap="square" anchor="t">
            <a:spAutoFit/>
          </a:bodyPr>
          <a:lstStyle/>
          <a:p>
            <a:r>
              <a:rPr sz="5400" b="1" i="0">
                <a:solidFill>
                  <a:srgbClr val="FFFFFF"/>
                </a:solidFill>
                <a:latin typeface="Calibri"/>
              </a:rPr>
              <a:t>🎬</a:t>
            </a:r>
          </a:p>
          <a:p>
            <a:r>
              <a:rPr sz="3000" b="1" i="0">
                <a:solidFill>
                  <a:srgbClr val="FFFFFF"/>
                </a:solidFill>
                <a:latin typeface="Calibri"/>
              </a:rPr>
              <a:t>LIVE
DEMO</a:t>
            </a:r>
          </a:p>
        </p:txBody>
      </p:sp>
      <p:sp>
        <p:nvSpPr>
          <p:cNvPr id="4" name="TextBox 3"/>
          <p:cNvSpPr txBox="1"/>
          <p:nvPr/>
        </p:nvSpPr>
        <p:spPr>
          <a:xfrm>
            <a:off x="3474720" y="822960"/>
            <a:ext cx="8229600" cy="1097280"/>
          </a:xfrm>
          <a:prstGeom prst="rect">
            <a:avLst/>
          </a:prstGeom>
          <a:noFill/>
        </p:spPr>
        <p:txBody>
          <a:bodyPr wrap="square" anchor="t">
            <a:spAutoFit/>
          </a:bodyPr>
          <a:lstStyle/>
          <a:p>
            <a:r>
              <a:rPr sz="3000" b="1" i="0">
                <a:solidFill>
                  <a:srgbClr val="0F2A43"/>
                </a:solidFill>
                <a:latin typeface="Calibri"/>
              </a:rPr>
              <a:t>Demo 4 — Poster for THIS session</a:t>
            </a:r>
          </a:p>
        </p:txBody>
      </p:sp>
      <p:sp>
        <p:nvSpPr>
          <p:cNvPr id="5" name="Rectangle 4"/>
          <p:cNvSpPr/>
          <p:nvPr/>
        </p:nvSpPr>
        <p:spPr>
          <a:xfrm>
            <a:off x="3493008" y="1828800"/>
            <a:ext cx="1280160" cy="54864"/>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474720" y="2103120"/>
            <a:ext cx="8229600" cy="4206240"/>
          </a:xfrm>
          <a:prstGeom prst="rect">
            <a:avLst/>
          </a:prstGeom>
          <a:noFill/>
        </p:spPr>
        <p:txBody>
          <a:bodyPr wrap="square" anchor="t">
            <a:spAutoFit/>
          </a:bodyPr>
          <a:lstStyle/>
          <a:p>
            <a:pPr>
              <a:spcBef>
                <a:spcPts val="0"/>
              </a:spcBef>
              <a:spcAft>
                <a:spcPts val="1000"/>
              </a:spcAft>
            </a:pPr>
            <a:r>
              <a:rPr sz="2200" b="1" i="0">
                <a:solidFill>
                  <a:srgbClr val="222B33"/>
                </a:solidFill>
                <a:latin typeface="Calibri"/>
              </a:rPr>
              <a:t>•  Case study: today's talk</a:t>
            </a:r>
          </a:p>
          <a:p>
            <a:pPr>
              <a:spcBef>
                <a:spcPts val="0"/>
              </a:spcBef>
              <a:spcAft>
                <a:spcPts val="1000"/>
              </a:spcAft>
            </a:pPr>
            <a:r>
              <a:rPr sz="2200" b="1" i="0">
                <a:solidFill>
                  <a:srgbClr val="222B33"/>
                </a:solidFill>
                <a:latin typeface="Calibri"/>
              </a:rPr>
              <a:t>•  Tool: Canva (or Ideogram)</a:t>
            </a:r>
          </a:p>
          <a:p>
            <a:pPr>
              <a:spcBef>
                <a:spcPts val="0"/>
              </a:spcBef>
              <a:spcAft>
                <a:spcPts val="1000"/>
              </a:spcAft>
            </a:pPr>
            <a:r>
              <a:rPr sz="2200" b="1" i="0">
                <a:solidFill>
                  <a:srgbClr val="222B33"/>
                </a:solidFill>
                <a:latin typeface="Calibri"/>
              </a:rPr>
              <a:t>•  Prompt → editable poster in ~90 sec</a:t>
            </a:r>
          </a:p>
          <a:p>
            <a:pPr>
              <a:spcBef>
                <a:spcPts val="0"/>
              </a:spcBef>
              <a:spcAft>
                <a:spcPts val="1000"/>
              </a:spcAft>
            </a:pPr>
            <a:r>
              <a:rPr sz="2200" b="1" i="0">
                <a:solidFill>
                  <a:srgbClr val="222B33"/>
                </a:solidFill>
                <a:latin typeface="Calibri"/>
              </a:rPr>
              <a:t>•  Wow: live-edit the date on a finished design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F8FB"/>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8B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058400" cy="457200"/>
          </a:xfrm>
          <a:prstGeom prst="rect">
            <a:avLst/>
          </a:prstGeom>
          <a:noFill/>
        </p:spPr>
        <p:txBody>
          <a:bodyPr wrap="square" anchor="t">
            <a:spAutoFit/>
          </a:bodyPr>
          <a:lstStyle/>
          <a:p>
            <a:r>
              <a:rPr sz="1300" b="1" i="0">
                <a:solidFill>
                  <a:srgbClr val="18B6B0"/>
                </a:solidFill>
                <a:latin typeface="Calibri"/>
              </a:rPr>
              <a:t>2.6 AI VIDEO CREATION</a:t>
            </a:r>
          </a:p>
        </p:txBody>
      </p:sp>
      <p:sp>
        <p:nvSpPr>
          <p:cNvPr id="4" name="TextBox 3"/>
          <p:cNvSpPr txBox="1"/>
          <p:nvPr/>
        </p:nvSpPr>
        <p:spPr>
          <a:xfrm>
            <a:off x="640080" y="868680"/>
            <a:ext cx="10972800" cy="1097280"/>
          </a:xfrm>
          <a:prstGeom prst="rect">
            <a:avLst/>
          </a:prstGeom>
          <a:noFill/>
        </p:spPr>
        <p:txBody>
          <a:bodyPr wrap="square" anchor="t">
            <a:spAutoFit/>
          </a:bodyPr>
          <a:lstStyle/>
          <a:p>
            <a:r>
              <a:rPr sz="3400" b="1" i="0">
                <a:solidFill>
                  <a:srgbClr val="0F2A43"/>
                </a:solidFill>
                <a:latin typeface="Calibri"/>
              </a:rPr>
              <a:t>From text to moving pictures</a:t>
            </a:r>
          </a:p>
        </p:txBody>
      </p:sp>
      <p:sp>
        <p:nvSpPr>
          <p:cNvPr id="5" name="Rectangle 4"/>
          <p:cNvSpPr/>
          <p:nvPr/>
        </p:nvSpPr>
        <p:spPr>
          <a:xfrm>
            <a:off x="658368" y="1783080"/>
            <a:ext cx="1280160" cy="54864"/>
          </a:xfrm>
          <a:prstGeom prst="rect">
            <a:avLst/>
          </a:prstGeom>
          <a:solidFill>
            <a:srgbClr val="18B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057400"/>
            <a:ext cx="10972800" cy="4389120"/>
          </a:xfrm>
          <a:prstGeom prst="rect">
            <a:avLst/>
          </a:prstGeom>
          <a:noFill/>
        </p:spPr>
        <p:txBody>
          <a:bodyPr wrap="square" anchor="t">
            <a:spAutoFit/>
          </a:bodyPr>
          <a:lstStyle/>
          <a:p>
            <a:pPr>
              <a:spcBef>
                <a:spcPts val="0"/>
              </a:spcBef>
              <a:spcAft>
                <a:spcPts val="1000"/>
              </a:spcAft>
            </a:pPr>
            <a:r>
              <a:rPr sz="2200" b="1" i="0">
                <a:solidFill>
                  <a:srgbClr val="222B33"/>
                </a:solidFill>
                <a:latin typeface="Calibri"/>
              </a:rPr>
              <a:t>•  Canva / CapCut — easiest, watermark-free path</a:t>
            </a:r>
          </a:p>
          <a:p>
            <a:pPr>
              <a:spcBef>
                <a:spcPts val="0"/>
              </a:spcBef>
              <a:spcAft>
                <a:spcPts val="1000"/>
              </a:spcAft>
            </a:pPr>
            <a:r>
              <a:rPr sz="2200" b="1" i="0">
                <a:solidFill>
                  <a:srgbClr val="222B33"/>
                </a:solidFill>
                <a:latin typeface="Calibri"/>
              </a:rPr>
              <a:t>•  Google Veo (via Gemini) — most realistic clips</a:t>
            </a:r>
          </a:p>
          <a:p>
            <a:pPr>
              <a:spcBef>
                <a:spcPts val="0"/>
              </a:spcBef>
              <a:spcAft>
                <a:spcPts val="1000"/>
              </a:spcAft>
            </a:pPr>
            <a:r>
              <a:rPr sz="2200" b="1" i="0">
                <a:solidFill>
                  <a:srgbClr val="222B33"/>
                </a:solidFill>
                <a:latin typeface="Calibri"/>
              </a:rPr>
              <a:t>•  Runway / Kling / Luma — creative control</a:t>
            </a:r>
          </a:p>
          <a:p>
            <a:pPr>
              <a:spcBef>
                <a:spcPts val="0"/>
              </a:spcBef>
              <a:spcAft>
                <a:spcPts val="1000"/>
              </a:spcAft>
            </a:pPr>
            <a:r>
              <a:rPr sz="2200" b="1" i="0">
                <a:solidFill>
                  <a:srgbClr val="222B33"/>
                </a:solidFill>
                <a:latin typeface="Calibri"/>
              </a:rPr>
              <a:t>•  Catch: short, limited, non-commercial on free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4F8FB"/>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8B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058400" cy="457200"/>
          </a:xfrm>
          <a:prstGeom prst="rect">
            <a:avLst/>
          </a:prstGeom>
          <a:noFill/>
        </p:spPr>
        <p:txBody>
          <a:bodyPr wrap="square" anchor="t">
            <a:spAutoFit/>
          </a:bodyPr>
          <a:lstStyle/>
          <a:p>
            <a:r>
              <a:rPr sz="1300" b="1" i="0">
                <a:solidFill>
                  <a:srgbClr val="18B6B0"/>
                </a:solidFill>
                <a:latin typeface="Calibri"/>
              </a:rPr>
              <a:t>2.7 HOLIDAY PLANNING</a:t>
            </a:r>
          </a:p>
        </p:txBody>
      </p:sp>
      <p:sp>
        <p:nvSpPr>
          <p:cNvPr id="4" name="TextBox 3"/>
          <p:cNvSpPr txBox="1"/>
          <p:nvPr/>
        </p:nvSpPr>
        <p:spPr>
          <a:xfrm>
            <a:off x="640080" y="868680"/>
            <a:ext cx="10972800" cy="1097280"/>
          </a:xfrm>
          <a:prstGeom prst="rect">
            <a:avLst/>
          </a:prstGeom>
          <a:noFill/>
        </p:spPr>
        <p:txBody>
          <a:bodyPr wrap="square" anchor="t">
            <a:spAutoFit/>
          </a:bodyPr>
          <a:lstStyle/>
          <a:p>
            <a:r>
              <a:rPr sz="3400" b="1" i="0">
                <a:solidFill>
                  <a:srgbClr val="0F2A43"/>
                </a:solidFill>
                <a:latin typeface="Calibri"/>
              </a:rPr>
              <a:t>Your instant travel agent</a:t>
            </a:r>
          </a:p>
        </p:txBody>
      </p:sp>
      <p:sp>
        <p:nvSpPr>
          <p:cNvPr id="5" name="Rectangle 4"/>
          <p:cNvSpPr/>
          <p:nvPr/>
        </p:nvSpPr>
        <p:spPr>
          <a:xfrm>
            <a:off x="658368" y="1783080"/>
            <a:ext cx="1280160" cy="54864"/>
          </a:xfrm>
          <a:prstGeom prst="rect">
            <a:avLst/>
          </a:prstGeom>
          <a:solidFill>
            <a:srgbClr val="18B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057400"/>
            <a:ext cx="10972800" cy="4389120"/>
          </a:xfrm>
          <a:prstGeom prst="rect">
            <a:avLst/>
          </a:prstGeom>
          <a:noFill/>
        </p:spPr>
        <p:txBody>
          <a:bodyPr wrap="square" anchor="t">
            <a:spAutoFit/>
          </a:bodyPr>
          <a:lstStyle/>
          <a:p>
            <a:pPr>
              <a:spcBef>
                <a:spcPts val="0"/>
              </a:spcBef>
              <a:spcAft>
                <a:spcPts val="1000"/>
              </a:spcAft>
            </a:pPr>
            <a:r>
              <a:rPr sz="2200" b="1" i="0">
                <a:solidFill>
                  <a:srgbClr val="222B33"/>
                </a:solidFill>
                <a:latin typeface="Calibri"/>
              </a:rPr>
              <a:t>•  ChatGPT / Gemini — day-by-day itineraries</a:t>
            </a:r>
          </a:p>
          <a:p>
            <a:pPr>
              <a:spcBef>
                <a:spcPts val="0"/>
              </a:spcBef>
              <a:spcAft>
                <a:spcPts val="1000"/>
              </a:spcAft>
            </a:pPr>
            <a:r>
              <a:rPr sz="2200" b="1" i="0">
                <a:solidFill>
                  <a:srgbClr val="222B33"/>
                </a:solidFill>
                <a:latin typeface="Calibri"/>
              </a:rPr>
              <a:t>•  Wonderplan · Google Travel — free planners</a:t>
            </a:r>
          </a:p>
          <a:p>
            <a:pPr>
              <a:spcBef>
                <a:spcPts val="0"/>
              </a:spcBef>
              <a:spcAft>
                <a:spcPts val="1000"/>
              </a:spcAft>
            </a:pPr>
            <a:r>
              <a:rPr sz="2200" b="1" i="0">
                <a:solidFill>
                  <a:srgbClr val="222B33"/>
                </a:solidFill>
                <a:latin typeface="Calibri"/>
              </a:rPr>
              <a:t>•  Give it: dates, budget, pace, tastes</a:t>
            </a:r>
          </a:p>
          <a:p>
            <a:pPr>
              <a:spcBef>
                <a:spcPts val="0"/>
              </a:spcBef>
              <a:spcAft>
                <a:spcPts val="1000"/>
              </a:spcAft>
            </a:pPr>
            <a:r>
              <a:rPr sz="2200" b="1" i="0">
                <a:solidFill>
                  <a:srgbClr val="222B33"/>
                </a:solidFill>
                <a:latin typeface="Calibri"/>
              </a:rPr>
              <a:t>•  Catch: verify prices, hours, openings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4F8FB"/>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8B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058400" cy="457200"/>
          </a:xfrm>
          <a:prstGeom prst="rect">
            <a:avLst/>
          </a:prstGeom>
          <a:noFill/>
        </p:spPr>
        <p:txBody>
          <a:bodyPr wrap="square" anchor="t">
            <a:spAutoFit/>
          </a:bodyPr>
          <a:lstStyle/>
          <a:p>
            <a:r>
              <a:rPr sz="1300" b="1" i="0">
                <a:solidFill>
                  <a:srgbClr val="18B6B0"/>
                </a:solidFill>
                <a:latin typeface="Calibri"/>
              </a:rPr>
              <a:t>2.8 AI IN DAILY LIFE</a:t>
            </a:r>
          </a:p>
        </p:txBody>
      </p:sp>
      <p:sp>
        <p:nvSpPr>
          <p:cNvPr id="4" name="TextBox 3"/>
          <p:cNvSpPr txBox="1"/>
          <p:nvPr/>
        </p:nvSpPr>
        <p:spPr>
          <a:xfrm>
            <a:off x="640080" y="868680"/>
            <a:ext cx="10972800" cy="1097280"/>
          </a:xfrm>
          <a:prstGeom prst="rect">
            <a:avLst/>
          </a:prstGeom>
          <a:noFill/>
        </p:spPr>
        <p:txBody>
          <a:bodyPr wrap="square" anchor="t">
            <a:spAutoFit/>
          </a:bodyPr>
          <a:lstStyle/>
          <a:p>
            <a:r>
              <a:rPr sz="3400" b="1" i="0">
                <a:solidFill>
                  <a:srgbClr val="0F2A43"/>
                </a:solidFill>
                <a:latin typeface="Calibri"/>
              </a:rPr>
              <a:t>The small wins that add up</a:t>
            </a:r>
          </a:p>
        </p:txBody>
      </p:sp>
      <p:sp>
        <p:nvSpPr>
          <p:cNvPr id="5" name="Rectangle 4"/>
          <p:cNvSpPr/>
          <p:nvPr/>
        </p:nvSpPr>
        <p:spPr>
          <a:xfrm>
            <a:off x="658368" y="1783080"/>
            <a:ext cx="1280160" cy="54864"/>
          </a:xfrm>
          <a:prstGeom prst="rect">
            <a:avLst/>
          </a:prstGeom>
          <a:solidFill>
            <a:srgbClr val="18B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057400"/>
            <a:ext cx="10972800" cy="4389120"/>
          </a:xfrm>
          <a:prstGeom prst="rect">
            <a:avLst/>
          </a:prstGeom>
          <a:noFill/>
        </p:spPr>
        <p:txBody>
          <a:bodyPr wrap="square" anchor="t">
            <a:spAutoFit/>
          </a:bodyPr>
          <a:lstStyle/>
          <a:p>
            <a:pPr>
              <a:spcBef>
                <a:spcPts val="0"/>
              </a:spcBef>
              <a:spcAft>
                <a:spcPts val="1000"/>
              </a:spcAft>
            </a:pPr>
            <a:r>
              <a:rPr sz="2200" b="1" i="0">
                <a:solidFill>
                  <a:srgbClr val="222B33"/>
                </a:solidFill>
                <a:latin typeface="Calibri"/>
              </a:rPr>
              <a:t>•  Meals from what's in your fridge</a:t>
            </a:r>
          </a:p>
          <a:p>
            <a:pPr>
              <a:spcBef>
                <a:spcPts val="0"/>
              </a:spcBef>
              <a:spcAft>
                <a:spcPts val="1000"/>
              </a:spcAft>
            </a:pPr>
            <a:r>
              <a:rPr sz="2200" b="1" i="0">
                <a:solidFill>
                  <a:srgbClr val="222B33"/>
                </a:solidFill>
                <a:latin typeface="Calibri"/>
              </a:rPr>
              <a:t>•  Explain letters, contracts, jargon</a:t>
            </a:r>
          </a:p>
          <a:p>
            <a:pPr>
              <a:spcBef>
                <a:spcPts val="0"/>
              </a:spcBef>
              <a:spcAft>
                <a:spcPts val="1000"/>
              </a:spcAft>
            </a:pPr>
            <a:r>
              <a:rPr sz="2200" b="1" i="0">
                <a:solidFill>
                  <a:srgbClr val="222B33"/>
                </a:solidFill>
                <a:latin typeface="Calibri"/>
              </a:rPr>
              <a:t>•  Summarise long articles / PDFs</a:t>
            </a:r>
          </a:p>
          <a:p>
            <a:pPr>
              <a:spcBef>
                <a:spcPts val="0"/>
              </a:spcBef>
              <a:spcAft>
                <a:spcPts val="1000"/>
              </a:spcAft>
            </a:pPr>
            <a:r>
              <a:rPr sz="2200" b="1" i="0">
                <a:solidFill>
                  <a:srgbClr val="222B33"/>
                </a:solidFill>
                <a:latin typeface="Calibri"/>
              </a:rPr>
              <a:t>•  Draft awkward messages · translate · declutter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E6FB8"/>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18B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468880"/>
            <a:ext cx="10058400" cy="1828800"/>
          </a:xfrm>
          <a:prstGeom prst="rect">
            <a:avLst/>
          </a:prstGeom>
          <a:noFill/>
        </p:spPr>
        <p:txBody>
          <a:bodyPr wrap="square" anchor="t">
            <a:spAutoFit/>
          </a:bodyPr>
          <a:lstStyle/>
          <a:p>
            <a:r>
              <a:rPr sz="2200" b="1" i="0">
                <a:solidFill>
                  <a:srgbClr val="C9E8F0"/>
                </a:solidFill>
                <a:latin typeface="Calibri"/>
              </a:rPr>
              <a:t>Section 3</a:t>
            </a:r>
          </a:p>
          <a:p>
            <a:pPr>
              <a:spcBef>
                <a:spcPts val="800"/>
              </a:spcBef>
            </a:pPr>
            <a:r>
              <a:rPr sz="4400" b="1" i="0">
                <a:solidFill>
                  <a:srgbClr val="FFFFFF"/>
                </a:solidFill>
                <a:latin typeface="Calibri"/>
              </a:rPr>
              <a:t>Doing It Responsibly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4F8FB"/>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8B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058400" cy="457200"/>
          </a:xfrm>
          <a:prstGeom prst="rect">
            <a:avLst/>
          </a:prstGeom>
          <a:noFill/>
        </p:spPr>
        <p:txBody>
          <a:bodyPr wrap="square" anchor="t">
            <a:spAutoFit/>
          </a:bodyPr>
          <a:lstStyle/>
          <a:p>
            <a:r>
              <a:rPr sz="1300" b="1" i="0">
                <a:solidFill>
                  <a:srgbClr val="18B6B0"/>
                </a:solidFill>
                <a:latin typeface="Calibri"/>
              </a:rPr>
              <a:t>RESPONSIBLY</a:t>
            </a:r>
          </a:p>
        </p:txBody>
      </p:sp>
      <p:sp>
        <p:nvSpPr>
          <p:cNvPr id="4" name="TextBox 3"/>
          <p:cNvSpPr txBox="1"/>
          <p:nvPr/>
        </p:nvSpPr>
        <p:spPr>
          <a:xfrm>
            <a:off x="640080" y="868680"/>
            <a:ext cx="10972800" cy="1097280"/>
          </a:xfrm>
          <a:prstGeom prst="rect">
            <a:avLst/>
          </a:prstGeom>
          <a:noFill/>
        </p:spPr>
        <p:txBody>
          <a:bodyPr wrap="square" anchor="t">
            <a:spAutoFit/>
          </a:bodyPr>
          <a:lstStyle/>
          <a:p>
            <a:r>
              <a:rPr sz="3400" b="1" i="0">
                <a:solidFill>
                  <a:srgbClr val="0F2A43"/>
                </a:solidFill>
                <a:latin typeface="Calibri"/>
              </a:rPr>
              <a:t>The honest limitations</a:t>
            </a:r>
          </a:p>
        </p:txBody>
      </p:sp>
      <p:sp>
        <p:nvSpPr>
          <p:cNvPr id="5" name="Rectangle 4"/>
          <p:cNvSpPr/>
          <p:nvPr/>
        </p:nvSpPr>
        <p:spPr>
          <a:xfrm>
            <a:off x="658368" y="1783080"/>
            <a:ext cx="1280160" cy="54864"/>
          </a:xfrm>
          <a:prstGeom prst="rect">
            <a:avLst/>
          </a:prstGeom>
          <a:solidFill>
            <a:srgbClr val="18B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057400"/>
            <a:ext cx="10972800" cy="4389120"/>
          </a:xfrm>
          <a:prstGeom prst="rect">
            <a:avLst/>
          </a:prstGeom>
          <a:noFill/>
        </p:spPr>
        <p:txBody>
          <a:bodyPr wrap="square" anchor="t">
            <a:spAutoFit/>
          </a:bodyPr>
          <a:lstStyle/>
          <a:p>
            <a:pPr>
              <a:spcBef>
                <a:spcPts val="0"/>
              </a:spcBef>
              <a:spcAft>
                <a:spcPts val="1000"/>
              </a:spcAft>
            </a:pPr>
            <a:r>
              <a:rPr sz="2200" b="1" i="0">
                <a:solidFill>
                  <a:srgbClr val="222B33"/>
                </a:solidFill>
                <a:latin typeface="Calibri"/>
              </a:rPr>
              <a:t>•  Hallucinations — confident, but wrong</a:t>
            </a:r>
          </a:p>
          <a:p>
            <a:pPr>
              <a:spcBef>
                <a:spcPts val="0"/>
              </a:spcBef>
              <a:spcAft>
                <a:spcPts val="1000"/>
              </a:spcAft>
            </a:pPr>
            <a:r>
              <a:rPr sz="2200" b="1" i="0">
                <a:solidFill>
                  <a:srgbClr val="222B33"/>
                </a:solidFill>
                <a:latin typeface="Calibri"/>
              </a:rPr>
              <a:t>•  Stale info — check dates &amp; prices</a:t>
            </a:r>
          </a:p>
          <a:p>
            <a:pPr>
              <a:spcBef>
                <a:spcPts val="0"/>
              </a:spcBef>
              <a:spcAft>
                <a:spcPts val="1000"/>
              </a:spcAft>
            </a:pPr>
            <a:r>
              <a:rPr sz="2200" b="1" i="0">
                <a:solidFill>
                  <a:srgbClr val="222B33"/>
                </a:solidFill>
                <a:latin typeface="Calibri"/>
              </a:rPr>
              <a:t>•  Bias — reflects its training data</a:t>
            </a:r>
          </a:p>
          <a:p>
            <a:pPr>
              <a:spcBef>
                <a:spcPts val="0"/>
              </a:spcBef>
              <a:spcAft>
                <a:spcPts val="1000"/>
              </a:spcAft>
            </a:pPr>
            <a:r>
              <a:rPr sz="2200" b="1" i="0">
                <a:solidFill>
                  <a:srgbClr val="222B33"/>
                </a:solidFill>
                <a:latin typeface="Calibri"/>
              </a:rPr>
              <a:t>•  Privacy — free is not private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4F8FB"/>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8B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058400" cy="457200"/>
          </a:xfrm>
          <a:prstGeom prst="rect">
            <a:avLst/>
          </a:prstGeom>
          <a:noFill/>
        </p:spPr>
        <p:txBody>
          <a:bodyPr wrap="square" anchor="t">
            <a:spAutoFit/>
          </a:bodyPr>
          <a:lstStyle/>
          <a:p>
            <a:r>
              <a:rPr sz="1300" b="1" i="0">
                <a:solidFill>
                  <a:srgbClr val="18B6B0"/>
                </a:solidFill>
                <a:latin typeface="Calibri"/>
              </a:rPr>
              <a:t>RESPONSIBLY</a:t>
            </a:r>
          </a:p>
        </p:txBody>
      </p:sp>
      <p:sp>
        <p:nvSpPr>
          <p:cNvPr id="4" name="TextBox 3"/>
          <p:cNvSpPr txBox="1"/>
          <p:nvPr/>
        </p:nvSpPr>
        <p:spPr>
          <a:xfrm>
            <a:off x="640080" y="868680"/>
            <a:ext cx="10972800" cy="1097280"/>
          </a:xfrm>
          <a:prstGeom prst="rect">
            <a:avLst/>
          </a:prstGeom>
          <a:noFill/>
        </p:spPr>
        <p:txBody>
          <a:bodyPr wrap="square" anchor="t">
            <a:spAutoFit/>
          </a:bodyPr>
          <a:lstStyle/>
          <a:p>
            <a:r>
              <a:rPr sz="3400" b="1" i="0">
                <a:solidFill>
                  <a:srgbClr val="0F2A43"/>
                </a:solidFill>
                <a:latin typeface="Calibri"/>
              </a:rPr>
              <a:t>Five habits of good AI users</a:t>
            </a:r>
          </a:p>
        </p:txBody>
      </p:sp>
      <p:sp>
        <p:nvSpPr>
          <p:cNvPr id="5" name="Rectangle 4"/>
          <p:cNvSpPr/>
          <p:nvPr/>
        </p:nvSpPr>
        <p:spPr>
          <a:xfrm>
            <a:off x="658368" y="1783080"/>
            <a:ext cx="1280160" cy="54864"/>
          </a:xfrm>
          <a:prstGeom prst="rect">
            <a:avLst/>
          </a:prstGeom>
          <a:solidFill>
            <a:srgbClr val="18B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057400"/>
            <a:ext cx="10972800" cy="4389120"/>
          </a:xfrm>
          <a:prstGeom prst="rect">
            <a:avLst/>
          </a:prstGeom>
          <a:noFill/>
        </p:spPr>
        <p:txBody>
          <a:bodyPr wrap="square" anchor="t">
            <a:spAutoFit/>
          </a:bodyPr>
          <a:lstStyle/>
          <a:p>
            <a:pPr>
              <a:spcBef>
                <a:spcPts val="0"/>
              </a:spcBef>
              <a:spcAft>
                <a:spcPts val="1000"/>
              </a:spcAft>
            </a:pPr>
            <a:r>
              <a:rPr sz="2200" b="1" i="0">
                <a:solidFill>
                  <a:srgbClr val="222B33"/>
                </a:solidFill>
                <a:latin typeface="Calibri"/>
              </a:rPr>
              <a:t>•  Give context &amp; an example of 'good'</a:t>
            </a:r>
          </a:p>
          <a:p>
            <a:pPr>
              <a:spcBef>
                <a:spcPts val="0"/>
              </a:spcBef>
              <a:spcAft>
                <a:spcPts val="1000"/>
              </a:spcAft>
            </a:pPr>
            <a:r>
              <a:rPr sz="2200" b="1" i="0">
                <a:solidFill>
                  <a:srgbClr val="222B33"/>
                </a:solidFill>
                <a:latin typeface="Calibri"/>
              </a:rPr>
              <a:t>•  Ask for its reasoning / sources</a:t>
            </a:r>
          </a:p>
          <a:p>
            <a:pPr>
              <a:spcBef>
                <a:spcPts val="0"/>
              </a:spcBef>
              <a:spcAft>
                <a:spcPts val="1000"/>
              </a:spcAft>
            </a:pPr>
            <a:r>
              <a:rPr sz="2200" b="1" i="0">
                <a:solidFill>
                  <a:srgbClr val="222B33"/>
                </a:solidFill>
                <a:latin typeface="Calibri"/>
              </a:rPr>
              <a:t>•  Verify facts against a second source</a:t>
            </a:r>
          </a:p>
          <a:p>
            <a:pPr>
              <a:spcBef>
                <a:spcPts val="0"/>
              </a:spcBef>
              <a:spcAft>
                <a:spcPts val="1000"/>
              </a:spcAft>
            </a:pPr>
            <a:r>
              <a:rPr sz="2200" b="1" i="0">
                <a:solidFill>
                  <a:srgbClr val="222B33"/>
                </a:solidFill>
                <a:latin typeface="Calibri"/>
              </a:rPr>
              <a:t>•  Iterate — don't accept draft 1</a:t>
            </a:r>
          </a:p>
          <a:p>
            <a:pPr>
              <a:spcBef>
                <a:spcPts val="0"/>
              </a:spcBef>
              <a:spcAft>
                <a:spcPts val="1000"/>
              </a:spcAft>
            </a:pPr>
            <a:r>
              <a:rPr sz="2200" b="1" i="0">
                <a:solidFill>
                  <a:srgbClr val="222B33"/>
                </a:solidFill>
                <a:latin typeface="Calibri"/>
              </a:rPr>
              <a:t>•  Keep the final decision human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E6FB8"/>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18B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468880"/>
            <a:ext cx="10058400" cy="1828800"/>
          </a:xfrm>
          <a:prstGeom prst="rect">
            <a:avLst/>
          </a:prstGeom>
          <a:noFill/>
        </p:spPr>
        <p:txBody>
          <a:bodyPr wrap="square" anchor="t">
            <a:spAutoFit/>
          </a:bodyPr>
          <a:lstStyle/>
          <a:p>
            <a:r>
              <a:rPr sz="2200" b="1" i="0">
                <a:solidFill>
                  <a:srgbClr val="C9E8F0"/>
                </a:solidFill>
                <a:latin typeface="Calibri"/>
              </a:rPr>
              <a:t>Section 4</a:t>
            </a:r>
          </a:p>
          <a:p>
            <a:pPr>
              <a:spcBef>
                <a:spcPts val="800"/>
              </a:spcBef>
            </a:pPr>
            <a:r>
              <a:rPr sz="4400" b="1" i="0">
                <a:solidFill>
                  <a:srgbClr val="FFFFFF"/>
                </a:solidFill>
                <a:latin typeface="Calibri"/>
              </a:rPr>
              <a:t>Your Starter Kit &amp; Close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4F8FB"/>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8B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058400" cy="457200"/>
          </a:xfrm>
          <a:prstGeom prst="rect">
            <a:avLst/>
          </a:prstGeom>
          <a:noFill/>
        </p:spPr>
        <p:txBody>
          <a:bodyPr wrap="square" anchor="t">
            <a:spAutoFit/>
          </a:bodyPr>
          <a:lstStyle/>
          <a:p>
            <a:r>
              <a:rPr sz="1300" b="1" i="0">
                <a:solidFill>
                  <a:srgbClr val="18B6B0"/>
                </a:solidFill>
                <a:latin typeface="Calibri"/>
              </a:rPr>
              <a:t>CLOSE</a:t>
            </a:r>
          </a:p>
        </p:txBody>
      </p:sp>
      <p:sp>
        <p:nvSpPr>
          <p:cNvPr id="4" name="TextBox 3"/>
          <p:cNvSpPr txBox="1"/>
          <p:nvPr/>
        </p:nvSpPr>
        <p:spPr>
          <a:xfrm>
            <a:off x="640080" y="868680"/>
            <a:ext cx="10972800" cy="1097280"/>
          </a:xfrm>
          <a:prstGeom prst="rect">
            <a:avLst/>
          </a:prstGeom>
          <a:noFill/>
        </p:spPr>
        <p:txBody>
          <a:bodyPr wrap="square" anchor="t">
            <a:spAutoFit/>
          </a:bodyPr>
          <a:lstStyle/>
          <a:p>
            <a:r>
              <a:rPr sz="3400" b="1" i="0">
                <a:solidFill>
                  <a:srgbClr val="0F2A43"/>
                </a:solidFill>
                <a:latin typeface="Calibri"/>
              </a:rPr>
              <a:t>Your starter kit (all free)</a:t>
            </a:r>
          </a:p>
        </p:txBody>
      </p:sp>
      <p:sp>
        <p:nvSpPr>
          <p:cNvPr id="5" name="Rectangle 4"/>
          <p:cNvSpPr/>
          <p:nvPr/>
        </p:nvSpPr>
        <p:spPr>
          <a:xfrm>
            <a:off x="658368" y="1783080"/>
            <a:ext cx="1280160" cy="54864"/>
          </a:xfrm>
          <a:prstGeom prst="rect">
            <a:avLst/>
          </a:prstGeom>
          <a:solidFill>
            <a:srgbClr val="18B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057400"/>
            <a:ext cx="10972800" cy="4389120"/>
          </a:xfrm>
          <a:prstGeom prst="rect">
            <a:avLst/>
          </a:prstGeom>
          <a:noFill/>
        </p:spPr>
        <p:txBody>
          <a:bodyPr wrap="square" anchor="t">
            <a:spAutoFit/>
          </a:bodyPr>
          <a:lstStyle/>
          <a:p>
            <a:pPr>
              <a:spcBef>
                <a:spcPts val="0"/>
              </a:spcBef>
              <a:spcAft>
                <a:spcPts val="1000"/>
              </a:spcAft>
            </a:pPr>
            <a:r>
              <a:rPr sz="2200" b="1" i="0">
                <a:solidFill>
                  <a:srgbClr val="222B33"/>
                </a:solidFill>
                <a:latin typeface="Calibri"/>
              </a:rPr>
              <a:t>•  ChatGPT / Gemini — everyday assistant</a:t>
            </a:r>
          </a:p>
          <a:p>
            <a:pPr>
              <a:spcBef>
                <a:spcPts val="0"/>
              </a:spcBef>
              <a:spcAft>
                <a:spcPts val="1000"/>
              </a:spcAft>
            </a:pPr>
            <a:r>
              <a:rPr sz="2200" b="1" i="0">
                <a:solidFill>
                  <a:srgbClr val="222B33"/>
                </a:solidFill>
                <a:latin typeface="Calibri"/>
              </a:rPr>
              <a:t>•  NotebookLM — study &amp; documents</a:t>
            </a:r>
          </a:p>
          <a:p>
            <a:pPr>
              <a:spcBef>
                <a:spcPts val="0"/>
              </a:spcBef>
              <a:spcAft>
                <a:spcPts val="1000"/>
              </a:spcAft>
            </a:pPr>
            <a:r>
              <a:rPr sz="2200" b="1" i="0">
                <a:solidFill>
                  <a:srgbClr val="222B33"/>
                </a:solidFill>
                <a:latin typeface="Calibri"/>
              </a:rPr>
              <a:t>•  Canva — anything visual</a:t>
            </a:r>
          </a:p>
          <a:p>
            <a:pPr>
              <a:spcBef>
                <a:spcPts val="0"/>
              </a:spcBef>
              <a:spcAft>
                <a:spcPts val="1000"/>
              </a:spcAft>
            </a:pPr>
            <a:r>
              <a:rPr sz="2200" b="1" i="0">
                <a:solidFill>
                  <a:srgbClr val="222B33"/>
                </a:solidFill>
                <a:latin typeface="Calibri"/>
              </a:rPr>
              <a:t>•  Gamma — slides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4F8FB"/>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8B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058400" cy="457200"/>
          </a:xfrm>
          <a:prstGeom prst="rect">
            <a:avLst/>
          </a:prstGeom>
          <a:noFill/>
        </p:spPr>
        <p:txBody>
          <a:bodyPr wrap="square" anchor="t">
            <a:spAutoFit/>
          </a:bodyPr>
          <a:lstStyle/>
          <a:p>
            <a:r>
              <a:rPr sz="1300" b="1" i="0">
                <a:solidFill>
                  <a:srgbClr val="18B6B0"/>
                </a:solidFill>
                <a:latin typeface="Calibri"/>
              </a:rPr>
              <a:t>CLOSE</a:t>
            </a:r>
          </a:p>
        </p:txBody>
      </p:sp>
      <p:sp>
        <p:nvSpPr>
          <p:cNvPr id="4" name="TextBox 3"/>
          <p:cNvSpPr txBox="1"/>
          <p:nvPr/>
        </p:nvSpPr>
        <p:spPr>
          <a:xfrm>
            <a:off x="640080" y="868680"/>
            <a:ext cx="10972800" cy="1097280"/>
          </a:xfrm>
          <a:prstGeom prst="rect">
            <a:avLst/>
          </a:prstGeom>
          <a:noFill/>
        </p:spPr>
        <p:txBody>
          <a:bodyPr wrap="square" anchor="t">
            <a:spAutoFit/>
          </a:bodyPr>
          <a:lstStyle/>
          <a:p>
            <a:r>
              <a:rPr sz="3400" b="1" i="0">
                <a:solidFill>
                  <a:srgbClr val="0F2A43"/>
                </a:solidFill>
                <a:latin typeface="Calibri"/>
              </a:rPr>
              <a:t>One challenge before you go</a:t>
            </a:r>
          </a:p>
        </p:txBody>
      </p:sp>
      <p:sp>
        <p:nvSpPr>
          <p:cNvPr id="5" name="Rectangle 4"/>
          <p:cNvSpPr/>
          <p:nvPr/>
        </p:nvSpPr>
        <p:spPr>
          <a:xfrm>
            <a:off x="658368" y="1783080"/>
            <a:ext cx="1280160" cy="54864"/>
          </a:xfrm>
          <a:prstGeom prst="rect">
            <a:avLst/>
          </a:prstGeom>
          <a:solidFill>
            <a:srgbClr val="18B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057400"/>
            <a:ext cx="10972800" cy="4389120"/>
          </a:xfrm>
          <a:prstGeom prst="rect">
            <a:avLst/>
          </a:prstGeom>
          <a:noFill/>
        </p:spPr>
        <p:txBody>
          <a:bodyPr wrap="square" anchor="t">
            <a:spAutoFit/>
          </a:bodyPr>
          <a:lstStyle/>
          <a:p>
            <a:pPr>
              <a:spcBef>
                <a:spcPts val="0"/>
              </a:spcBef>
              <a:spcAft>
                <a:spcPts val="1000"/>
              </a:spcAft>
            </a:pPr>
            <a:r>
              <a:rPr sz="2200" b="1" i="0">
                <a:solidFill>
                  <a:srgbClr val="222B33"/>
                </a:solidFill>
                <a:latin typeface="Calibri"/>
              </a:rPr>
              <a:t>•  Tonight: automate one 15-min task</a:t>
            </a:r>
          </a:p>
          <a:p>
            <a:pPr>
              <a:spcBef>
                <a:spcPts val="0"/>
              </a:spcBef>
              <a:spcAft>
                <a:spcPts val="1000"/>
              </a:spcAft>
            </a:pPr>
            <a:r>
              <a:rPr sz="2200" b="1" i="0">
                <a:solidFill>
                  <a:srgbClr val="222B33"/>
                </a:solidFill>
                <a:latin typeface="Calibri"/>
              </a:rPr>
              <a:t>•  Notice what it nailed — and what you fixed</a:t>
            </a:r>
          </a:p>
          <a:p>
            <a:pPr>
              <a:spcBef>
                <a:spcPts val="0"/>
              </a:spcBef>
              <a:spcAft>
                <a:spcPts val="1000"/>
              </a:spcAft>
            </a:pPr>
            <a:r>
              <a:rPr sz="2200" b="1" i="0">
                <a:solidFill>
                  <a:srgbClr val="222B33"/>
                </a:solidFill>
                <a:latin typeface="Calibri"/>
              </a:rPr>
              <a:t>•  That gap is the skill</a:t>
            </a:r>
          </a:p>
          <a:p>
            <a:pPr>
              <a:spcBef>
                <a:spcPts val="0"/>
              </a:spcBef>
              <a:spcAft>
                <a:spcPts val="1000"/>
              </a:spcAft>
            </a:pPr>
            <a:r>
              <a:rPr sz="2200" b="1" i="0">
                <a:solidFill>
                  <a:srgbClr val="222B33"/>
                </a:solidFill>
                <a:latin typeface="Calibri"/>
              </a:rPr>
              <a:t>•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