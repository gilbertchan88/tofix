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and thanks for coming. Over the next 45 minutes I'm not going to sell you on AI, and I'm not going to scare you about it either. My goal is simple: show you what free AI tools can genuinely do for the ordinary things we all deal with — building slides, studying, wrangling email, planning a holiday. Everything I show you today is usable tonight, for free, with an account you almost certainly already have. To keep it real rather than theoretical, I've built in four live demos — so expect a few 'wait, it actually did that?' moments. Set expectations: I'll go fast, the handout has every prompt, and you don't need to follow along live — take it home and try at your own pace.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quick ground rules before we dive in. One: everything is free-tier — I'm assuming you don't want to spend a cent, so I've deliberately excluded paid tools. Two: I'll always give you the downside, not just the shiny demo. Marketing shows you the best case; I'll show you where each tool falls over so you're not disappointed later. Three: please interrupt me — questions make this far more useful. And hold on to that mental model at the bottom: a fast, confident intern. It gives you a great first draft in seconds, it never gets tired, but it will occasionally make things up with total confidence. Your job shifts from 'doing' to 'directing and checking'. Keep that frame and you'll get all the upside without the classic mistakes.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for the next 45 minutes. First, a very short history — two minutes — just so we understand why this suddenly feels everywhere. Then the main event: eight everyday jobs, and for each one I'll name the free tool I'd reach for, an alternative or two, and the trade-off. Four of those jobs come with a live demo, marked with the clapperboard. We finish on the part nobody enjoys but everyone needs — the limitations, the privacy issues, and five simple habits that separate people who get great results from people who get burned. If we run short on time, the safe things to cut are the video and holiday sections; the demos stay no matter what.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two-minute history so the rest of the session makes sense. I won't dwell — the point is just to show this isn't magic that appeared overnight; it's decades of work that recently crossed a usability threshold.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is much older than most people realise — the term was coined back in 1956. For decades it lived in universities as 'expert systems': human experts would hand-code thousands of if-this-then-that rules. That approach was brilliant in narrow cases but brittle and hugely expensive to maintain. The 2010s brought the machine-learning wave — instead of coding rules by hand, we let systems learn patterns from enormous amounts of data. That's what quietly powered your spam filter, photo face-tagging, and Netflix recommendations for years. Then late 2022 was the inflection point: generative AI — tools that actually create text, images and audio — became usable by anyone through plain conversation. No code, no manual. That's the moment AI stopped being something engineers used and became something all of us use. Analogy I like: this is the 'spreadsheet moment' — a capability that was specialist suddenly became everyday.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now, and not five years ago? Four things converged. First, scale: the models got dramatically larger and were trained on far more data, which made them surprisingly capable and general. Second, the interface became plain conversation — this is the underrated one. You no longer need to learn software; you just type or speak what you want. Third, they became multimodal: a modern assistant can read your PDF, look at a photo you snap, listen to audio, and talk back. Fourth, and most importantly for daily life, it's now embedded in tools you already use — Gmail, your phone keyboard, your browser. You don't 'go to' AI anymore; it comes to you. Put those together and you get the punchline at the bottom: the valuable skill has shifted from technical know-how to good questioning and good judgement — and that's something everyone in this room can build.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forget everything else today, keep this one image: AI is a fast, confident, incredibly well-read intern who never sleeps. Think about what that means practically. On the plus side, it turns a blank page into a solid first draft in seconds — that alone is transformational for anyone who's ever stared at a cursor. But an intern, however bright, can be confidently wrong, and doesn't know your specific context unless you tell them. So your role changes: you're no longer the person doing every keystroke; you're the editor and the decision-maker. You brief it well, you sanity-check the output, and you own the final result. Everything else in this talk is really just applications of this one idea. When a demo dazzles you, remember the middle card; when it stumbles, remember the first and third.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heart of the session. Eight jobs. A recurring theme you'll notice: you rarely need a niche app — two general assistants plus Canva and NotebookLM cover about 90% of everything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eight jobs we'll walk through, and I've grouped them the way you'd actually meet them in a week — making things, learning things, communicating, and living. Before we get into specifics, notice the big idea on the bottom strip: you do not need eight different apps. Two general assistants — ChatGPT or Google Gemini — plus Canva for anything visual and NotebookLM for documents and study will handle the vast majority of what follows. So if the number of tools feels overwhelming, relax — the shortlist is short. Let's start with something every single person in this room has suffered through: building a slide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job: making a presentation — exactly like this one. The standout tool here is Gamma. You give it a topic, or better, paste in your own rough notes, and about thirty seconds later you have a designed deck — layout, headlines, images, the lot. The free tier is genuinely usable, not a bait-and-switch. If you want maximum control and a completely free option with no expiry, Canva Magic Design is the pick — it's more template-driven, so slightly more hands-on, but excellent for matching a brand. And if you refuse to leave PowerPoint or Google Slides, Copilot and Gemini now build slides right inside those apps, though the best bits usually sit behind a paid plan. The catch that applies to all of them: AI decks can feel generic and will occasionally invent a statistic, so you restyle to your brand and check every number before presenting. Speaking of which — let's actually watch it happen.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see it live. I've got a page of genuinely rough notes — the kind you'd scribble in a lecture or meeting; it's the 'science of sleep' reading in the handout. Step one, I paste them into Gamma using 'Paste in text' so it uses my content rather than inventing its own. Step two, I set eight cards, pick a friendly tone, and paste the short instruction you can see on screen. Step three, I hit generate — and while it works, notice it isn't just dumping my text onto slides; it's choosing layouts, writing proper headlines, and pulling in images. Give it about thirty seconds. There it is. Now the crowd-pleaser: I'll switch the theme at the top, and the entire deck restyles instantly. The honest bit: I'd still fix any fact it got creative with and match our brand colours — but that's a few minutes of polish, not an afternoon of building from a blank page. If the Wi-Fi misbehaves, I've got a finished one ready.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job: studying — and this one genuinely lands with students. My top pick is NotebookLM from Google, free with any Google account. Here's what makes it different from a normal chatbot: it only answers from the documents you upload, and it cites the exact line it used, so it very rarely makes things up. You can feed it lecture notes, a textbook chapter, a stack of PDFs, even a YouTube lecture, and it will spin up summaries, quizzes, flashcards, a mind map, and a guided 'Learning Guide' tutor mode. The feature that makes jaws drop is the Audio Overview — it turns your material into a two-host podcast you can listen to on the bus. For open-ended 'explain this concept to me' work, a general assistant like ChatGPT or Gemini is better, but remember it isn't grounded in your notes and can invent things. The one rule with NotebookLM: it's only as good as your sources — feed it the real material, not a random blog. Let me show you the podcast trick.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wow moment for anyone who studies. I've already uploaded a reading — the 'how memory works' explainer from the handout. First, I'll point out the inline citations: every answer links back to the exact line in the source, which is why it doesn't drift into making things up. Then one click in the Studio panel gives me a study guide and a quiz drawn straight from the text — I'll read a question aloud. I'll drop the prompt on screen into the chat to generate a progressive self-test. And now the part that lands: I pre-generated an Audio Overview, because it takes a few minutes and you should never do that live. Listen to fifteen seconds. Two AI hosts, having a natural conversation about your material. Imagine revising for an exam by listening to a podcast made from your own lecture notes while you walk to class. Critical tip for anyone recreating this: generate the audio beforehand, and keep the file downloaded as a backup in case the room Wi-Fi is flaky.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job: the email-calendar-meeting treadmill that eats everyone's mornings. I want to be scrupulously honest here, because this is where free-versus-paid really matters. On a free personal Google account you already get a lot, shown on the left: Gmail can draft and polish replies with 'Help me write'; when an email mentions a date, Gmail offers a one-tap 'Add to Calendar' that fills in the details; you can generate a Google Meet link inside any calendar event; and the free Gemini app will summarise threads, draft messages, and prep an agenda. The genuinely automated, cross-calendar features on the right — finding a slot that works for five colleagues, auto-transcribing a meeting, answering questions live in the call — those are paid Workspace features. So the demo I'll run deliberately uses only the free column, with the Gemini app acting as the brain that stitches the steps together. Please don't paste confidential client names into a free consumer AI while drafting.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realistic flow that works on a free account. Step one: in the free Gemini app I paste Prompt A and it drafts a warm, professional meeting invitation in about five seconds. Step two: I drop that draft into a new Gmail message; because it names a day and a time, Gmail recognises it and surfaces 'Add to Calendar' — one tap and the event exists, pre-filled. Step three: I open that event in Calendar, click 'Add Google Meet video conferencing', which generates the link, and save — the invite with the link goes out. Then a bonus: I paste Prompt B back in Gemini and it produces an agenda with timings and three questions to open the room. Three tools, about a minute, and I never typed the date twice or opened a blank calendar. The caveat, again: on free it assists at each step rather than fully automating across people — but it removes most of the friction. Email demos are fragile, so if anything stalls I'll switch to my recorded backup and keep talking.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job, and this one is about integrity as much as productivity: using AI to understand an assignment rather than to have it done for you. The entire difference lives in the prompt. On the right is the trap — 'write my essay' — which teaches you nothing and, increasingly, gets flagged. On the left is the productive pattern: ask it to act as a tutor, explain what the question is genuinely asking, list the concepts you'll need, break the task into steps, and — crucially — quiz you to check your understanding rather than handing you the answer. You end up actually learning the material, which is the whole point of the assignment, and you keep a defensible, honest workflow. NotebookLM's Learning Guide and the study modes in ChatGPT and Gemini are built for exactly this. One important caveat: AI policies vary by school and employer, so check yours — but this 'tutor, not author' approach almost always sits on the right side of the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actual prompt to steal — it's in your handout too. Read how it's constructed, because the design is the lesson. It explicitly asks the AI to explain the question, surface the concepts, and then quiz you one question at a time — and it explicitly forbids the AI from writing the answer and tells it to wait for your reply. Those constraints flip the dynamic: instead of a vending machine that spits out an essay, you get a patient tutor that makes you do the thinking. The three cards below show why each part matters — reframing, surfacing, and testing map neatly onto how memory actually works, which, if you saw the earlier demo, is not a coincidence. Use this and you'll finish assignments understanding them, which is the only version of 'using AI for schoolwork' that's both effective and honest.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Fifth job: posters and EDMs — that's electronic direct mail, the marketing emails you get. For most people, Canva Magic Design is the fastest route: you describe the poster and it produces a fully editable layout, and you can resize the same design into an email header for the EDM version in a click. Microsoft Designer is completely free and surprisingly capable for quick social graphics. And when you specifically need a lot of readable text baked inside an AI-generated image — which is traditionally AI's weak spot — Ideogram is the specialist. Two catches apply across all of them, and they're on the amber bar: first, proofread every single letter, because image generators still misspell words; second, free tiers generally forbid commercial use and may stamp a watermark, so they're perfect for learning and internal use but not client work. Let's make one — and to be playful, let's make the poster for this very session.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nice meta moment to finish the tools: let's generate the promotional poster for this exact session. I open Canva, choose Design with AI, and paste the brief you can see — title, subtitle, the date, time and venue, the 'bring your laptop' line, and a style direction that matches our blue-and-teal theme. It generates several editable layouts; I pick one. Now the point that always lands: because it's fully editable, I can change the date or swap a colour live, in seconds — try doing that with a flat JPEG a designer emailed you. Then I download it and, to make the EDM version, I use Canva's Resize to turn the poster into an email header. If I wanted the headline text artistically baked into the image I'd show Ideogram instead, and I've got one pre-made so you can compare the trade-off: Canva is editable and on-brand; Ideogram is more artistic but the text is locked in. And remember — proofread every word.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Sixth job: video — and this is the fastest-moving area of the lot, so treat every specific as 'true today, check tomorrow.' If you want to turn a script or a set of slides into a narrated video, Canva and CapCut are the friendliest on-ramps and can export without a watermark. If you want genuinely jaw-dropping clips generated from a text prompt, Google Veo — reachable through the free Gemini app with a small daily allowance — is the most realistic, and it even generates matching sound. Runway, Kling and Luma give you more creative and motion control. But please internalise the reality check on the amber bar: free video is short, rate-limited, frequently watermarked, and explicitly not licensed for commercial use. It is spectacular for learning and personal fun, and not yet dependable for client or commercial work. I'm not running this live because generation can be slow and unpredictable on stage, but the prompt is in your handout so you can try it tonight.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Seventh — the fun one — planning a trip. A general assistant like ChatGPT or Gemini is genuinely brilliant at this: give it a vague idea — say, ten relaxed days in Japan, food-focused, mid-budget, two adults, first visit, and we hate early starts — and it turns that into a coherent day-by-day plan in seconds, which normally takes hours of stitching together blogs and forums. Dedicated free tools like Wonderplan and Google Travel add maps, budgets and real listings on top. The secret to a good result is detail in your prompt, as shown in the box — the more constraints you give, the better the plan. But here's the catch that really matters for travel: AI's prices, opening hours, and even 'this restaurant exists' claims can be out of date or completely invented. So use it to plan and to spark ideas, and always verify before you book anything. Plan with AI; pay only after you've checked.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Eighth: the small daily wins that, added together, hand you back real time every week. Snap a photo of your fridge and ask for three dinner ideas from what's actually in there. Paste in a baffling insurance letter or contract and ask, 'explain this like I'm busy — what do I actually need to do?' Drop in a forty-page PDF and get the five key points before a meeting. Ask it to soften the slightly awkward message to your landlord, point your phone camera at a foreign menu for a live translation, or write the birthday poem or wedding toast you've been dreading. None of these is dramatic on its own, but the cumulative time saving is significant. The one firm rule, on the amber bar: never paste truly sensitive information — passwords, ID numbers, medical or financial details — into a free consumer AI, because on free tiers your inputs may be used to improve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session is meant to be balanced, not a sales pitch, here are the four things to genuinely watch. First, hallucinations: AI will invent facts, quotes, and even fake citations with complete confidence — so verify anything that matters, especially names, numbers and references. Second, stale information: it may not know recent events, and prices and opening hours in particular go out of date. Third, bias: the model mirrors the patterns in its training data, which includes society's stereotypes, so be thoughtful when it's making judgements about people. Fourth, privacy: on free tiers your inputs may be used to train future models, so treat anything you type as potentially non-private. None of these are reasons to avoid AI — they're the reasons the 'stay the editor' mental model matters. Know the failure modes and you can use these tools confidently rather than naively.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the people who consistently get great results actually work? Five habits. One: give context and an example of what good looks like — the single biggest lever; vague prompts get vague answers. Two: ask it to show its reasoning or its sources, which both improves quality and lets you spot nonsense. Three: verify anything factual against a second source before you rely on it. Four: treat the first answer as a rough draft and push back — 'make it shorter', 'more formal', 'you missed this' — the second and third attempts are usually far better. Five: keep the final judgement human; the tool advises, you decide. Do these five things and you're already using AI more skilfully than the vast majority of people, and you'll sidestep almost every horror story you've heard.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do nothing else after today, install these four and you're covered for almost everything we've discussed. A general assistant — ChatGPT or Google Gemini — for everyday questions, drafting, brainstorming and travel. NotebookLM for studying and making sense of your own documents. Canva for anything visual — posters, EDMs, simple video. And Gamma for presentations. All free. But here's the thing about tools: knowing about them changes nothing. So my ask is on the green bar — pick just one job from today, the one most relevant to your week, and actually try it in the next few days. One real attempt will teach you more than this whole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leave you with a challenge rather than a summary. Tonight, pick one task that normally eats about fifteen minutes — a reply you're avoiding, a document to summarise, a plan to draft — and hand it to a free AI. Then pay attention to two things: what it nailed, and what you had to fix. That gap between the draft and what you'd actually send is precisely the skill worth building — knowing how to brief it and how to edit it. Do that once and these tools stop being abstract. Thank you all for your time and attention — I've really enjoyed this, and I'd love to take your questions, especially on any of the four demos or on anything you're now itching to try.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43"/>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326880" y="685800"/>
            <a:ext cx="237744" cy="237744"/>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893807" y="685800"/>
            <a:ext cx="237744" cy="237744"/>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460736" y="685800"/>
            <a:ext cx="237744" cy="237744"/>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326880" y="1252728"/>
            <a:ext cx="237744" cy="237744"/>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893807" y="1252728"/>
            <a:ext cx="237744" cy="237744"/>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60736" y="1252728"/>
            <a:ext cx="237744" cy="237744"/>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26880" y="1819656"/>
            <a:ext cx="237744" cy="237744"/>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893807" y="1819656"/>
            <a:ext cx="237744" cy="237744"/>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460736" y="1819656"/>
            <a:ext cx="237744" cy="237744"/>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48840"/>
            <a:ext cx="10515600" cy="1828800"/>
          </a:xfrm>
          <a:prstGeom prst="rect">
            <a:avLst/>
          </a:prstGeom>
          <a:noFill/>
        </p:spPr>
        <p:txBody>
          <a:bodyPr wrap="square" anchor="t" lIns="0" rIns="0" tIns="0" bIns="0">
            <a:spAutoFit/>
          </a:bodyPr>
          <a:lstStyle/>
          <a:p>
            <a:pPr>
              <a:spcBef>
                <a:spcPts val="0"/>
              </a:spcBef>
              <a:spcAft>
                <a:spcPts val="1000"/>
              </a:spcAft>
            </a:pPr>
            <a:r>
              <a:rPr sz="5200" b="1" i="0">
                <a:solidFill>
                  <a:srgbClr val="FFFFFF"/>
                </a:solidFill>
                <a:latin typeface="Calibri"/>
              </a:rPr>
              <a:t>Using AI in Our Lives</a:t>
            </a:r>
          </a:p>
          <a:p>
            <a:pPr>
              <a:spcBef>
                <a:spcPts val="0"/>
              </a:spcBef>
              <a:spcAft>
                <a:spcPts val="600"/>
              </a:spcAft>
            </a:pPr>
            <a:r>
              <a:rPr sz="2200" b="0" i="0">
                <a:solidFill>
                  <a:srgbClr val="14B8B0"/>
                </a:solidFill>
                <a:latin typeface="Calibri"/>
              </a:rPr>
              <a:t>A practical, no-hype tour — using only free tools</a:t>
            </a:r>
          </a:p>
        </p:txBody>
      </p:sp>
      <p:sp>
        <p:nvSpPr>
          <p:cNvPr id="14" name="Rounded Rectangle 13"/>
          <p:cNvSpPr/>
          <p:nvPr/>
        </p:nvSpPr>
        <p:spPr>
          <a:xfrm>
            <a:off x="841248" y="4160520"/>
            <a:ext cx="2286000" cy="45720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4 live demos</a:t>
            </a:r>
          </a:p>
        </p:txBody>
      </p:sp>
      <p:sp>
        <p:nvSpPr>
          <p:cNvPr id="15" name="Rounded Rectangle 14"/>
          <p:cNvSpPr/>
          <p:nvPr/>
        </p:nvSpPr>
        <p:spPr>
          <a:xfrm>
            <a:off x="3310128" y="4160520"/>
            <a:ext cx="2286000" cy="4572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Free tools only</a:t>
            </a:r>
          </a:p>
        </p:txBody>
      </p:sp>
      <p:sp>
        <p:nvSpPr>
          <p:cNvPr id="16" name="Rounded Rectangle 15"/>
          <p:cNvSpPr/>
          <p:nvPr/>
        </p:nvSpPr>
        <p:spPr>
          <a:xfrm>
            <a:off x="5779008" y="4160520"/>
            <a:ext cx="2286000" cy="457200"/>
          </a:xfrm>
          <a:prstGeom prst="round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45 minutes</a:t>
            </a:r>
          </a:p>
        </p:txBody>
      </p:sp>
      <p:sp>
        <p:nvSpPr>
          <p:cNvPr id="17" name="TextBox 16"/>
          <p:cNvSpPr txBox="1"/>
          <p:nvPr/>
        </p:nvSpPr>
        <p:spPr>
          <a:xfrm>
            <a:off x="841248" y="5897880"/>
            <a:ext cx="10515600" cy="457200"/>
          </a:xfrm>
          <a:prstGeom prst="rect">
            <a:avLst/>
          </a:prstGeom>
          <a:noFill/>
        </p:spPr>
        <p:txBody>
          <a:bodyPr wrap="square" anchor="t" lIns="0" rIns="0" tIns="0" bIns="0">
            <a:spAutoFit/>
          </a:bodyPr>
          <a:lstStyle/>
          <a:p>
            <a:pPr>
              <a:spcBef>
                <a:spcPts val="0"/>
              </a:spcBef>
              <a:spcAft>
                <a:spcPts val="600"/>
              </a:spcAft>
            </a:pPr>
            <a:r>
              <a:rPr sz="1500" b="0" i="0">
                <a:solidFill>
                  <a:srgbClr val="C3D3DF"/>
                </a:solidFill>
                <a:latin typeface="Calibri"/>
              </a:rPr>
              <a:t>[Your name]   ·   [Date]   ·   Sharing session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OPENING</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Ground rules for today</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Opening</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2</a:t>
            </a:r>
          </a:p>
        </p:txBody>
      </p:sp>
      <p:sp>
        <p:nvSpPr>
          <p:cNvPr id="9" name="Rounded Rectangle 8"/>
          <p:cNvSpPr/>
          <p:nvPr/>
        </p:nvSpPr>
        <p:spPr>
          <a:xfrm>
            <a:off x="685800" y="1965960"/>
            <a:ext cx="3429000" cy="2514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240280"/>
            <a:ext cx="685800" cy="68580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240280"/>
            <a:ext cx="685800" cy="685800"/>
          </a:xfrm>
          <a:prstGeom prst="rect">
            <a:avLst/>
          </a:prstGeom>
          <a:noFill/>
        </p:spPr>
        <p:txBody>
          <a:bodyPr wrap="square" anchor="ctr" lIns="0" rIns="0" tIns="0" bIns="0">
            <a:spAutoFit/>
          </a:bodyPr>
          <a:lstStyle/>
          <a:p>
            <a:pPr algn="ctr">
              <a:spcBef>
                <a:spcPts val="0"/>
              </a:spcBef>
              <a:spcAft>
                <a:spcPts val="600"/>
              </a:spcAft>
            </a:pPr>
            <a:r>
              <a:rPr sz="2200" b="1" i="0">
                <a:solidFill>
                  <a:srgbClr val="FFFFFF"/>
                </a:solidFill>
                <a:latin typeface="Calibri"/>
              </a:rPr>
              <a:t>💸</a:t>
            </a:r>
          </a:p>
        </p:txBody>
      </p:sp>
      <p:sp>
        <p:nvSpPr>
          <p:cNvPr id="12" name="TextBox 11"/>
          <p:cNvSpPr txBox="1"/>
          <p:nvPr/>
        </p:nvSpPr>
        <p:spPr>
          <a:xfrm>
            <a:off x="941832" y="3108960"/>
            <a:ext cx="2916936" cy="1280160"/>
          </a:xfrm>
          <a:prstGeom prst="rect">
            <a:avLst/>
          </a:prstGeom>
          <a:noFill/>
        </p:spPr>
        <p:txBody>
          <a:bodyPr wrap="square" anchor="t" lIns="0" rIns="0" tIns="0" bIns="0">
            <a:spAutoFit/>
          </a:bodyPr>
          <a:lstStyle/>
          <a:p>
            <a:pPr>
              <a:spcBef>
                <a:spcPts val="0"/>
              </a:spcBef>
              <a:spcAft>
                <a:spcPts val="500"/>
              </a:spcAft>
            </a:pPr>
            <a:r>
              <a:rPr sz="1550" b="1" i="0">
                <a:solidFill>
                  <a:srgbClr val="0F2A43"/>
                </a:solidFill>
                <a:latin typeface="Calibri"/>
              </a:rPr>
              <a:t>Free tools only</a:t>
            </a:r>
          </a:p>
          <a:p>
            <a:pPr>
              <a:spcBef>
                <a:spcPts val="0"/>
              </a:spcBef>
              <a:spcAft>
                <a:spcPts val="600"/>
              </a:spcAft>
            </a:pPr>
            <a:r>
              <a:rPr sz="1150" b="0" i="0">
                <a:solidFill>
                  <a:srgbClr val="5C6B79"/>
                </a:solidFill>
                <a:latin typeface="Calibri"/>
              </a:rPr>
              <a:t>Every tool today has a genuine free tier. No credit card, no trial traps.</a:t>
            </a:r>
          </a:p>
        </p:txBody>
      </p:sp>
      <p:sp>
        <p:nvSpPr>
          <p:cNvPr id="13" name="Rounded Rectangle 12"/>
          <p:cNvSpPr/>
          <p:nvPr/>
        </p:nvSpPr>
        <p:spPr>
          <a:xfrm>
            <a:off x="4379976" y="1965960"/>
            <a:ext cx="3429000" cy="2514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36008" y="2240280"/>
            <a:ext cx="685800" cy="685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8" y="2240280"/>
            <a:ext cx="685800" cy="685800"/>
          </a:xfrm>
          <a:prstGeom prst="rect">
            <a:avLst/>
          </a:prstGeom>
          <a:noFill/>
        </p:spPr>
        <p:txBody>
          <a:bodyPr wrap="square" anchor="ctr" lIns="0" rIns="0" tIns="0" bIns="0">
            <a:spAutoFit/>
          </a:bodyPr>
          <a:lstStyle/>
          <a:p>
            <a:pPr algn="ctr">
              <a:spcBef>
                <a:spcPts val="0"/>
              </a:spcBef>
              <a:spcAft>
                <a:spcPts val="600"/>
              </a:spcAft>
            </a:pPr>
            <a:r>
              <a:rPr sz="2200" b="1" i="0">
                <a:solidFill>
                  <a:srgbClr val="FFFFFF"/>
                </a:solidFill>
                <a:latin typeface="Calibri"/>
              </a:rPr>
              <a:t>⚖️</a:t>
            </a:r>
          </a:p>
        </p:txBody>
      </p:sp>
      <p:sp>
        <p:nvSpPr>
          <p:cNvPr id="16" name="TextBox 15"/>
          <p:cNvSpPr txBox="1"/>
          <p:nvPr/>
        </p:nvSpPr>
        <p:spPr>
          <a:xfrm>
            <a:off x="4636008" y="3108960"/>
            <a:ext cx="2916936" cy="1280160"/>
          </a:xfrm>
          <a:prstGeom prst="rect">
            <a:avLst/>
          </a:prstGeom>
          <a:noFill/>
        </p:spPr>
        <p:txBody>
          <a:bodyPr wrap="square" anchor="t" lIns="0" rIns="0" tIns="0" bIns="0">
            <a:spAutoFit/>
          </a:bodyPr>
          <a:lstStyle/>
          <a:p>
            <a:pPr>
              <a:spcBef>
                <a:spcPts val="0"/>
              </a:spcBef>
              <a:spcAft>
                <a:spcPts val="500"/>
              </a:spcAft>
            </a:pPr>
            <a:r>
              <a:rPr sz="1550" b="1" i="0">
                <a:solidFill>
                  <a:srgbClr val="0F2A43"/>
                </a:solidFill>
                <a:latin typeface="Calibri"/>
              </a:rPr>
              <a:t>Honest pros &amp; cons</a:t>
            </a:r>
          </a:p>
          <a:p>
            <a:pPr>
              <a:spcBef>
                <a:spcPts val="0"/>
              </a:spcBef>
              <a:spcAft>
                <a:spcPts val="600"/>
              </a:spcAft>
            </a:pPr>
            <a:r>
              <a:rPr sz="1150" b="0" i="0">
                <a:solidFill>
                  <a:srgbClr val="5C6B79"/>
                </a:solidFill>
                <a:latin typeface="Calibri"/>
              </a:rPr>
              <a:t>I'll always name the catch. Every tool is great at something and weak at something else.</a:t>
            </a:r>
          </a:p>
        </p:txBody>
      </p:sp>
      <p:sp>
        <p:nvSpPr>
          <p:cNvPr id="17" name="Rounded Rectangle 16"/>
          <p:cNvSpPr/>
          <p:nvPr/>
        </p:nvSpPr>
        <p:spPr>
          <a:xfrm>
            <a:off x="8074152" y="1965960"/>
            <a:ext cx="3429000" cy="2514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30184" y="2240280"/>
            <a:ext cx="685800" cy="68580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0184" y="2240280"/>
            <a:ext cx="685800" cy="685800"/>
          </a:xfrm>
          <a:prstGeom prst="rect">
            <a:avLst/>
          </a:prstGeom>
          <a:noFill/>
        </p:spPr>
        <p:txBody>
          <a:bodyPr wrap="square" anchor="ctr" lIns="0" rIns="0" tIns="0" bIns="0">
            <a:spAutoFit/>
          </a:bodyPr>
          <a:lstStyle/>
          <a:p>
            <a:pPr algn="ctr">
              <a:spcBef>
                <a:spcPts val="0"/>
              </a:spcBef>
              <a:spcAft>
                <a:spcPts val="600"/>
              </a:spcAft>
            </a:pPr>
            <a:r>
              <a:rPr sz="2200" b="1" i="0">
                <a:solidFill>
                  <a:srgbClr val="FFFFFF"/>
                </a:solidFill>
                <a:latin typeface="Calibri"/>
              </a:rPr>
              <a:t>💬</a:t>
            </a:r>
          </a:p>
        </p:txBody>
      </p:sp>
      <p:sp>
        <p:nvSpPr>
          <p:cNvPr id="20" name="TextBox 19"/>
          <p:cNvSpPr txBox="1"/>
          <p:nvPr/>
        </p:nvSpPr>
        <p:spPr>
          <a:xfrm>
            <a:off x="8330184" y="3108960"/>
            <a:ext cx="2916936" cy="1280160"/>
          </a:xfrm>
          <a:prstGeom prst="rect">
            <a:avLst/>
          </a:prstGeom>
          <a:noFill/>
        </p:spPr>
        <p:txBody>
          <a:bodyPr wrap="square" anchor="t" lIns="0" rIns="0" tIns="0" bIns="0">
            <a:spAutoFit/>
          </a:bodyPr>
          <a:lstStyle/>
          <a:p>
            <a:pPr>
              <a:spcBef>
                <a:spcPts val="0"/>
              </a:spcBef>
              <a:spcAft>
                <a:spcPts val="500"/>
              </a:spcAft>
            </a:pPr>
            <a:r>
              <a:rPr sz="1550" b="1" i="0">
                <a:solidFill>
                  <a:srgbClr val="0F2A43"/>
                </a:solidFill>
                <a:latin typeface="Calibri"/>
              </a:rPr>
              <a:t>Ask anytime</a:t>
            </a:r>
          </a:p>
          <a:p>
            <a:pPr>
              <a:spcBef>
                <a:spcPts val="0"/>
              </a:spcBef>
              <a:spcAft>
                <a:spcPts val="600"/>
              </a:spcAft>
            </a:pPr>
            <a:r>
              <a:rPr sz="1150" b="0" i="0">
                <a:solidFill>
                  <a:srgbClr val="5C6B79"/>
                </a:solidFill>
                <a:latin typeface="Calibri"/>
              </a:rPr>
              <a:t>Interrupt me. This works best as a conversation, not a lecture.</a:t>
            </a:r>
          </a:p>
        </p:txBody>
      </p:sp>
      <p:sp>
        <p:nvSpPr>
          <p:cNvPr id="21" name="Rounded Rectangle 20"/>
          <p:cNvSpPr/>
          <p:nvPr/>
        </p:nvSpPr>
        <p:spPr>
          <a:xfrm>
            <a:off x="685800" y="4800600"/>
            <a:ext cx="10817352" cy="822960"/>
          </a:xfrm>
          <a:prstGeom prst="roundRect">
            <a:avLst/>
          </a:prstGeom>
          <a:solidFill>
            <a:srgbClr val="DF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5800" y="4800600"/>
            <a:ext cx="109728" cy="8229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4818888"/>
            <a:ext cx="10405872" cy="822960"/>
          </a:xfrm>
          <a:prstGeom prst="rect">
            <a:avLst/>
          </a:prstGeom>
          <a:noFill/>
        </p:spPr>
        <p:txBody>
          <a:bodyPr wrap="square" anchor="ctr" lIns="0" rIns="0" tIns="0" bIns="0">
            <a:spAutoFit/>
          </a:bodyPr>
          <a:lstStyle/>
          <a:p>
            <a:pPr>
              <a:spcBef>
                <a:spcPts val="0"/>
              </a:spcBef>
              <a:spcAft>
                <a:spcPts val="600"/>
              </a:spcAft>
            </a:pPr>
            <a:r>
              <a:rPr sz="1300" b="1" i="0">
                <a:solidFill>
                  <a:srgbClr val="1E6FB8"/>
                </a:solidFill>
                <a:latin typeface="Calibri"/>
              </a:rPr>
              <a:t>🧭  </a:t>
            </a:r>
            <a:r>
              <a:rPr sz="1150" b="0" i="0">
                <a:solidFill>
                  <a:srgbClr val="242D35"/>
                </a:solidFill>
                <a:latin typeface="Calibri"/>
              </a:rPr>
              <a:t>One mental model for the whole session: treat AI like a fast, confident intern — brilliant first drafts, but you stay the editor.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OPENING</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What we'll cover</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Opening</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3</a:t>
            </a:r>
          </a:p>
        </p:txBody>
      </p:sp>
      <p:sp>
        <p:nvSpPr>
          <p:cNvPr id="9" name="Rounded Rectangle 8"/>
          <p:cNvSpPr/>
          <p:nvPr/>
        </p:nvSpPr>
        <p:spPr>
          <a:xfrm>
            <a:off x="685800" y="2011680"/>
            <a:ext cx="10817352" cy="93268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14400" y="2231136"/>
            <a:ext cx="502920" cy="50292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231136"/>
            <a:ext cx="502920" cy="50292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1</a:t>
            </a:r>
          </a:p>
        </p:txBody>
      </p:sp>
      <p:sp>
        <p:nvSpPr>
          <p:cNvPr id="12" name="TextBox 11"/>
          <p:cNvSpPr txBox="1"/>
          <p:nvPr/>
        </p:nvSpPr>
        <p:spPr>
          <a:xfrm>
            <a:off x="1691640" y="2121408"/>
            <a:ext cx="7589520" cy="777240"/>
          </a:xfrm>
          <a:prstGeom prst="rect">
            <a:avLst/>
          </a:prstGeom>
          <a:noFill/>
        </p:spPr>
        <p:txBody>
          <a:bodyPr wrap="square" anchor="ctr" lIns="0" rIns="0" tIns="0" bIns="0">
            <a:spAutoFit/>
          </a:bodyPr>
          <a:lstStyle/>
          <a:p>
            <a:pPr>
              <a:spcBef>
                <a:spcPts val="0"/>
              </a:spcBef>
              <a:spcAft>
                <a:spcPts val="200"/>
              </a:spcAft>
            </a:pPr>
            <a:r>
              <a:rPr sz="1500" b="1" i="0">
                <a:solidFill>
                  <a:srgbClr val="0F2A43"/>
                </a:solidFill>
                <a:latin typeface="Calibri"/>
              </a:rPr>
              <a:t>The story of AI</a:t>
            </a:r>
          </a:p>
          <a:p>
            <a:pPr>
              <a:spcBef>
                <a:spcPts val="0"/>
              </a:spcBef>
              <a:spcAft>
                <a:spcPts val="600"/>
              </a:spcAft>
            </a:pPr>
            <a:r>
              <a:rPr sz="1100" b="0" i="0">
                <a:solidFill>
                  <a:srgbClr val="5C6B79"/>
                </a:solidFill>
                <a:latin typeface="Calibri"/>
              </a:rPr>
              <a:t>How we got from 1950s theory to AI on your phone</a:t>
            </a:r>
          </a:p>
        </p:txBody>
      </p:sp>
      <p:sp>
        <p:nvSpPr>
          <p:cNvPr id="13" name="TextBox 12"/>
          <p:cNvSpPr txBox="1"/>
          <p:nvPr/>
        </p:nvSpPr>
        <p:spPr>
          <a:xfrm>
            <a:off x="9326880" y="2011680"/>
            <a:ext cx="2011680" cy="932688"/>
          </a:xfrm>
          <a:prstGeom prst="rect">
            <a:avLst/>
          </a:prstGeom>
          <a:noFill/>
        </p:spPr>
        <p:txBody>
          <a:bodyPr wrap="square" anchor="ctr" lIns="0" rIns="0" tIns="0" bIns="0">
            <a:spAutoFit/>
          </a:bodyPr>
          <a:lstStyle/>
          <a:p>
            <a:pPr algn="r">
              <a:spcBef>
                <a:spcPts val="0"/>
              </a:spcBef>
              <a:spcAft>
                <a:spcPts val="600"/>
              </a:spcAft>
            </a:pPr>
            <a:r>
              <a:rPr sz="1200" b="1" i="0">
                <a:solidFill>
                  <a:srgbClr val="14B8B0"/>
                </a:solidFill>
                <a:latin typeface="Calibri"/>
              </a:rPr>
              <a:t>~2 min</a:t>
            </a:r>
          </a:p>
        </p:txBody>
      </p:sp>
      <p:sp>
        <p:nvSpPr>
          <p:cNvPr id="14" name="Rounded Rectangle 13"/>
          <p:cNvSpPr/>
          <p:nvPr/>
        </p:nvSpPr>
        <p:spPr>
          <a:xfrm>
            <a:off x="685800" y="3072384"/>
            <a:ext cx="10817352" cy="93268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291840"/>
            <a:ext cx="502920" cy="50292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91840"/>
            <a:ext cx="502920" cy="50292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2</a:t>
            </a:r>
          </a:p>
        </p:txBody>
      </p:sp>
      <p:sp>
        <p:nvSpPr>
          <p:cNvPr id="17" name="TextBox 16"/>
          <p:cNvSpPr txBox="1"/>
          <p:nvPr/>
        </p:nvSpPr>
        <p:spPr>
          <a:xfrm>
            <a:off x="1691640" y="3182112"/>
            <a:ext cx="7589520" cy="777240"/>
          </a:xfrm>
          <a:prstGeom prst="rect">
            <a:avLst/>
          </a:prstGeom>
          <a:noFill/>
        </p:spPr>
        <p:txBody>
          <a:bodyPr wrap="square" anchor="ctr" lIns="0" rIns="0" tIns="0" bIns="0">
            <a:spAutoFit/>
          </a:bodyPr>
          <a:lstStyle/>
          <a:p>
            <a:pPr>
              <a:spcBef>
                <a:spcPts val="0"/>
              </a:spcBef>
              <a:spcAft>
                <a:spcPts val="200"/>
              </a:spcAft>
            </a:pPr>
            <a:r>
              <a:rPr sz="1500" b="1" i="0">
                <a:solidFill>
                  <a:srgbClr val="0F2A43"/>
                </a:solidFill>
                <a:latin typeface="Calibri"/>
              </a:rPr>
              <a:t>8 everyday jobs</a:t>
            </a:r>
          </a:p>
          <a:p>
            <a:pPr>
              <a:spcBef>
                <a:spcPts val="0"/>
              </a:spcBef>
              <a:spcAft>
                <a:spcPts val="600"/>
              </a:spcAft>
            </a:pPr>
            <a:r>
              <a:rPr sz="1100" b="0" i="0">
                <a:solidFill>
                  <a:srgbClr val="5C6B79"/>
                </a:solidFill>
                <a:latin typeface="Calibri"/>
              </a:rPr>
              <a:t>The best free tool for each — with the honest catch</a:t>
            </a:r>
          </a:p>
        </p:txBody>
      </p:sp>
      <p:sp>
        <p:nvSpPr>
          <p:cNvPr id="18" name="TextBox 17"/>
          <p:cNvSpPr txBox="1"/>
          <p:nvPr/>
        </p:nvSpPr>
        <p:spPr>
          <a:xfrm>
            <a:off x="9326880" y="3072384"/>
            <a:ext cx="2011680" cy="932688"/>
          </a:xfrm>
          <a:prstGeom prst="rect">
            <a:avLst/>
          </a:prstGeom>
          <a:noFill/>
        </p:spPr>
        <p:txBody>
          <a:bodyPr wrap="square" anchor="ctr" lIns="0" rIns="0" tIns="0" bIns="0">
            <a:spAutoFit/>
          </a:bodyPr>
          <a:lstStyle/>
          <a:p>
            <a:pPr algn="r">
              <a:spcBef>
                <a:spcPts val="0"/>
              </a:spcBef>
              <a:spcAft>
                <a:spcPts val="600"/>
              </a:spcAft>
            </a:pPr>
            <a:r>
              <a:rPr sz="1200" b="1" i="0">
                <a:solidFill>
                  <a:srgbClr val="14B8B0"/>
                </a:solidFill>
                <a:latin typeface="Calibri"/>
              </a:rPr>
              <a:t>~28 min</a:t>
            </a:r>
          </a:p>
        </p:txBody>
      </p:sp>
      <p:sp>
        <p:nvSpPr>
          <p:cNvPr id="19" name="Rounded Rectangle 18"/>
          <p:cNvSpPr/>
          <p:nvPr/>
        </p:nvSpPr>
        <p:spPr>
          <a:xfrm>
            <a:off x="685800" y="4133088"/>
            <a:ext cx="10817352" cy="93268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4400" y="4352544"/>
            <a:ext cx="502920" cy="50292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52544"/>
            <a:ext cx="502920" cy="50292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a:t>
            </a:r>
          </a:p>
        </p:txBody>
      </p:sp>
      <p:sp>
        <p:nvSpPr>
          <p:cNvPr id="22" name="TextBox 21"/>
          <p:cNvSpPr txBox="1"/>
          <p:nvPr/>
        </p:nvSpPr>
        <p:spPr>
          <a:xfrm>
            <a:off x="1691640" y="4242816"/>
            <a:ext cx="7589520" cy="777240"/>
          </a:xfrm>
          <a:prstGeom prst="rect">
            <a:avLst/>
          </a:prstGeom>
          <a:noFill/>
        </p:spPr>
        <p:txBody>
          <a:bodyPr wrap="square" anchor="ctr" lIns="0" rIns="0" tIns="0" bIns="0">
            <a:spAutoFit/>
          </a:bodyPr>
          <a:lstStyle/>
          <a:p>
            <a:pPr>
              <a:spcBef>
                <a:spcPts val="0"/>
              </a:spcBef>
              <a:spcAft>
                <a:spcPts val="200"/>
              </a:spcAft>
            </a:pPr>
            <a:r>
              <a:rPr sz="1500" b="1" i="0">
                <a:solidFill>
                  <a:srgbClr val="0F2A43"/>
                </a:solidFill>
                <a:latin typeface="Calibri"/>
              </a:rPr>
              <a:t>4 live demos</a:t>
            </a:r>
          </a:p>
          <a:p>
            <a:pPr>
              <a:spcBef>
                <a:spcPts val="0"/>
              </a:spcBef>
              <a:spcAft>
                <a:spcPts val="600"/>
              </a:spcAft>
            </a:pPr>
            <a:r>
              <a:rPr sz="1100" b="0" i="0">
                <a:solidFill>
                  <a:srgbClr val="5C6B79"/>
                </a:solidFill>
                <a:latin typeface="Calibri"/>
              </a:rPr>
              <a:t>Slides · Study · Email · Poster</a:t>
            </a:r>
          </a:p>
        </p:txBody>
      </p:sp>
      <p:sp>
        <p:nvSpPr>
          <p:cNvPr id="23" name="TextBox 22"/>
          <p:cNvSpPr txBox="1"/>
          <p:nvPr/>
        </p:nvSpPr>
        <p:spPr>
          <a:xfrm>
            <a:off x="9326880" y="4133088"/>
            <a:ext cx="2011680" cy="932688"/>
          </a:xfrm>
          <a:prstGeom prst="rect">
            <a:avLst/>
          </a:prstGeom>
          <a:noFill/>
        </p:spPr>
        <p:txBody>
          <a:bodyPr wrap="square" anchor="ctr" lIns="0" rIns="0" tIns="0" bIns="0">
            <a:spAutoFit/>
          </a:bodyPr>
          <a:lstStyle/>
          <a:p>
            <a:pPr algn="r">
              <a:spcBef>
                <a:spcPts val="0"/>
              </a:spcBef>
              <a:spcAft>
                <a:spcPts val="600"/>
              </a:spcAft>
            </a:pPr>
            <a:r>
              <a:rPr sz="1200" b="1" i="0">
                <a:solidFill>
                  <a:srgbClr val="14B8B0"/>
                </a:solidFill>
                <a:latin typeface="Calibri"/>
              </a:rPr>
              <a:t>woven in</a:t>
            </a:r>
          </a:p>
        </p:txBody>
      </p:sp>
      <p:sp>
        <p:nvSpPr>
          <p:cNvPr id="24" name="Rounded Rectangle 23"/>
          <p:cNvSpPr/>
          <p:nvPr/>
        </p:nvSpPr>
        <p:spPr>
          <a:xfrm>
            <a:off x="685800" y="5193792"/>
            <a:ext cx="10817352" cy="93268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14400" y="5413248"/>
            <a:ext cx="502920" cy="50292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413248"/>
            <a:ext cx="502920" cy="50292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3</a:t>
            </a:r>
          </a:p>
        </p:txBody>
      </p:sp>
      <p:sp>
        <p:nvSpPr>
          <p:cNvPr id="27" name="TextBox 26"/>
          <p:cNvSpPr txBox="1"/>
          <p:nvPr/>
        </p:nvSpPr>
        <p:spPr>
          <a:xfrm>
            <a:off x="1691640" y="5303520"/>
            <a:ext cx="7589520" cy="777240"/>
          </a:xfrm>
          <a:prstGeom prst="rect">
            <a:avLst/>
          </a:prstGeom>
          <a:noFill/>
        </p:spPr>
        <p:txBody>
          <a:bodyPr wrap="square" anchor="ctr" lIns="0" rIns="0" tIns="0" bIns="0">
            <a:spAutoFit/>
          </a:bodyPr>
          <a:lstStyle/>
          <a:p>
            <a:pPr>
              <a:spcBef>
                <a:spcPts val="0"/>
              </a:spcBef>
              <a:spcAft>
                <a:spcPts val="200"/>
              </a:spcAft>
            </a:pPr>
            <a:r>
              <a:rPr sz="1500" b="1" i="0">
                <a:solidFill>
                  <a:srgbClr val="0F2A43"/>
                </a:solidFill>
                <a:latin typeface="Calibri"/>
              </a:rPr>
              <a:t>Doing it responsibly</a:t>
            </a:r>
          </a:p>
          <a:p>
            <a:pPr>
              <a:spcBef>
                <a:spcPts val="0"/>
              </a:spcBef>
              <a:spcAft>
                <a:spcPts val="600"/>
              </a:spcAft>
            </a:pPr>
            <a:r>
              <a:rPr sz="1100" b="0" i="0">
                <a:solidFill>
                  <a:srgbClr val="5C6B79"/>
                </a:solidFill>
                <a:latin typeface="Calibri"/>
              </a:rPr>
              <a:t>Limitations, privacy, and 5 habits of good users</a:t>
            </a:r>
          </a:p>
        </p:txBody>
      </p:sp>
      <p:sp>
        <p:nvSpPr>
          <p:cNvPr id="28" name="TextBox 27"/>
          <p:cNvSpPr txBox="1"/>
          <p:nvPr/>
        </p:nvSpPr>
        <p:spPr>
          <a:xfrm>
            <a:off x="9326880" y="5193792"/>
            <a:ext cx="2011680" cy="932688"/>
          </a:xfrm>
          <a:prstGeom prst="rect">
            <a:avLst/>
          </a:prstGeom>
          <a:noFill/>
        </p:spPr>
        <p:txBody>
          <a:bodyPr wrap="square" anchor="ctr" lIns="0" rIns="0" tIns="0" bIns="0">
            <a:spAutoFit/>
          </a:bodyPr>
          <a:lstStyle/>
          <a:p>
            <a:pPr algn="r">
              <a:spcBef>
                <a:spcPts val="0"/>
              </a:spcBef>
              <a:spcAft>
                <a:spcPts val="600"/>
              </a:spcAft>
            </a:pPr>
            <a:r>
              <a:rPr sz="1200" b="1" i="0">
                <a:solidFill>
                  <a:srgbClr val="14B8B0"/>
                </a:solidFill>
                <a:latin typeface="Calibri"/>
              </a:rPr>
              <a:t>~3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6FB8"/>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6400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10972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7040" y="15544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607040" y="20116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9601200" cy="2286000"/>
          </a:xfrm>
          <a:prstGeom prst="rect">
            <a:avLst/>
          </a:prstGeom>
          <a:noFill/>
        </p:spPr>
        <p:txBody>
          <a:bodyPr wrap="square" anchor="t" lIns="0" rIns="0" tIns="0" bIns="0">
            <a:spAutoFit/>
          </a:bodyPr>
          <a:lstStyle/>
          <a:p>
            <a:pPr>
              <a:spcBef>
                <a:spcPts val="0"/>
              </a:spcBef>
              <a:spcAft>
                <a:spcPts val="600"/>
              </a:spcAft>
            </a:pPr>
            <a:r>
              <a:rPr sz="2000" b="1" i="0">
                <a:solidFill>
                  <a:srgbClr val="C9E8F0"/>
                </a:solidFill>
                <a:latin typeface="Calibri"/>
              </a:rPr>
              <a:t>Section 1</a:t>
            </a:r>
          </a:p>
          <a:p>
            <a:pPr>
              <a:spcBef>
                <a:spcPts val="0"/>
              </a:spcBef>
              <a:spcAft>
                <a:spcPts val="1400"/>
              </a:spcAft>
            </a:pPr>
            <a:r>
              <a:rPr sz="4200" b="1" i="0">
                <a:solidFill>
                  <a:srgbClr val="FFFFFF"/>
                </a:solidFill>
                <a:latin typeface="Calibri"/>
              </a:rPr>
              <a:t>The Evolution of AI</a:t>
            </a:r>
          </a:p>
          <a:p>
            <a:pPr>
              <a:spcBef>
                <a:spcPts val="0"/>
              </a:spcBef>
              <a:spcAft>
                <a:spcPts val="400"/>
              </a:spcAft>
            </a:pPr>
            <a:r>
              <a:rPr sz="1600" b="1" i="0">
                <a:solidFill>
                  <a:srgbClr val="14B8B0"/>
                </a:solidFill>
                <a:latin typeface="Calibri"/>
              </a:rPr>
              <a:t>›  </a:t>
            </a:r>
            <a:r>
              <a:rPr sz="1500" b="0" i="0">
                <a:solidFill>
                  <a:srgbClr val="DDEAF3"/>
                </a:solidFill>
                <a:latin typeface="Calibri"/>
              </a:rPr>
              <a:t>From 1950s theory to generative AI for everyone</a:t>
            </a:r>
          </a:p>
          <a:p>
            <a:pPr>
              <a:spcBef>
                <a:spcPts val="0"/>
              </a:spcBef>
              <a:spcAft>
                <a:spcPts val="400"/>
              </a:spcAft>
            </a:pPr>
            <a:r>
              <a:rPr sz="1600" b="1" i="0">
                <a:solidFill>
                  <a:srgbClr val="14B8B0"/>
                </a:solidFill>
                <a:latin typeface="Calibri"/>
              </a:rPr>
              <a:t>›  </a:t>
            </a:r>
            <a:r>
              <a:rPr sz="1500" b="0" i="0">
                <a:solidFill>
                  <a:srgbClr val="DDEAF3"/>
                </a:solidFill>
                <a:latin typeface="Calibri"/>
              </a:rPr>
              <a:t>Why it suddenly feels like it's everywhere</a:t>
            </a:r>
          </a:p>
          <a:p>
            <a:pPr>
              <a:spcBef>
                <a:spcPts val="0"/>
              </a:spcBef>
              <a:spcAft>
                <a:spcPts val="400"/>
              </a:spcAft>
            </a:pPr>
            <a:r>
              <a:rPr sz="1600" b="1" i="0">
                <a:solidFill>
                  <a:srgbClr val="14B8B0"/>
                </a:solidFill>
                <a:latin typeface="Calibri"/>
              </a:rPr>
              <a:t>›  </a:t>
            </a:r>
            <a:r>
              <a:rPr sz="1500" b="0" i="0">
                <a:solidFill>
                  <a:srgbClr val="DDEAF3"/>
                </a:solidFill>
                <a:latin typeface="Calibri"/>
              </a:rPr>
              <a:t>The one mental model to carry through the talk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EVOLUTION OF AI</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AI didn't start with ChatGPT</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Evolution of AI</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5</a:t>
            </a:r>
          </a:p>
        </p:txBody>
      </p:sp>
      <p:sp>
        <p:nvSpPr>
          <p:cNvPr id="9" name="Rectangle 8"/>
          <p:cNvSpPr/>
          <p:nvPr/>
        </p:nvSpPr>
        <p:spPr>
          <a:xfrm>
            <a:off x="914400" y="3063240"/>
            <a:ext cx="10332720" cy="50800"/>
          </a:xfrm>
          <a:prstGeom prst="rect">
            <a:avLst/>
          </a:prstGeom>
          <a:solidFill>
            <a:srgbClr val="C3D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34440" y="2926080"/>
            <a:ext cx="310896" cy="310896"/>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2999232"/>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2404872" cy="640080"/>
          </a:xfrm>
          <a:prstGeom prst="rect">
            <a:avLst/>
          </a:prstGeom>
          <a:noFill/>
        </p:spPr>
        <p:txBody>
          <a:bodyPr wrap="square" anchor="t" lIns="0" rIns="0" tIns="0" bIns="0">
            <a:spAutoFit/>
          </a:bodyPr>
          <a:lstStyle/>
          <a:p>
            <a:pPr algn="l">
              <a:spcBef>
                <a:spcPts val="0"/>
              </a:spcBef>
              <a:spcAft>
                <a:spcPts val="600"/>
              </a:spcAft>
            </a:pPr>
            <a:r>
              <a:rPr sz="1500" b="1" i="0">
                <a:solidFill>
                  <a:srgbClr val="153A5C"/>
                </a:solidFill>
                <a:latin typeface="Calibri"/>
              </a:rPr>
              <a:t>1950s</a:t>
            </a:r>
          </a:p>
        </p:txBody>
      </p:sp>
      <p:sp>
        <p:nvSpPr>
          <p:cNvPr id="13" name="TextBox 12"/>
          <p:cNvSpPr txBox="1"/>
          <p:nvPr/>
        </p:nvSpPr>
        <p:spPr>
          <a:xfrm>
            <a:off x="914400" y="3429000"/>
            <a:ext cx="2404872" cy="1737360"/>
          </a:xfrm>
          <a:prstGeom prst="rect">
            <a:avLst/>
          </a:prstGeom>
          <a:noFill/>
        </p:spPr>
        <p:txBody>
          <a:bodyPr wrap="square" anchor="t" lIns="0" rIns="0" tIns="0" bIns="0">
            <a:spAutoFit/>
          </a:bodyPr>
          <a:lstStyle/>
          <a:p>
            <a:pPr>
              <a:spcBef>
                <a:spcPts val="0"/>
              </a:spcBef>
              <a:spcAft>
                <a:spcPts val="300"/>
              </a:spcAft>
            </a:pPr>
            <a:r>
              <a:rPr sz="1350" b="1" i="0">
                <a:solidFill>
                  <a:srgbClr val="0F2A43"/>
                </a:solidFill>
                <a:latin typeface="Calibri"/>
              </a:rPr>
              <a:t>The idea</a:t>
            </a:r>
          </a:p>
          <a:p>
            <a:pPr>
              <a:spcBef>
                <a:spcPts val="0"/>
              </a:spcBef>
              <a:spcAft>
                <a:spcPts val="600"/>
              </a:spcAft>
            </a:pPr>
            <a:r>
              <a:rPr sz="1050" b="0" i="0">
                <a:solidFill>
                  <a:srgbClr val="5C6B79"/>
                </a:solidFill>
                <a:latin typeface="Calibri"/>
              </a:rPr>
              <a:t>Term coined in 1956; more theory than practice</a:t>
            </a:r>
          </a:p>
        </p:txBody>
      </p:sp>
      <p:sp>
        <p:nvSpPr>
          <p:cNvPr id="14" name="Oval 13"/>
          <p:cNvSpPr/>
          <p:nvPr/>
        </p:nvSpPr>
        <p:spPr>
          <a:xfrm>
            <a:off x="3822192" y="2926080"/>
            <a:ext cx="310896" cy="310896"/>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895344" y="2999232"/>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148840"/>
            <a:ext cx="2404872" cy="640080"/>
          </a:xfrm>
          <a:prstGeom prst="rect">
            <a:avLst/>
          </a:prstGeom>
          <a:noFill/>
        </p:spPr>
        <p:txBody>
          <a:bodyPr wrap="square" anchor="t" lIns="0" rIns="0" tIns="0" bIns="0">
            <a:spAutoFit/>
          </a:bodyPr>
          <a:lstStyle/>
          <a:p>
            <a:pPr algn="l">
              <a:spcBef>
                <a:spcPts val="0"/>
              </a:spcBef>
              <a:spcAft>
                <a:spcPts val="600"/>
              </a:spcAft>
            </a:pPr>
            <a:r>
              <a:rPr sz="1500" b="1" i="0">
                <a:solidFill>
                  <a:srgbClr val="1E6FB8"/>
                </a:solidFill>
                <a:latin typeface="Calibri"/>
              </a:rPr>
              <a:t>1980s–90s</a:t>
            </a:r>
          </a:p>
        </p:txBody>
      </p:sp>
      <p:sp>
        <p:nvSpPr>
          <p:cNvPr id="17" name="TextBox 16"/>
          <p:cNvSpPr txBox="1"/>
          <p:nvPr/>
        </p:nvSpPr>
        <p:spPr>
          <a:xfrm>
            <a:off x="3502152" y="3429000"/>
            <a:ext cx="2404872" cy="1737360"/>
          </a:xfrm>
          <a:prstGeom prst="rect">
            <a:avLst/>
          </a:prstGeom>
          <a:noFill/>
        </p:spPr>
        <p:txBody>
          <a:bodyPr wrap="square" anchor="t" lIns="0" rIns="0" tIns="0" bIns="0">
            <a:spAutoFit/>
          </a:bodyPr>
          <a:lstStyle/>
          <a:p>
            <a:pPr>
              <a:spcBef>
                <a:spcPts val="0"/>
              </a:spcBef>
              <a:spcAft>
                <a:spcPts val="300"/>
              </a:spcAft>
            </a:pPr>
            <a:r>
              <a:rPr sz="1350" b="1" i="0">
                <a:solidFill>
                  <a:srgbClr val="0F2A43"/>
                </a:solidFill>
                <a:latin typeface="Calibri"/>
              </a:rPr>
              <a:t>Expert systems</a:t>
            </a:r>
          </a:p>
          <a:p>
            <a:pPr>
              <a:spcBef>
                <a:spcPts val="0"/>
              </a:spcBef>
              <a:spcAft>
                <a:spcPts val="600"/>
              </a:spcAft>
            </a:pPr>
            <a:r>
              <a:rPr sz="1050" b="0" i="0">
                <a:solidFill>
                  <a:srgbClr val="5C6B79"/>
                </a:solidFill>
                <a:latin typeface="Calibri"/>
              </a:rPr>
              <a:t>Humans hand-code thousands of rules — brittle</a:t>
            </a:r>
          </a:p>
        </p:txBody>
      </p:sp>
      <p:sp>
        <p:nvSpPr>
          <p:cNvPr id="18" name="Oval 17"/>
          <p:cNvSpPr/>
          <p:nvPr/>
        </p:nvSpPr>
        <p:spPr>
          <a:xfrm>
            <a:off x="6409944" y="2926080"/>
            <a:ext cx="310896" cy="310896"/>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83096" y="2999232"/>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9904" y="2148840"/>
            <a:ext cx="2404872" cy="640080"/>
          </a:xfrm>
          <a:prstGeom prst="rect">
            <a:avLst/>
          </a:prstGeom>
          <a:noFill/>
        </p:spPr>
        <p:txBody>
          <a:bodyPr wrap="square" anchor="t" lIns="0" rIns="0" tIns="0" bIns="0">
            <a:spAutoFit/>
          </a:bodyPr>
          <a:lstStyle/>
          <a:p>
            <a:pPr algn="l">
              <a:spcBef>
                <a:spcPts val="0"/>
              </a:spcBef>
              <a:spcAft>
                <a:spcPts val="600"/>
              </a:spcAft>
            </a:pPr>
            <a:r>
              <a:rPr sz="1500" b="1" i="0">
                <a:solidFill>
                  <a:srgbClr val="14B8B0"/>
                </a:solidFill>
                <a:latin typeface="Calibri"/>
              </a:rPr>
              <a:t>2010s</a:t>
            </a:r>
          </a:p>
        </p:txBody>
      </p:sp>
      <p:sp>
        <p:nvSpPr>
          <p:cNvPr id="21" name="TextBox 20"/>
          <p:cNvSpPr txBox="1"/>
          <p:nvPr/>
        </p:nvSpPr>
        <p:spPr>
          <a:xfrm>
            <a:off x="6089904" y="3429000"/>
            <a:ext cx="2404872" cy="1737360"/>
          </a:xfrm>
          <a:prstGeom prst="rect">
            <a:avLst/>
          </a:prstGeom>
          <a:noFill/>
        </p:spPr>
        <p:txBody>
          <a:bodyPr wrap="square" anchor="t" lIns="0" rIns="0" tIns="0" bIns="0">
            <a:spAutoFit/>
          </a:bodyPr>
          <a:lstStyle/>
          <a:p>
            <a:pPr>
              <a:spcBef>
                <a:spcPts val="0"/>
              </a:spcBef>
              <a:spcAft>
                <a:spcPts val="300"/>
              </a:spcAft>
            </a:pPr>
            <a:r>
              <a:rPr sz="1350" b="1" i="0">
                <a:solidFill>
                  <a:srgbClr val="0F2A43"/>
                </a:solidFill>
                <a:latin typeface="Calibri"/>
              </a:rPr>
              <a:t>Machine learning</a:t>
            </a:r>
          </a:p>
          <a:p>
            <a:pPr>
              <a:spcBef>
                <a:spcPts val="0"/>
              </a:spcBef>
              <a:spcAft>
                <a:spcPts val="600"/>
              </a:spcAft>
            </a:pPr>
            <a:r>
              <a:rPr sz="1050" b="0" i="0">
                <a:solidFill>
                  <a:srgbClr val="5C6B79"/>
                </a:solidFill>
                <a:latin typeface="Calibri"/>
              </a:rPr>
              <a:t>Systems learn from data: spam filters, photo tags</a:t>
            </a:r>
          </a:p>
        </p:txBody>
      </p:sp>
      <p:sp>
        <p:nvSpPr>
          <p:cNvPr id="22" name="Oval 21"/>
          <p:cNvSpPr/>
          <p:nvPr/>
        </p:nvSpPr>
        <p:spPr>
          <a:xfrm>
            <a:off x="8997696" y="2926080"/>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070848" y="2999232"/>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77656" y="2148840"/>
            <a:ext cx="2404872" cy="640080"/>
          </a:xfrm>
          <a:prstGeom prst="rect">
            <a:avLst/>
          </a:prstGeom>
          <a:noFill/>
        </p:spPr>
        <p:txBody>
          <a:bodyPr wrap="square" anchor="t" lIns="0" rIns="0" tIns="0" bIns="0">
            <a:spAutoFit/>
          </a:bodyPr>
          <a:lstStyle/>
          <a:p>
            <a:pPr algn="l">
              <a:spcBef>
                <a:spcPts val="0"/>
              </a:spcBef>
              <a:spcAft>
                <a:spcPts val="600"/>
              </a:spcAft>
            </a:pPr>
            <a:r>
              <a:rPr sz="1500" b="1" i="0">
                <a:solidFill>
                  <a:srgbClr val="2E9E5B"/>
                </a:solidFill>
                <a:latin typeface="Calibri"/>
              </a:rPr>
              <a:t>2022 →</a:t>
            </a:r>
          </a:p>
        </p:txBody>
      </p:sp>
      <p:sp>
        <p:nvSpPr>
          <p:cNvPr id="25" name="TextBox 24"/>
          <p:cNvSpPr txBox="1"/>
          <p:nvPr/>
        </p:nvSpPr>
        <p:spPr>
          <a:xfrm>
            <a:off x="8677656" y="3429000"/>
            <a:ext cx="2404872" cy="1737360"/>
          </a:xfrm>
          <a:prstGeom prst="rect">
            <a:avLst/>
          </a:prstGeom>
          <a:noFill/>
        </p:spPr>
        <p:txBody>
          <a:bodyPr wrap="square" anchor="t" lIns="0" rIns="0" tIns="0" bIns="0">
            <a:spAutoFit/>
          </a:bodyPr>
          <a:lstStyle/>
          <a:p>
            <a:pPr>
              <a:spcBef>
                <a:spcPts val="0"/>
              </a:spcBef>
              <a:spcAft>
                <a:spcPts val="300"/>
              </a:spcAft>
            </a:pPr>
            <a:r>
              <a:rPr sz="1350" b="1" i="0">
                <a:solidFill>
                  <a:srgbClr val="0F2A43"/>
                </a:solidFill>
                <a:latin typeface="Calibri"/>
              </a:rPr>
              <a:t>Generative AI</a:t>
            </a:r>
          </a:p>
          <a:p>
            <a:pPr>
              <a:spcBef>
                <a:spcPts val="0"/>
              </a:spcBef>
              <a:spcAft>
                <a:spcPts val="600"/>
              </a:spcAft>
            </a:pPr>
            <a:r>
              <a:rPr sz="1050" b="0" i="0">
                <a:solidFill>
                  <a:srgbClr val="5C6B79"/>
                </a:solidFill>
                <a:latin typeface="Calibri"/>
              </a:rPr>
              <a:t>Anyone can create text, images &amp; audio via chat</a:t>
            </a:r>
          </a:p>
        </p:txBody>
      </p:sp>
      <p:sp>
        <p:nvSpPr>
          <p:cNvPr id="26" name="Rounded Rectangle 25"/>
          <p:cNvSpPr/>
          <p:nvPr/>
        </p:nvSpPr>
        <p:spPr>
          <a:xfrm>
            <a:off x="914400" y="5394960"/>
            <a:ext cx="10332720" cy="777240"/>
          </a:xfrm>
          <a:prstGeom prst="roundRect">
            <a:avLst/>
          </a:prstGeom>
          <a:solidFill>
            <a:srgbClr val="DD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4400" y="5394960"/>
            <a:ext cx="109728" cy="77724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70432" y="5413248"/>
            <a:ext cx="9921240" cy="777240"/>
          </a:xfrm>
          <a:prstGeom prst="rect">
            <a:avLst/>
          </a:prstGeom>
          <a:noFill/>
        </p:spPr>
        <p:txBody>
          <a:bodyPr wrap="square" anchor="ctr" lIns="0" rIns="0" tIns="0" bIns="0">
            <a:spAutoFit/>
          </a:bodyPr>
          <a:lstStyle/>
          <a:p>
            <a:pPr>
              <a:spcBef>
                <a:spcPts val="0"/>
              </a:spcBef>
              <a:spcAft>
                <a:spcPts val="600"/>
              </a:spcAft>
            </a:pPr>
            <a:r>
              <a:rPr sz="1300" b="1" i="0">
                <a:solidFill>
                  <a:srgbClr val="14B8B0"/>
                </a:solidFill>
                <a:latin typeface="Calibri"/>
              </a:rPr>
              <a:t>💡  </a:t>
            </a:r>
            <a:r>
              <a:rPr sz="1150" b="0" i="0">
                <a:solidFill>
                  <a:srgbClr val="242D35"/>
                </a:solidFill>
                <a:latin typeface="Calibri"/>
              </a:rPr>
              <a:t>The big shift for us was late 2022: AI left the research lab and landed in a simple chat box on everyone's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EVOLUTION OF AI</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Why it suddenly feels everywhere</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Evolution of AI</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6</a:t>
            </a:r>
          </a:p>
        </p:txBody>
      </p:sp>
      <p:sp>
        <p:nvSpPr>
          <p:cNvPr id="9" name="Rounded Rectangle 8"/>
          <p:cNvSpPr/>
          <p:nvPr/>
        </p:nvSpPr>
        <p:spPr>
          <a:xfrm>
            <a:off x="685800" y="1965960"/>
            <a:ext cx="2587752" cy="26517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212848"/>
            <a:ext cx="658368" cy="6583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212848"/>
            <a:ext cx="658368" cy="658368"/>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12" name="TextBox 11"/>
          <p:cNvSpPr txBox="1"/>
          <p:nvPr/>
        </p:nvSpPr>
        <p:spPr>
          <a:xfrm>
            <a:off x="905256" y="3063240"/>
            <a:ext cx="2148840" cy="1463040"/>
          </a:xfrm>
          <a:prstGeom prst="rect">
            <a:avLst/>
          </a:prstGeom>
          <a:noFill/>
        </p:spPr>
        <p:txBody>
          <a:bodyPr wrap="square" anchor="t" lIns="0" rIns="0" tIns="0" bIns="0">
            <a:spAutoFit/>
          </a:bodyPr>
          <a:lstStyle/>
          <a:p>
            <a:pPr>
              <a:spcBef>
                <a:spcPts val="0"/>
              </a:spcBef>
              <a:spcAft>
                <a:spcPts val="500"/>
              </a:spcAft>
            </a:pPr>
            <a:r>
              <a:rPr sz="1500" b="1" i="0">
                <a:solidFill>
                  <a:srgbClr val="0F2A43"/>
                </a:solidFill>
                <a:latin typeface="Calibri"/>
              </a:rPr>
              <a:t>Scale</a:t>
            </a:r>
          </a:p>
          <a:p>
            <a:pPr>
              <a:spcBef>
                <a:spcPts val="0"/>
              </a:spcBef>
              <a:spcAft>
                <a:spcPts val="600"/>
              </a:spcAft>
            </a:pPr>
            <a:r>
              <a:rPr sz="1100" b="0" i="0">
                <a:solidFill>
                  <a:srgbClr val="5C6B79"/>
                </a:solidFill>
                <a:latin typeface="Calibri"/>
              </a:rPr>
              <a:t>Far bigger models trained on far more data</a:t>
            </a:r>
          </a:p>
        </p:txBody>
      </p:sp>
      <p:sp>
        <p:nvSpPr>
          <p:cNvPr id="13" name="Rounded Rectangle 12"/>
          <p:cNvSpPr/>
          <p:nvPr/>
        </p:nvSpPr>
        <p:spPr>
          <a:xfrm>
            <a:off x="3447288" y="1965960"/>
            <a:ext cx="2587752" cy="26517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03320" y="2212848"/>
            <a:ext cx="658368" cy="65836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3320" y="2212848"/>
            <a:ext cx="658368" cy="658368"/>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16" name="TextBox 15"/>
          <p:cNvSpPr txBox="1"/>
          <p:nvPr/>
        </p:nvSpPr>
        <p:spPr>
          <a:xfrm>
            <a:off x="3666744" y="3063240"/>
            <a:ext cx="2148840" cy="1463040"/>
          </a:xfrm>
          <a:prstGeom prst="rect">
            <a:avLst/>
          </a:prstGeom>
          <a:noFill/>
        </p:spPr>
        <p:txBody>
          <a:bodyPr wrap="square" anchor="t" lIns="0" rIns="0" tIns="0" bIns="0">
            <a:spAutoFit/>
          </a:bodyPr>
          <a:lstStyle/>
          <a:p>
            <a:pPr>
              <a:spcBef>
                <a:spcPts val="0"/>
              </a:spcBef>
              <a:spcAft>
                <a:spcPts val="500"/>
              </a:spcAft>
            </a:pPr>
            <a:r>
              <a:rPr sz="1500" b="1" i="0">
                <a:solidFill>
                  <a:srgbClr val="0F2A43"/>
                </a:solidFill>
                <a:latin typeface="Calibri"/>
              </a:rPr>
              <a:t>Chat interface</a:t>
            </a:r>
          </a:p>
          <a:p>
            <a:pPr>
              <a:spcBef>
                <a:spcPts val="0"/>
              </a:spcBef>
              <a:spcAft>
                <a:spcPts val="600"/>
              </a:spcAft>
            </a:pPr>
            <a:r>
              <a:rPr sz="1100" b="0" i="0">
                <a:solidFill>
                  <a:srgbClr val="5C6B79"/>
                </a:solidFill>
                <a:latin typeface="Calibri"/>
              </a:rPr>
              <a:t>Plain language in — no manual, no code needed</a:t>
            </a:r>
          </a:p>
        </p:txBody>
      </p:sp>
      <p:sp>
        <p:nvSpPr>
          <p:cNvPr id="17" name="Rounded Rectangle 16"/>
          <p:cNvSpPr/>
          <p:nvPr/>
        </p:nvSpPr>
        <p:spPr>
          <a:xfrm>
            <a:off x="6208776" y="1965960"/>
            <a:ext cx="2587752" cy="26517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64808" y="2212848"/>
            <a:ext cx="658368" cy="6583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2212848"/>
            <a:ext cx="658368" cy="658368"/>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20" name="TextBox 19"/>
          <p:cNvSpPr txBox="1"/>
          <p:nvPr/>
        </p:nvSpPr>
        <p:spPr>
          <a:xfrm>
            <a:off x="6428232" y="3063240"/>
            <a:ext cx="2148840" cy="1463040"/>
          </a:xfrm>
          <a:prstGeom prst="rect">
            <a:avLst/>
          </a:prstGeom>
          <a:noFill/>
        </p:spPr>
        <p:txBody>
          <a:bodyPr wrap="square" anchor="t" lIns="0" rIns="0" tIns="0" bIns="0">
            <a:spAutoFit/>
          </a:bodyPr>
          <a:lstStyle/>
          <a:p>
            <a:pPr>
              <a:spcBef>
                <a:spcPts val="0"/>
              </a:spcBef>
              <a:spcAft>
                <a:spcPts val="500"/>
              </a:spcAft>
            </a:pPr>
            <a:r>
              <a:rPr sz="1500" b="1" i="0">
                <a:solidFill>
                  <a:srgbClr val="0F2A43"/>
                </a:solidFill>
                <a:latin typeface="Calibri"/>
              </a:rPr>
              <a:t>Multimodal</a:t>
            </a:r>
          </a:p>
          <a:p>
            <a:pPr>
              <a:spcBef>
                <a:spcPts val="0"/>
              </a:spcBef>
              <a:spcAft>
                <a:spcPts val="600"/>
              </a:spcAft>
            </a:pPr>
            <a:r>
              <a:rPr sz="1100" b="0" i="0">
                <a:solidFill>
                  <a:srgbClr val="5C6B79"/>
                </a:solidFill>
                <a:latin typeface="Calibri"/>
              </a:rPr>
              <a:t>It now reads, sees, hears, and speaks back</a:t>
            </a:r>
          </a:p>
        </p:txBody>
      </p:sp>
      <p:sp>
        <p:nvSpPr>
          <p:cNvPr id="21" name="Rounded Rectangle 20"/>
          <p:cNvSpPr/>
          <p:nvPr/>
        </p:nvSpPr>
        <p:spPr>
          <a:xfrm>
            <a:off x="8970264" y="1965960"/>
            <a:ext cx="2587752" cy="26517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226296" y="2212848"/>
            <a:ext cx="658368" cy="658368"/>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26296" y="2212848"/>
            <a:ext cx="658368" cy="658368"/>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24" name="TextBox 23"/>
          <p:cNvSpPr txBox="1"/>
          <p:nvPr/>
        </p:nvSpPr>
        <p:spPr>
          <a:xfrm>
            <a:off x="9189720" y="3063240"/>
            <a:ext cx="2148840" cy="1463040"/>
          </a:xfrm>
          <a:prstGeom prst="rect">
            <a:avLst/>
          </a:prstGeom>
          <a:noFill/>
        </p:spPr>
        <p:txBody>
          <a:bodyPr wrap="square" anchor="t" lIns="0" rIns="0" tIns="0" bIns="0">
            <a:spAutoFit/>
          </a:bodyPr>
          <a:lstStyle/>
          <a:p>
            <a:pPr>
              <a:spcBef>
                <a:spcPts val="0"/>
              </a:spcBef>
              <a:spcAft>
                <a:spcPts val="500"/>
              </a:spcAft>
            </a:pPr>
            <a:r>
              <a:rPr sz="1500" b="1" i="0">
                <a:solidFill>
                  <a:srgbClr val="0F2A43"/>
                </a:solidFill>
                <a:latin typeface="Calibri"/>
              </a:rPr>
              <a:t>Embedded</a:t>
            </a:r>
          </a:p>
          <a:p>
            <a:pPr>
              <a:spcBef>
                <a:spcPts val="0"/>
              </a:spcBef>
              <a:spcAft>
                <a:spcPts val="600"/>
              </a:spcAft>
            </a:pPr>
            <a:r>
              <a:rPr sz="1100" b="0" i="0">
                <a:solidFill>
                  <a:srgbClr val="5C6B79"/>
                </a:solidFill>
                <a:latin typeface="Calibri"/>
              </a:rPr>
              <a:t>Built into Gmail, your keyboard, your browser</a:t>
            </a:r>
          </a:p>
        </p:txBody>
      </p:sp>
      <p:sp>
        <p:nvSpPr>
          <p:cNvPr id="25" name="Rounded Rectangle 24"/>
          <p:cNvSpPr/>
          <p:nvPr/>
        </p:nvSpPr>
        <p:spPr>
          <a:xfrm>
            <a:off x="685800" y="4937760"/>
            <a:ext cx="10817352" cy="777240"/>
          </a:xfrm>
          <a:prstGeom prst="roundRect">
            <a:avLst/>
          </a:prstGeom>
          <a:solidFill>
            <a:srgbClr val="DF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85800" y="4937760"/>
            <a:ext cx="109728" cy="77724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4956048"/>
            <a:ext cx="10405872" cy="777240"/>
          </a:xfrm>
          <a:prstGeom prst="rect">
            <a:avLst/>
          </a:prstGeom>
          <a:noFill/>
        </p:spPr>
        <p:txBody>
          <a:bodyPr wrap="square" anchor="ctr" lIns="0" rIns="0" tIns="0" bIns="0">
            <a:spAutoFit/>
          </a:bodyPr>
          <a:lstStyle/>
          <a:p>
            <a:pPr>
              <a:spcBef>
                <a:spcPts val="0"/>
              </a:spcBef>
              <a:spcAft>
                <a:spcPts val="600"/>
              </a:spcAft>
            </a:pPr>
            <a:r>
              <a:rPr sz="1300" b="1" i="0">
                <a:solidFill>
                  <a:srgbClr val="1E6FB8"/>
                </a:solidFill>
                <a:latin typeface="Calibri"/>
              </a:rPr>
              <a:t>🎯  </a:t>
            </a:r>
            <a:r>
              <a:rPr sz="1150" b="0" i="0">
                <a:solidFill>
                  <a:srgbClr val="242D35"/>
                </a:solidFill>
                <a:latin typeface="Calibri"/>
              </a:rPr>
              <a:t>The skill that matters now isn't coding — it's knowing what to ask, and how to check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EVOLUTION OF AI</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The one idea to keep all session</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Evolution of AI</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7</a:t>
            </a:r>
          </a:p>
        </p:txBody>
      </p:sp>
      <p:sp>
        <p:nvSpPr>
          <p:cNvPr id="9" name="Rounded Rectangle 8"/>
          <p:cNvSpPr/>
          <p:nvPr/>
        </p:nvSpPr>
        <p:spPr>
          <a:xfrm>
            <a:off x="685800" y="1965960"/>
            <a:ext cx="10817352" cy="137160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2600" b="1" i="0">
                <a:solidFill>
                  <a:srgbClr val="FFFFFF"/>
                </a:solidFill>
                <a:latin typeface="Calibri"/>
              </a:rPr>
              <a:t>AI = a fast, confident, well-read intern</a:t>
            </a:r>
          </a:p>
          <a:p>
            <a:pPr algn="ctr"/>
            <a:r>
              <a:rPr sz="1400" b="0" i="0">
                <a:solidFill>
                  <a:srgbClr val="14B8B0"/>
                </a:solidFill>
                <a:latin typeface="Calibri"/>
              </a:rPr>
              <a:t>Amazing first drafts in seconds — but you are always the editor</a:t>
            </a:r>
          </a:p>
        </p:txBody>
      </p:sp>
      <p:sp>
        <p:nvSpPr>
          <p:cNvPr id="10" name="Rounded Rectangle 9"/>
          <p:cNvSpPr/>
          <p:nvPr/>
        </p:nvSpPr>
        <p:spPr>
          <a:xfrm>
            <a:off x="685800" y="3611880"/>
            <a:ext cx="3502152" cy="21945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41832" y="3840480"/>
            <a:ext cx="594360" cy="59436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840480"/>
            <a:ext cx="594360" cy="594360"/>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13" name="TextBox 12"/>
          <p:cNvSpPr txBox="1"/>
          <p:nvPr/>
        </p:nvSpPr>
        <p:spPr>
          <a:xfrm>
            <a:off x="905256" y="4617720"/>
            <a:ext cx="3063240" cy="1097280"/>
          </a:xfrm>
          <a:prstGeom prst="rect">
            <a:avLst/>
          </a:prstGeom>
          <a:noFill/>
        </p:spPr>
        <p:txBody>
          <a:bodyPr wrap="square" anchor="t" lIns="0" rIns="0" tIns="0" bIns="0">
            <a:spAutoFit/>
          </a:bodyPr>
          <a:lstStyle/>
          <a:p>
            <a:pPr>
              <a:spcBef>
                <a:spcPts val="0"/>
              </a:spcBef>
              <a:spcAft>
                <a:spcPts val="400"/>
              </a:spcAft>
            </a:pPr>
            <a:r>
              <a:rPr sz="1450" b="1" i="0">
                <a:solidFill>
                  <a:srgbClr val="0F2A43"/>
                </a:solidFill>
                <a:latin typeface="Calibri"/>
              </a:rPr>
              <a:t>Brilliant drafts</a:t>
            </a:r>
          </a:p>
          <a:p>
            <a:pPr>
              <a:spcBef>
                <a:spcPts val="0"/>
              </a:spcBef>
              <a:spcAft>
                <a:spcPts val="600"/>
              </a:spcAft>
            </a:pPr>
            <a:r>
              <a:rPr sz="1100" b="0" i="0">
                <a:solidFill>
                  <a:srgbClr val="5C6B79"/>
                </a:solidFill>
                <a:latin typeface="Calibri"/>
              </a:rPr>
              <a:t>Turns a blank page into a solid starting point instantly</a:t>
            </a:r>
          </a:p>
        </p:txBody>
      </p:sp>
      <p:sp>
        <p:nvSpPr>
          <p:cNvPr id="14" name="Rounded Rectangle 13"/>
          <p:cNvSpPr/>
          <p:nvPr/>
        </p:nvSpPr>
        <p:spPr>
          <a:xfrm>
            <a:off x="4343400" y="3611880"/>
            <a:ext cx="3502152" cy="21945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99432" y="3840480"/>
            <a:ext cx="594360" cy="594360"/>
          </a:xfrm>
          <a:prstGeom prst="ellipse">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2" y="3840480"/>
            <a:ext cx="594360" cy="594360"/>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17" name="TextBox 16"/>
          <p:cNvSpPr txBox="1"/>
          <p:nvPr/>
        </p:nvSpPr>
        <p:spPr>
          <a:xfrm>
            <a:off x="4562856" y="4617720"/>
            <a:ext cx="3063240" cy="1097280"/>
          </a:xfrm>
          <a:prstGeom prst="rect">
            <a:avLst/>
          </a:prstGeom>
          <a:noFill/>
        </p:spPr>
        <p:txBody>
          <a:bodyPr wrap="square" anchor="t" lIns="0" rIns="0" tIns="0" bIns="0">
            <a:spAutoFit/>
          </a:bodyPr>
          <a:lstStyle/>
          <a:p>
            <a:pPr>
              <a:spcBef>
                <a:spcPts val="0"/>
              </a:spcBef>
              <a:spcAft>
                <a:spcPts val="400"/>
              </a:spcAft>
            </a:pPr>
            <a:r>
              <a:rPr sz="1450" b="1" i="0">
                <a:solidFill>
                  <a:srgbClr val="0F2A43"/>
                </a:solidFill>
                <a:latin typeface="Calibri"/>
              </a:rPr>
              <a:t>Sometimes wrong</a:t>
            </a:r>
          </a:p>
          <a:p>
            <a:pPr>
              <a:spcBef>
                <a:spcPts val="0"/>
              </a:spcBef>
              <a:spcAft>
                <a:spcPts val="600"/>
              </a:spcAft>
            </a:pPr>
            <a:r>
              <a:rPr sz="1100" b="0" i="0">
                <a:solidFill>
                  <a:srgbClr val="5C6B79"/>
                </a:solidFill>
                <a:latin typeface="Calibri"/>
              </a:rPr>
              <a:t>Can state false facts with total confidence</a:t>
            </a:r>
          </a:p>
        </p:txBody>
      </p:sp>
      <p:sp>
        <p:nvSpPr>
          <p:cNvPr id="18" name="Rounded Rectangle 17"/>
          <p:cNvSpPr/>
          <p:nvPr/>
        </p:nvSpPr>
        <p:spPr>
          <a:xfrm>
            <a:off x="8001000" y="3611880"/>
            <a:ext cx="3502152" cy="21945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57032" y="3840480"/>
            <a:ext cx="594360" cy="59436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2" y="3840480"/>
            <a:ext cx="594360" cy="594360"/>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21" name="TextBox 20"/>
          <p:cNvSpPr txBox="1"/>
          <p:nvPr/>
        </p:nvSpPr>
        <p:spPr>
          <a:xfrm>
            <a:off x="8220456" y="4617720"/>
            <a:ext cx="3063240" cy="1097280"/>
          </a:xfrm>
          <a:prstGeom prst="rect">
            <a:avLst/>
          </a:prstGeom>
          <a:noFill/>
        </p:spPr>
        <p:txBody>
          <a:bodyPr wrap="square" anchor="t" lIns="0" rIns="0" tIns="0" bIns="0">
            <a:spAutoFit/>
          </a:bodyPr>
          <a:lstStyle/>
          <a:p>
            <a:pPr>
              <a:spcBef>
                <a:spcPts val="0"/>
              </a:spcBef>
              <a:spcAft>
                <a:spcPts val="400"/>
              </a:spcAft>
            </a:pPr>
            <a:r>
              <a:rPr sz="1450" b="1" i="0">
                <a:solidFill>
                  <a:srgbClr val="0F2A43"/>
                </a:solidFill>
                <a:latin typeface="Calibri"/>
              </a:rPr>
              <a:t>You decide</a:t>
            </a:r>
          </a:p>
          <a:p>
            <a:pPr>
              <a:spcBef>
                <a:spcPts val="0"/>
              </a:spcBef>
              <a:spcAft>
                <a:spcPts val="600"/>
              </a:spcAft>
            </a:pPr>
            <a:r>
              <a:rPr sz="1100" b="0" i="0">
                <a:solidFill>
                  <a:srgbClr val="5C6B79"/>
                </a:solidFill>
                <a:latin typeface="Calibri"/>
              </a:rPr>
              <a:t>Direct it, correct it, and make the final call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6FB8"/>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6400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10972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7040" y="15544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607040" y="20116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9601200" cy="2286000"/>
          </a:xfrm>
          <a:prstGeom prst="rect">
            <a:avLst/>
          </a:prstGeom>
          <a:noFill/>
        </p:spPr>
        <p:txBody>
          <a:bodyPr wrap="square" anchor="t" lIns="0" rIns="0" tIns="0" bIns="0">
            <a:spAutoFit/>
          </a:bodyPr>
          <a:lstStyle/>
          <a:p>
            <a:pPr>
              <a:spcBef>
                <a:spcPts val="0"/>
              </a:spcBef>
              <a:spcAft>
                <a:spcPts val="600"/>
              </a:spcAft>
            </a:pPr>
            <a:r>
              <a:rPr sz="2000" b="1" i="0">
                <a:solidFill>
                  <a:srgbClr val="C9E8F0"/>
                </a:solidFill>
                <a:latin typeface="Calibri"/>
              </a:rPr>
              <a:t>Section 2</a:t>
            </a:r>
          </a:p>
          <a:p>
            <a:pPr>
              <a:spcBef>
                <a:spcPts val="0"/>
              </a:spcBef>
              <a:spcAft>
                <a:spcPts val="1400"/>
              </a:spcAft>
            </a:pPr>
            <a:r>
              <a:rPr sz="4200" b="1" i="0">
                <a:solidFill>
                  <a:srgbClr val="FFFFFF"/>
                </a:solidFill>
                <a:latin typeface="Calibri"/>
              </a:rPr>
              <a:t>8 Everyday Jobs AI Does Well</a:t>
            </a:r>
          </a:p>
          <a:p>
            <a:pPr>
              <a:spcBef>
                <a:spcPts val="0"/>
              </a:spcBef>
              <a:spcAft>
                <a:spcPts val="400"/>
              </a:spcAft>
            </a:pPr>
            <a:r>
              <a:rPr sz="1600" b="1" i="0">
                <a:solidFill>
                  <a:srgbClr val="14B8B0"/>
                </a:solidFill>
                <a:latin typeface="Calibri"/>
              </a:rPr>
              <a:t>›  </a:t>
            </a:r>
            <a:r>
              <a:rPr sz="1500" b="0" i="0">
                <a:solidFill>
                  <a:srgbClr val="DDEAF3"/>
                </a:solidFill>
                <a:latin typeface="Calibri"/>
              </a:rPr>
              <a:t>Presentations · Study · Email &amp; meetings · Assignments</a:t>
            </a:r>
          </a:p>
          <a:p>
            <a:pPr>
              <a:spcBef>
                <a:spcPts val="0"/>
              </a:spcBef>
              <a:spcAft>
                <a:spcPts val="400"/>
              </a:spcAft>
            </a:pPr>
            <a:r>
              <a:rPr sz="1600" b="1" i="0">
                <a:solidFill>
                  <a:srgbClr val="14B8B0"/>
                </a:solidFill>
                <a:latin typeface="Calibri"/>
              </a:rPr>
              <a:t>›  </a:t>
            </a:r>
            <a:r>
              <a:rPr sz="1500" b="0" i="0">
                <a:solidFill>
                  <a:srgbClr val="DDEAF3"/>
                </a:solidFill>
                <a:latin typeface="Calibri"/>
              </a:rPr>
              <a:t>Posters/EDMs · Video · Holiday planning · Daily life</a:t>
            </a:r>
          </a:p>
          <a:p>
            <a:pPr>
              <a:spcBef>
                <a:spcPts val="0"/>
              </a:spcBef>
              <a:spcAft>
                <a:spcPts val="400"/>
              </a:spcAft>
            </a:pPr>
            <a:r>
              <a:rPr sz="1600" b="1" i="0">
                <a:solidFill>
                  <a:srgbClr val="14B8B0"/>
                </a:solidFill>
                <a:latin typeface="Calibri"/>
              </a:rPr>
              <a:t>›  </a:t>
            </a:r>
            <a:r>
              <a:rPr sz="1500" b="0" i="0">
                <a:solidFill>
                  <a:srgbClr val="DDEAF3"/>
                </a:solidFill>
                <a:latin typeface="Calibri"/>
              </a:rPr>
              <a:t>For each: the free pick, an alternative, and the catch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OVERVIEW</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The everyday AI toolkit</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9</a:t>
            </a:r>
          </a:p>
        </p:txBody>
      </p:sp>
      <p:sp>
        <p:nvSpPr>
          <p:cNvPr id="9" name="Rounded Rectangle 8"/>
          <p:cNvSpPr/>
          <p:nvPr/>
        </p:nvSpPr>
        <p:spPr>
          <a:xfrm>
            <a:off x="685800" y="1965960"/>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68680" y="2258568"/>
            <a:ext cx="640080" cy="64008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58568"/>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12" name="TextBox 11"/>
          <p:cNvSpPr txBox="1"/>
          <p:nvPr/>
        </p:nvSpPr>
        <p:spPr>
          <a:xfrm>
            <a:off x="1600200" y="1965960"/>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2.1 Presentations</a:t>
            </a:r>
          </a:p>
        </p:txBody>
      </p:sp>
      <p:sp>
        <p:nvSpPr>
          <p:cNvPr id="13" name="Rounded Rectangle 12"/>
          <p:cNvSpPr/>
          <p:nvPr/>
        </p:nvSpPr>
        <p:spPr>
          <a:xfrm>
            <a:off x="3456432" y="1965960"/>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39312" y="2258568"/>
            <a:ext cx="640080" cy="64008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9312" y="2258568"/>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16" name="TextBox 15"/>
          <p:cNvSpPr txBox="1"/>
          <p:nvPr/>
        </p:nvSpPr>
        <p:spPr>
          <a:xfrm>
            <a:off x="4370832" y="1965960"/>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2.2 Study</a:t>
            </a:r>
          </a:p>
        </p:txBody>
      </p:sp>
      <p:sp>
        <p:nvSpPr>
          <p:cNvPr id="17" name="Rounded Rectangle 16"/>
          <p:cNvSpPr/>
          <p:nvPr/>
        </p:nvSpPr>
        <p:spPr>
          <a:xfrm>
            <a:off x="6227064" y="1965960"/>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9944" y="2258568"/>
            <a:ext cx="640080" cy="64008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9944" y="2258568"/>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20" name="TextBox 19"/>
          <p:cNvSpPr txBox="1"/>
          <p:nvPr/>
        </p:nvSpPr>
        <p:spPr>
          <a:xfrm>
            <a:off x="7141464" y="1965960"/>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2.3 Email &amp; meetings</a:t>
            </a:r>
          </a:p>
        </p:txBody>
      </p:sp>
      <p:sp>
        <p:nvSpPr>
          <p:cNvPr id="21" name="Rounded Rectangle 20"/>
          <p:cNvSpPr/>
          <p:nvPr/>
        </p:nvSpPr>
        <p:spPr>
          <a:xfrm>
            <a:off x="8997696" y="1965960"/>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80576" y="2258568"/>
            <a:ext cx="640080" cy="6400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0576" y="2258568"/>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24" name="TextBox 23"/>
          <p:cNvSpPr txBox="1"/>
          <p:nvPr/>
        </p:nvSpPr>
        <p:spPr>
          <a:xfrm>
            <a:off x="9912096" y="1965960"/>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2.4 Assignments</a:t>
            </a:r>
          </a:p>
        </p:txBody>
      </p:sp>
      <p:sp>
        <p:nvSpPr>
          <p:cNvPr id="25" name="Rounded Rectangle 24"/>
          <p:cNvSpPr/>
          <p:nvPr/>
        </p:nvSpPr>
        <p:spPr>
          <a:xfrm>
            <a:off x="685800" y="3346704"/>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68680" y="3639312"/>
            <a:ext cx="640080" cy="64008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3639312"/>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28" name="TextBox 27"/>
          <p:cNvSpPr txBox="1"/>
          <p:nvPr/>
        </p:nvSpPr>
        <p:spPr>
          <a:xfrm>
            <a:off x="1600200" y="3346704"/>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2.5 Posters / EDM</a:t>
            </a:r>
          </a:p>
        </p:txBody>
      </p:sp>
      <p:sp>
        <p:nvSpPr>
          <p:cNvPr id="29" name="Rounded Rectangle 28"/>
          <p:cNvSpPr/>
          <p:nvPr/>
        </p:nvSpPr>
        <p:spPr>
          <a:xfrm>
            <a:off x="3456432" y="3346704"/>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39312" y="3639312"/>
            <a:ext cx="640080" cy="64008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39312" y="3639312"/>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32" name="TextBox 31"/>
          <p:cNvSpPr txBox="1"/>
          <p:nvPr/>
        </p:nvSpPr>
        <p:spPr>
          <a:xfrm>
            <a:off x="4370832" y="3346704"/>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2.6 Video</a:t>
            </a:r>
          </a:p>
        </p:txBody>
      </p:sp>
      <p:sp>
        <p:nvSpPr>
          <p:cNvPr id="33" name="Rounded Rectangle 32"/>
          <p:cNvSpPr/>
          <p:nvPr/>
        </p:nvSpPr>
        <p:spPr>
          <a:xfrm>
            <a:off x="6227064" y="3346704"/>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09944" y="3639312"/>
            <a:ext cx="640080" cy="64008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639312"/>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36" name="TextBox 35"/>
          <p:cNvSpPr txBox="1"/>
          <p:nvPr/>
        </p:nvSpPr>
        <p:spPr>
          <a:xfrm>
            <a:off x="7141464" y="3346704"/>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2.7 Holiday planning</a:t>
            </a:r>
          </a:p>
        </p:txBody>
      </p:sp>
      <p:sp>
        <p:nvSpPr>
          <p:cNvPr id="37" name="Rounded Rectangle 36"/>
          <p:cNvSpPr/>
          <p:nvPr/>
        </p:nvSpPr>
        <p:spPr>
          <a:xfrm>
            <a:off x="8997696" y="3346704"/>
            <a:ext cx="2624328" cy="12344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180576" y="3639312"/>
            <a:ext cx="640080" cy="6400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0576" y="3639312"/>
            <a:ext cx="640080" cy="64008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40" name="TextBox 39"/>
          <p:cNvSpPr txBox="1"/>
          <p:nvPr/>
        </p:nvSpPr>
        <p:spPr>
          <a:xfrm>
            <a:off x="9912096" y="3346704"/>
            <a:ext cx="1618488" cy="1234440"/>
          </a:xfrm>
          <a:prstGeom prst="rect">
            <a:avLst/>
          </a:prstGeom>
          <a:noFill/>
        </p:spPr>
        <p:txBody>
          <a:bodyPr wrap="square" anchor="ctr" lIns="0" rIns="0" tIns="0" bIns="0">
            <a:spAutoFit/>
          </a:bodyPr>
          <a:lstStyle/>
          <a:p>
            <a:pPr>
              <a:spcBef>
                <a:spcPts val="0"/>
              </a:spcBef>
              <a:spcAft>
                <a:spcPts val="600"/>
              </a:spcAft>
            </a:pPr>
            <a:r>
              <a:rPr sz="1300" b="1" i="0">
                <a:solidFill>
                  <a:srgbClr val="0F2A43"/>
                </a:solidFill>
                <a:latin typeface="Calibri"/>
              </a:rPr>
              <a:t>2.8 Daily life</a:t>
            </a:r>
          </a:p>
        </p:txBody>
      </p:sp>
      <p:sp>
        <p:nvSpPr>
          <p:cNvPr id="41" name="Rounded Rectangle 40"/>
          <p:cNvSpPr/>
          <p:nvPr/>
        </p:nvSpPr>
        <p:spPr>
          <a:xfrm>
            <a:off x="685800" y="5029200"/>
            <a:ext cx="10817352" cy="777240"/>
          </a:xfrm>
          <a:prstGeom prst="roundRect">
            <a:avLst/>
          </a:prstGeom>
          <a:solidFill>
            <a:srgbClr val="DD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85800" y="5029200"/>
            <a:ext cx="109728" cy="77724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1832" y="5047488"/>
            <a:ext cx="10405872" cy="777240"/>
          </a:xfrm>
          <a:prstGeom prst="rect">
            <a:avLst/>
          </a:prstGeom>
          <a:noFill/>
        </p:spPr>
        <p:txBody>
          <a:bodyPr wrap="square" anchor="ctr" lIns="0" rIns="0" tIns="0" bIns="0">
            <a:spAutoFit/>
          </a:bodyPr>
          <a:lstStyle/>
          <a:p>
            <a:pPr>
              <a:spcBef>
                <a:spcPts val="0"/>
              </a:spcBef>
              <a:spcAft>
                <a:spcPts val="600"/>
              </a:spcAft>
            </a:pPr>
            <a:r>
              <a:rPr sz="1300" b="1" i="0">
                <a:solidFill>
                  <a:srgbClr val="14B8B0"/>
                </a:solidFill>
                <a:latin typeface="Calibri"/>
              </a:rPr>
              <a:t>⭐  </a:t>
            </a:r>
            <a:r>
              <a:rPr sz="1150" b="0" i="0">
                <a:solidFill>
                  <a:srgbClr val="242D35"/>
                </a:solidFill>
                <a:latin typeface="Calibri"/>
              </a:rPr>
              <a:t>Install just four and you're covered: ChatGPT/Gemini · NotebookLM · Canva · Gamma.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2.1 PRESENTATION PREPARATION</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Build a deck in minutes, not hours</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10</a:t>
            </a:r>
          </a:p>
        </p:txBody>
      </p:sp>
      <p:sp>
        <p:nvSpPr>
          <p:cNvPr id="9" name="Rounded Rectangle 8"/>
          <p:cNvSpPr/>
          <p:nvPr/>
        </p:nvSpPr>
        <p:spPr>
          <a:xfrm>
            <a:off x="685800" y="1874519"/>
            <a:ext cx="3429000" cy="24231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874519"/>
            <a:ext cx="3429000" cy="566928"/>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Gamma</a:t>
            </a:r>
          </a:p>
          <a:p>
            <a:r>
              <a:rPr sz="950" b="0" i="0">
                <a:solidFill>
                  <a:srgbClr val="EAF3F8"/>
                </a:solidFill>
                <a:latin typeface="Calibri"/>
              </a:rPr>
              <a:t>Prompt / notes → full deck</a:t>
            </a:r>
          </a:p>
        </p:txBody>
      </p:sp>
      <p:sp>
        <p:nvSpPr>
          <p:cNvPr id="11" name="Rectangle 10"/>
          <p:cNvSpPr/>
          <p:nvPr/>
        </p:nvSpPr>
        <p:spPr>
          <a:xfrm>
            <a:off x="685800" y="2157983"/>
            <a:ext cx="3429000" cy="283464"/>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2587751"/>
            <a:ext cx="3136392" cy="160020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Designed 10–15 slide deck in ~30 sec; generous free tier</a:t>
            </a:r>
          </a:p>
          <a:p>
            <a:pPr>
              <a:spcBef>
                <a:spcPts val="300"/>
              </a:spcBef>
              <a:spcAft>
                <a:spcPts val="0"/>
              </a:spcAft>
            </a:pPr>
            <a:r>
              <a:rPr sz="1200" b="1" i="0">
                <a:solidFill>
                  <a:srgbClr val="E89A18"/>
                </a:solidFill>
                <a:latin typeface="Calibri"/>
              </a:rPr>
              <a:t>⚠ </a:t>
            </a:r>
            <a:r>
              <a:rPr sz="1100" b="0" i="0">
                <a:solidFill>
                  <a:srgbClr val="5C6B79"/>
                </a:solidFill>
                <a:latin typeface="Calibri"/>
              </a:rPr>
              <a:t>Can look generic; may invent a stat — restyle &amp; verify</a:t>
            </a:r>
          </a:p>
        </p:txBody>
      </p:sp>
      <p:sp>
        <p:nvSpPr>
          <p:cNvPr id="13" name="Rounded Rectangle 12"/>
          <p:cNvSpPr/>
          <p:nvPr/>
        </p:nvSpPr>
        <p:spPr>
          <a:xfrm>
            <a:off x="4379976" y="1874519"/>
            <a:ext cx="3429000" cy="24231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9976" y="1874519"/>
            <a:ext cx="3429000" cy="566928"/>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Canva Magic Design</a:t>
            </a:r>
          </a:p>
          <a:p>
            <a:r>
              <a:rPr sz="950" b="0" i="0">
                <a:solidFill>
                  <a:srgbClr val="EAF3F8"/>
                </a:solidFill>
                <a:latin typeface="Calibri"/>
              </a:rPr>
              <a:t>Best truly-free option</a:t>
            </a:r>
          </a:p>
        </p:txBody>
      </p:sp>
      <p:sp>
        <p:nvSpPr>
          <p:cNvPr id="15" name="Rectangle 14"/>
          <p:cNvSpPr/>
          <p:nvPr/>
        </p:nvSpPr>
        <p:spPr>
          <a:xfrm>
            <a:off x="4379976" y="2157983"/>
            <a:ext cx="3429000" cy="2834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87751"/>
            <a:ext cx="3136392" cy="160020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Thousands of templates; no expiry; great for brand control</a:t>
            </a:r>
          </a:p>
          <a:p>
            <a:pPr>
              <a:spcBef>
                <a:spcPts val="300"/>
              </a:spcBef>
              <a:spcAft>
                <a:spcPts val="0"/>
              </a:spcAft>
            </a:pPr>
            <a:r>
              <a:rPr sz="1200" b="1" i="0">
                <a:solidFill>
                  <a:srgbClr val="E89A18"/>
                </a:solidFill>
                <a:latin typeface="Calibri"/>
              </a:rPr>
              <a:t>⚠ </a:t>
            </a:r>
            <a:r>
              <a:rPr sz="1100" b="0" i="0">
                <a:solidFill>
                  <a:srgbClr val="5C6B79"/>
                </a:solidFill>
                <a:latin typeface="Calibri"/>
              </a:rPr>
              <a:t>More manual styling than a one-prompt tool</a:t>
            </a:r>
          </a:p>
        </p:txBody>
      </p:sp>
      <p:sp>
        <p:nvSpPr>
          <p:cNvPr id="17" name="Rounded Rectangle 16"/>
          <p:cNvSpPr/>
          <p:nvPr/>
        </p:nvSpPr>
        <p:spPr>
          <a:xfrm>
            <a:off x="8074152" y="1874519"/>
            <a:ext cx="3429000" cy="24231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74152" y="1874519"/>
            <a:ext cx="3429000" cy="566928"/>
          </a:xfrm>
          <a:prstGeom prst="round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Copilot / Gemini</a:t>
            </a:r>
          </a:p>
          <a:p>
            <a:r>
              <a:rPr sz="950" b="0" i="0">
                <a:solidFill>
                  <a:srgbClr val="EAF3F8"/>
                </a:solidFill>
                <a:latin typeface="Calibri"/>
              </a:rPr>
              <a:t>Inside PowerPoint / Slides</a:t>
            </a:r>
          </a:p>
        </p:txBody>
      </p:sp>
      <p:sp>
        <p:nvSpPr>
          <p:cNvPr id="19" name="Rectangle 18"/>
          <p:cNvSpPr/>
          <p:nvPr/>
        </p:nvSpPr>
        <p:spPr>
          <a:xfrm>
            <a:off x="8074152" y="2157983"/>
            <a:ext cx="3429000" cy="283464"/>
          </a:xfrm>
          <a:prstGeom prst="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0456" y="2587751"/>
            <a:ext cx="3136392" cy="160020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Builds slides where you already work</a:t>
            </a:r>
          </a:p>
          <a:p>
            <a:pPr>
              <a:spcBef>
                <a:spcPts val="300"/>
              </a:spcBef>
              <a:spcAft>
                <a:spcPts val="0"/>
              </a:spcAft>
            </a:pPr>
            <a:r>
              <a:rPr sz="1200" b="1" i="0">
                <a:solidFill>
                  <a:srgbClr val="E89A18"/>
                </a:solidFill>
                <a:latin typeface="Calibri"/>
              </a:rPr>
              <a:t>⚠ </a:t>
            </a:r>
            <a:r>
              <a:rPr sz="1100" b="0" i="0">
                <a:solidFill>
                  <a:srgbClr val="5C6B79"/>
                </a:solidFill>
                <a:latin typeface="Calibri"/>
              </a:rPr>
              <a:t>Best features often need a paid plan</a:t>
            </a:r>
          </a:p>
        </p:txBody>
      </p:sp>
      <p:sp>
        <p:nvSpPr>
          <p:cNvPr id="21" name="Rounded Rectangle 20"/>
          <p:cNvSpPr/>
          <p:nvPr/>
        </p:nvSpPr>
        <p:spPr>
          <a:xfrm>
            <a:off x="685800" y="4526280"/>
            <a:ext cx="10817352" cy="1143000"/>
          </a:xfrm>
          <a:prstGeom prst="roundRect">
            <a:avLst/>
          </a:prstGeom>
          <a:solidFill>
            <a:srgbClr val="DD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5800" y="4526280"/>
            <a:ext cx="109728" cy="114300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4544568"/>
            <a:ext cx="10405872" cy="1143000"/>
          </a:xfrm>
          <a:prstGeom prst="rect">
            <a:avLst/>
          </a:prstGeom>
          <a:noFill/>
        </p:spPr>
        <p:txBody>
          <a:bodyPr wrap="square" anchor="ctr" lIns="0" rIns="0" tIns="0" bIns="0">
            <a:spAutoFit/>
          </a:bodyPr>
          <a:lstStyle/>
          <a:p>
            <a:pPr>
              <a:spcBef>
                <a:spcPts val="0"/>
              </a:spcBef>
              <a:spcAft>
                <a:spcPts val="600"/>
              </a:spcAft>
            </a:pPr>
            <a:r>
              <a:rPr sz="1300" b="1" i="0">
                <a:solidFill>
                  <a:srgbClr val="14B8B0"/>
                </a:solidFill>
                <a:latin typeface="Calibri"/>
              </a:rPr>
              <a:t>🎬  </a:t>
            </a:r>
            <a:r>
              <a:rPr sz="1150" b="0" i="0">
                <a:solidFill>
                  <a:srgbClr val="242D35"/>
                </a:solidFill>
                <a:latin typeface="Calibri"/>
              </a:rPr>
              <a:t>DEMO 1 up next: I'll paste a page of messy notes into Gamma and we'll watch it become a designed 8-slide deck in about 30 seconds — then restyle it with one click.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3200400"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0"/>
            <a:ext cx="2606040" cy="2011680"/>
          </a:xfrm>
          <a:prstGeom prst="rect">
            <a:avLst/>
          </a:prstGeom>
          <a:noFill/>
        </p:spPr>
        <p:txBody>
          <a:bodyPr wrap="square" anchor="t" lIns="0" rIns="0" tIns="0" bIns="0">
            <a:spAutoFit/>
          </a:bodyPr>
          <a:lstStyle/>
          <a:p>
            <a:pPr>
              <a:spcBef>
                <a:spcPts val="0"/>
              </a:spcBef>
              <a:spcAft>
                <a:spcPts val="200"/>
              </a:spcAft>
            </a:pPr>
            <a:r>
              <a:rPr sz="4600" b="1" i="0">
                <a:solidFill>
                  <a:srgbClr val="FFFFFF"/>
                </a:solidFill>
                <a:latin typeface="Calibri"/>
              </a:rPr>
              <a:t>🎬</a:t>
            </a:r>
          </a:p>
          <a:p>
            <a:pPr>
              <a:spcBef>
                <a:spcPts val="0"/>
              </a:spcBef>
              <a:spcAft>
                <a:spcPts val="200"/>
              </a:spcAft>
            </a:pPr>
            <a:r>
              <a:rPr sz="2000" b="1" i="0">
                <a:solidFill>
                  <a:srgbClr val="FFFFFF"/>
                </a:solidFill>
                <a:latin typeface="Calibri"/>
              </a:rPr>
              <a:t>LIVE DEMO 1</a:t>
            </a:r>
          </a:p>
        </p:txBody>
      </p:sp>
      <p:sp>
        <p:nvSpPr>
          <p:cNvPr id="4" name="TextBox 3"/>
          <p:cNvSpPr txBox="1"/>
          <p:nvPr/>
        </p:nvSpPr>
        <p:spPr>
          <a:xfrm>
            <a:off x="320040" y="2468880"/>
            <a:ext cx="2606040" cy="3474720"/>
          </a:xfrm>
          <a:prstGeom prst="rect">
            <a:avLst/>
          </a:prstGeom>
          <a:noFill/>
        </p:spPr>
        <p:txBody>
          <a:bodyPr wrap="square" anchor="t" lIns="0" rIns="0" tIns="0" bIns="0">
            <a:spAutoFit/>
          </a:bodyPr>
          <a:lstStyle/>
          <a:p>
            <a:pPr>
              <a:spcBef>
                <a:spcPts val="0"/>
              </a:spcBef>
              <a:spcAft>
                <a:spcPts val="400"/>
              </a:spcAft>
            </a:pPr>
            <a:r>
              <a:rPr sz="1500" b="1" i="0">
                <a:solidFill>
                  <a:srgbClr val="FFFFFF"/>
                </a:solidFill>
                <a:latin typeface="Calibri"/>
              </a:rPr>
              <a:t>Messy notes → a stunning slide deck</a:t>
            </a:r>
          </a:p>
        </p:txBody>
      </p:sp>
      <p:sp>
        <p:nvSpPr>
          <p:cNvPr id="5" name="Rounded Rectangle 4"/>
          <p:cNvSpPr/>
          <p:nvPr/>
        </p:nvSpPr>
        <p:spPr>
          <a:xfrm>
            <a:off x="320040" y="5806440"/>
            <a:ext cx="2011680" cy="41148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i="0">
                <a:solidFill>
                  <a:srgbClr val="FFFFFF"/>
                </a:solidFill>
                <a:latin typeface="Calibri"/>
              </a:rPr>
              <a:t>⏱  ~2 minutes</a:t>
            </a:r>
          </a:p>
        </p:txBody>
      </p:sp>
      <p:sp>
        <p:nvSpPr>
          <p:cNvPr id="6" name="Oval 5"/>
          <p:cNvSpPr/>
          <p:nvPr/>
        </p:nvSpPr>
        <p:spPr>
          <a:xfrm>
            <a:off x="3566160" y="640080"/>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640080"/>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1</a:t>
            </a:r>
          </a:p>
        </p:txBody>
      </p:sp>
      <p:sp>
        <p:nvSpPr>
          <p:cNvPr id="8" name="TextBox 7"/>
          <p:cNvSpPr txBox="1"/>
          <p:nvPr/>
        </p:nvSpPr>
        <p:spPr>
          <a:xfrm>
            <a:off x="4114800" y="621792"/>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Paste notes into Gamma</a:t>
            </a:r>
          </a:p>
          <a:p>
            <a:pPr>
              <a:spcBef>
                <a:spcPts val="0"/>
              </a:spcBef>
              <a:spcAft>
                <a:spcPts val="200"/>
              </a:spcAft>
            </a:pPr>
            <a:r>
              <a:rPr sz="1050" b="0" i="0">
                <a:solidFill>
                  <a:srgbClr val="5C6B79"/>
                </a:solidFill>
                <a:latin typeface="Calibri"/>
              </a:rPr>
              <a:t>Create new → 'Paste in text' → drop in the sleep notes</a:t>
            </a:r>
          </a:p>
        </p:txBody>
      </p:sp>
      <p:sp>
        <p:nvSpPr>
          <p:cNvPr id="9" name="Oval 8"/>
          <p:cNvSpPr/>
          <p:nvPr/>
        </p:nvSpPr>
        <p:spPr>
          <a:xfrm>
            <a:off x="3566160" y="1389888"/>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389888"/>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2</a:t>
            </a:r>
          </a:p>
        </p:txBody>
      </p:sp>
      <p:sp>
        <p:nvSpPr>
          <p:cNvPr id="11" name="TextBox 10"/>
          <p:cNvSpPr txBox="1"/>
          <p:nvPr/>
        </p:nvSpPr>
        <p:spPr>
          <a:xfrm>
            <a:off x="4114800" y="1371600"/>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Set 8 cards + tone, add the prompt</a:t>
            </a:r>
          </a:p>
          <a:p>
            <a:pPr>
              <a:spcBef>
                <a:spcPts val="0"/>
              </a:spcBef>
              <a:spcAft>
                <a:spcPts val="200"/>
              </a:spcAft>
            </a:pPr>
            <a:r>
              <a:rPr sz="1050" b="0" i="0">
                <a:solidFill>
                  <a:srgbClr val="5C6B79"/>
                </a:solidFill>
                <a:latin typeface="Calibri"/>
              </a:rPr>
              <a:t>Professional &amp; friendly; paste the instruction below</a:t>
            </a:r>
          </a:p>
        </p:txBody>
      </p:sp>
      <p:sp>
        <p:nvSpPr>
          <p:cNvPr id="12" name="Oval 11"/>
          <p:cNvSpPr/>
          <p:nvPr/>
        </p:nvSpPr>
        <p:spPr>
          <a:xfrm>
            <a:off x="3566160" y="2139696"/>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139696"/>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3</a:t>
            </a:r>
          </a:p>
        </p:txBody>
      </p:sp>
      <p:sp>
        <p:nvSpPr>
          <p:cNvPr id="14" name="TextBox 13"/>
          <p:cNvSpPr txBox="1"/>
          <p:nvPr/>
        </p:nvSpPr>
        <p:spPr>
          <a:xfrm>
            <a:off x="4114800" y="2121408"/>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Generate &amp; scroll</a:t>
            </a:r>
          </a:p>
          <a:p>
            <a:pPr>
              <a:spcBef>
                <a:spcPts val="0"/>
              </a:spcBef>
              <a:spcAft>
                <a:spcPts val="200"/>
              </a:spcAft>
            </a:pPr>
            <a:r>
              <a:rPr sz="1050" b="0" i="0">
                <a:solidFill>
                  <a:srgbClr val="5C6B79"/>
                </a:solidFill>
                <a:latin typeface="Calibri"/>
              </a:rPr>
              <a:t>~30 sec to a designed deck with images &amp; headlines</a:t>
            </a:r>
          </a:p>
        </p:txBody>
      </p:sp>
      <p:sp>
        <p:nvSpPr>
          <p:cNvPr id="15" name="Oval 14"/>
          <p:cNvSpPr/>
          <p:nvPr/>
        </p:nvSpPr>
        <p:spPr>
          <a:xfrm>
            <a:off x="3566160" y="2889504"/>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889504"/>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4</a:t>
            </a:r>
          </a:p>
        </p:txBody>
      </p:sp>
      <p:sp>
        <p:nvSpPr>
          <p:cNvPr id="17" name="TextBox 16"/>
          <p:cNvSpPr txBox="1"/>
          <p:nvPr/>
        </p:nvSpPr>
        <p:spPr>
          <a:xfrm>
            <a:off x="4114800" y="2871216"/>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Swap the Theme live</a:t>
            </a:r>
          </a:p>
          <a:p>
            <a:pPr>
              <a:spcBef>
                <a:spcPts val="0"/>
              </a:spcBef>
              <a:spcAft>
                <a:spcPts val="200"/>
              </a:spcAft>
            </a:pPr>
            <a:r>
              <a:rPr sz="1050" b="0" i="0">
                <a:solidFill>
                  <a:srgbClr val="5C6B79"/>
                </a:solidFill>
                <a:latin typeface="Calibri"/>
              </a:rPr>
              <a:t>Restyle the whole deck instantly to prove it's flexible</a:t>
            </a:r>
          </a:p>
        </p:txBody>
      </p:sp>
      <p:sp>
        <p:nvSpPr>
          <p:cNvPr id="18" name="Rounded Rectangle 17"/>
          <p:cNvSpPr/>
          <p:nvPr/>
        </p:nvSpPr>
        <p:spPr>
          <a:xfrm>
            <a:off x="3566160" y="3657600"/>
            <a:ext cx="7955279" cy="137160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66160" y="3657600"/>
            <a:ext cx="109728" cy="137160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2" y="3767328"/>
            <a:ext cx="7543799" cy="1188720"/>
          </a:xfrm>
          <a:prstGeom prst="rect">
            <a:avLst/>
          </a:prstGeom>
          <a:noFill/>
        </p:spPr>
        <p:txBody>
          <a:bodyPr wrap="square" anchor="t" lIns="0" rIns="0" tIns="0" bIns="0">
            <a:spAutoFit/>
          </a:bodyPr>
          <a:lstStyle/>
          <a:p>
            <a:pPr>
              <a:spcBef>
                <a:spcPts val="0"/>
              </a:spcBef>
              <a:spcAft>
                <a:spcPts val="400"/>
              </a:spcAft>
            </a:pPr>
            <a:r>
              <a:rPr sz="1000" b="1" i="0">
                <a:solidFill>
                  <a:srgbClr val="14B8B0"/>
                </a:solidFill>
                <a:latin typeface="Calibri"/>
              </a:rPr>
              <a:t>PROMPT (into Gamma instructions box):</a:t>
            </a:r>
          </a:p>
          <a:p>
            <a:pPr>
              <a:spcBef>
                <a:spcPts val="0"/>
              </a:spcBef>
              <a:spcAft>
                <a:spcPts val="100"/>
              </a:spcAft>
            </a:pPr>
            <a:r>
              <a:rPr sz="950" b="0" i="0">
                <a:solidFill>
                  <a:srgbClr val="E7EFF5"/>
                </a:solidFill>
                <a:latin typeface="Consolas"/>
              </a:rPr>
              <a:t>Turn my pasted notes into a clean, engaging 8-slide deck.</a:t>
            </a:r>
          </a:p>
          <a:p>
            <a:pPr>
              <a:spcBef>
                <a:spcPts val="0"/>
              </a:spcBef>
              <a:spcAft>
                <a:spcPts val="100"/>
              </a:spcAft>
            </a:pPr>
            <a:r>
              <a:rPr sz="950" b="0" i="0">
                <a:solidFill>
                  <a:srgbClr val="E7EFF5"/>
                </a:solidFill>
                <a:latin typeface="Consolas"/>
              </a:rPr>
              <a:t>One idea per slide, ≤6 words/bullet, add an image each,</a:t>
            </a:r>
          </a:p>
          <a:p>
            <a:pPr>
              <a:spcBef>
                <a:spcPts val="0"/>
              </a:spcBef>
              <a:spcAft>
                <a:spcPts val="100"/>
              </a:spcAft>
            </a:pPr>
            <a:r>
              <a:rPr sz="950" b="0" i="0">
                <a:solidFill>
                  <a:srgbClr val="E7EFF5"/>
                </a:solidFill>
                <a:latin typeface="Consolas"/>
              </a:rPr>
              <a:t>end with a '3 things to try tonight' slide. Don't invent stats.</a:t>
            </a:r>
          </a:p>
        </p:txBody>
      </p:sp>
      <p:sp>
        <p:nvSpPr>
          <p:cNvPr id="21" name="Rounded Rectangle 20"/>
          <p:cNvSpPr/>
          <p:nvPr/>
        </p:nvSpPr>
        <p:spPr>
          <a:xfrm>
            <a:off x="3566160" y="5120640"/>
            <a:ext cx="7955279" cy="658368"/>
          </a:xfrm>
          <a:prstGeom prst="roundRect">
            <a:avLst/>
          </a:prstGeom>
          <a:solidFill>
            <a:srgbClr val="DD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66160" y="5120640"/>
            <a:ext cx="109728" cy="658368"/>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2" y="5138928"/>
            <a:ext cx="7543799" cy="658368"/>
          </a:xfrm>
          <a:prstGeom prst="rect">
            <a:avLst/>
          </a:prstGeom>
          <a:noFill/>
        </p:spPr>
        <p:txBody>
          <a:bodyPr wrap="square" anchor="ctr" lIns="0" rIns="0" tIns="0" bIns="0">
            <a:spAutoFit/>
          </a:bodyPr>
          <a:lstStyle/>
          <a:p>
            <a:pPr>
              <a:spcBef>
                <a:spcPts val="0"/>
              </a:spcBef>
              <a:spcAft>
                <a:spcPts val="600"/>
              </a:spcAft>
            </a:pPr>
            <a:r>
              <a:rPr sz="1300" b="1" i="0">
                <a:solidFill>
                  <a:srgbClr val="14B8B0"/>
                </a:solidFill>
                <a:latin typeface="Calibri"/>
              </a:rPr>
              <a:t>🌟  </a:t>
            </a:r>
            <a:r>
              <a:rPr sz="1150" b="0" i="0">
                <a:solidFill>
                  <a:srgbClr val="242D35"/>
                </a:solidFill>
                <a:latin typeface="Calibri"/>
              </a:rPr>
              <a:t>WOW: a wall of text becomes a presentable deck in ~40 seconds. 'That's an afternoon of work, gone.'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2.2 AI FOR STUDENTS' STUDY</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Turn your notes into a personal tutor</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12</a:t>
            </a:r>
          </a:p>
        </p:txBody>
      </p:sp>
      <p:sp>
        <p:nvSpPr>
          <p:cNvPr id="9" name="Rounded Rectangle 8"/>
          <p:cNvSpPr/>
          <p:nvPr/>
        </p:nvSpPr>
        <p:spPr>
          <a:xfrm>
            <a:off x="685800" y="1965960"/>
            <a:ext cx="3429000" cy="50292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Summaries</a:t>
            </a:r>
          </a:p>
        </p:txBody>
      </p:sp>
      <p:sp>
        <p:nvSpPr>
          <p:cNvPr id="10" name="Rounded Rectangle 9"/>
          <p:cNvSpPr/>
          <p:nvPr/>
        </p:nvSpPr>
        <p:spPr>
          <a:xfrm>
            <a:off x="4297680" y="1965960"/>
            <a:ext cx="3429000" cy="50292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Quizzes</a:t>
            </a:r>
          </a:p>
        </p:txBody>
      </p:sp>
      <p:sp>
        <p:nvSpPr>
          <p:cNvPr id="11" name="Rounded Rectangle 10"/>
          <p:cNvSpPr/>
          <p:nvPr/>
        </p:nvSpPr>
        <p:spPr>
          <a:xfrm>
            <a:off x="7909560" y="1965960"/>
            <a:ext cx="3429000" cy="50292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Flashcards</a:t>
            </a:r>
          </a:p>
        </p:txBody>
      </p:sp>
      <p:sp>
        <p:nvSpPr>
          <p:cNvPr id="12" name="Rounded Rectangle 11"/>
          <p:cNvSpPr/>
          <p:nvPr/>
        </p:nvSpPr>
        <p:spPr>
          <a:xfrm>
            <a:off x="685800" y="2624328"/>
            <a:ext cx="3429000" cy="50292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Mind maps</a:t>
            </a:r>
          </a:p>
        </p:txBody>
      </p:sp>
      <p:sp>
        <p:nvSpPr>
          <p:cNvPr id="13" name="Rounded Rectangle 12"/>
          <p:cNvSpPr/>
          <p:nvPr/>
        </p:nvSpPr>
        <p:spPr>
          <a:xfrm>
            <a:off x="4297680" y="2624328"/>
            <a:ext cx="3429000" cy="50292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Audio Overview</a:t>
            </a:r>
          </a:p>
        </p:txBody>
      </p:sp>
      <p:sp>
        <p:nvSpPr>
          <p:cNvPr id="14" name="Rounded Rectangle 13"/>
          <p:cNvSpPr/>
          <p:nvPr/>
        </p:nvSpPr>
        <p:spPr>
          <a:xfrm>
            <a:off x="7909560" y="2624328"/>
            <a:ext cx="3429000" cy="50292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i="0">
                <a:solidFill>
                  <a:srgbClr val="FFFFFF"/>
                </a:solidFill>
                <a:latin typeface="Calibri"/>
              </a:rPr>
              <a:t>🧑‍🏫 Learning Guide</a:t>
            </a:r>
          </a:p>
        </p:txBody>
      </p:sp>
      <p:sp>
        <p:nvSpPr>
          <p:cNvPr id="15" name="Rounded Rectangle 14"/>
          <p:cNvSpPr/>
          <p:nvPr/>
        </p:nvSpPr>
        <p:spPr>
          <a:xfrm>
            <a:off x="685800" y="3429000"/>
            <a:ext cx="10817352" cy="914400"/>
          </a:xfrm>
          <a:prstGeom prst="roundRect">
            <a:avLst/>
          </a:prstGeom>
          <a:solidFill>
            <a:srgbClr val="DD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5800" y="3429000"/>
            <a:ext cx="109728" cy="91440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47288"/>
            <a:ext cx="10405872" cy="914400"/>
          </a:xfrm>
          <a:prstGeom prst="rect">
            <a:avLst/>
          </a:prstGeom>
          <a:noFill/>
        </p:spPr>
        <p:txBody>
          <a:bodyPr wrap="square" anchor="ctr" lIns="0" rIns="0" tIns="0" bIns="0">
            <a:spAutoFit/>
          </a:bodyPr>
          <a:lstStyle/>
          <a:p>
            <a:pPr>
              <a:spcBef>
                <a:spcPts val="0"/>
              </a:spcBef>
              <a:spcAft>
                <a:spcPts val="600"/>
              </a:spcAft>
            </a:pPr>
            <a:r>
              <a:rPr sz="1300" b="1" i="0">
                <a:solidFill>
                  <a:srgbClr val="14B8B0"/>
                </a:solidFill>
                <a:latin typeface="Calibri"/>
              </a:rPr>
              <a:t>🎯  </a:t>
            </a:r>
            <a:r>
              <a:rPr sz="1150" b="0" i="0">
                <a:solidFill>
                  <a:srgbClr val="242D35"/>
                </a:solidFill>
                <a:latin typeface="Calibri"/>
              </a:rPr>
              <a:t>NotebookLM (free, any Google account) answers ONLY from the sources you upload — and cites the exact line, so it rarely makes things up.</a:t>
            </a:r>
          </a:p>
        </p:txBody>
      </p:sp>
      <p:sp>
        <p:nvSpPr>
          <p:cNvPr id="18" name="Rounded Rectangle 17"/>
          <p:cNvSpPr/>
          <p:nvPr/>
        </p:nvSpPr>
        <p:spPr>
          <a:xfrm>
            <a:off x="685800" y="4526280"/>
            <a:ext cx="5303520" cy="141732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 y="4526280"/>
            <a:ext cx="5303520" cy="566928"/>
          </a:xfrm>
          <a:prstGeom prst="round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Alternatives</a:t>
            </a:r>
          </a:p>
          <a:p>
            <a:r>
              <a:rPr sz="950" b="0" i="0">
                <a:solidFill>
                  <a:srgbClr val="EAF3F8"/>
                </a:solidFill>
                <a:latin typeface="Calibri"/>
              </a:rPr>
              <a:t>For open-ended explaining</a:t>
            </a:r>
          </a:p>
        </p:txBody>
      </p:sp>
      <p:sp>
        <p:nvSpPr>
          <p:cNvPr id="20" name="Rectangle 19"/>
          <p:cNvSpPr/>
          <p:nvPr/>
        </p:nvSpPr>
        <p:spPr>
          <a:xfrm>
            <a:off x="685800" y="4809744"/>
            <a:ext cx="5303520" cy="283464"/>
          </a:xfrm>
          <a:prstGeom prst="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 y="5239512"/>
            <a:ext cx="5010912" cy="59436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ChatGPT / Gemini study modes for concepts &amp; Socratic tutoring</a:t>
            </a:r>
          </a:p>
          <a:p>
            <a:pPr>
              <a:spcBef>
                <a:spcPts val="300"/>
              </a:spcBef>
              <a:spcAft>
                <a:spcPts val="0"/>
              </a:spcAft>
            </a:pPr>
            <a:r>
              <a:rPr sz="1200" b="1" i="0">
                <a:solidFill>
                  <a:srgbClr val="E89A18"/>
                </a:solidFill>
                <a:latin typeface="Calibri"/>
              </a:rPr>
              <a:t>⚠ </a:t>
            </a:r>
            <a:r>
              <a:rPr sz="1100" b="0" i="0">
                <a:solidFill>
                  <a:srgbClr val="5C6B79"/>
                </a:solidFill>
                <a:latin typeface="Calibri"/>
              </a:rPr>
              <a:t>Not grounded in your notes — can hallucinate</a:t>
            </a:r>
          </a:p>
        </p:txBody>
      </p:sp>
      <p:sp>
        <p:nvSpPr>
          <p:cNvPr id="22" name="Rounded Rectangle 21"/>
          <p:cNvSpPr/>
          <p:nvPr/>
        </p:nvSpPr>
        <p:spPr>
          <a:xfrm>
            <a:off x="6199632" y="4526280"/>
            <a:ext cx="5303520" cy="1417320"/>
          </a:xfrm>
          <a:prstGeom prst="roundRect">
            <a:avLst/>
          </a:prstGeom>
          <a:solidFill>
            <a:srgbClr val="FBF1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99632" y="4526280"/>
            <a:ext cx="109728" cy="1417320"/>
          </a:xfrm>
          <a:prstGeom prst="roundRect">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5664" y="4544568"/>
            <a:ext cx="4892040" cy="1417320"/>
          </a:xfrm>
          <a:prstGeom prst="rect">
            <a:avLst/>
          </a:prstGeom>
          <a:noFill/>
        </p:spPr>
        <p:txBody>
          <a:bodyPr wrap="square" anchor="ctr" lIns="0" rIns="0" tIns="0" bIns="0">
            <a:spAutoFit/>
          </a:bodyPr>
          <a:lstStyle/>
          <a:p>
            <a:pPr>
              <a:spcBef>
                <a:spcPts val="0"/>
              </a:spcBef>
              <a:spcAft>
                <a:spcPts val="600"/>
              </a:spcAft>
            </a:pPr>
            <a:r>
              <a:rPr sz="1300" b="1" i="0">
                <a:solidFill>
                  <a:srgbClr val="E89A18"/>
                </a:solidFill>
                <a:latin typeface="Calibri"/>
              </a:rPr>
              <a:t>⚠️  </a:t>
            </a:r>
            <a:r>
              <a:rPr sz="1150" b="0" i="0">
                <a:solidFill>
                  <a:srgbClr val="242D35"/>
                </a:solidFill>
                <a:latin typeface="Calibri"/>
              </a:rPr>
              <a:t>Grounded in what you give it: great sources in = great study out. Rubbish in = rubbish out.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3200400"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0"/>
            <a:ext cx="2606040" cy="2011680"/>
          </a:xfrm>
          <a:prstGeom prst="rect">
            <a:avLst/>
          </a:prstGeom>
          <a:noFill/>
        </p:spPr>
        <p:txBody>
          <a:bodyPr wrap="square" anchor="t" lIns="0" rIns="0" tIns="0" bIns="0">
            <a:spAutoFit/>
          </a:bodyPr>
          <a:lstStyle/>
          <a:p>
            <a:pPr>
              <a:spcBef>
                <a:spcPts val="0"/>
              </a:spcBef>
              <a:spcAft>
                <a:spcPts val="200"/>
              </a:spcAft>
            </a:pPr>
            <a:r>
              <a:rPr sz="4600" b="1" i="0">
                <a:solidFill>
                  <a:srgbClr val="FFFFFF"/>
                </a:solidFill>
                <a:latin typeface="Calibri"/>
              </a:rPr>
              <a:t>🎬</a:t>
            </a:r>
          </a:p>
          <a:p>
            <a:pPr>
              <a:spcBef>
                <a:spcPts val="0"/>
              </a:spcBef>
              <a:spcAft>
                <a:spcPts val="200"/>
              </a:spcAft>
            </a:pPr>
            <a:r>
              <a:rPr sz="2000" b="1" i="0">
                <a:solidFill>
                  <a:srgbClr val="FFFFFF"/>
                </a:solidFill>
                <a:latin typeface="Calibri"/>
              </a:rPr>
              <a:t>LIVE DEMO 2</a:t>
            </a:r>
          </a:p>
        </p:txBody>
      </p:sp>
      <p:sp>
        <p:nvSpPr>
          <p:cNvPr id="4" name="TextBox 3"/>
          <p:cNvSpPr txBox="1"/>
          <p:nvPr/>
        </p:nvSpPr>
        <p:spPr>
          <a:xfrm>
            <a:off x="320040" y="2468880"/>
            <a:ext cx="2606040" cy="3474720"/>
          </a:xfrm>
          <a:prstGeom prst="rect">
            <a:avLst/>
          </a:prstGeom>
          <a:noFill/>
        </p:spPr>
        <p:txBody>
          <a:bodyPr wrap="square" anchor="t" lIns="0" rIns="0" tIns="0" bIns="0">
            <a:spAutoFit/>
          </a:bodyPr>
          <a:lstStyle/>
          <a:p>
            <a:pPr>
              <a:spcBef>
                <a:spcPts val="0"/>
              </a:spcBef>
              <a:spcAft>
                <a:spcPts val="400"/>
              </a:spcAft>
            </a:pPr>
            <a:r>
              <a:rPr sz="1500" b="1" i="0">
                <a:solidFill>
                  <a:srgbClr val="FFFFFF"/>
                </a:solidFill>
                <a:latin typeface="Calibri"/>
              </a:rPr>
              <a:t>Your study notes become a quiz + a podcast</a:t>
            </a:r>
          </a:p>
        </p:txBody>
      </p:sp>
      <p:sp>
        <p:nvSpPr>
          <p:cNvPr id="5" name="Rounded Rectangle 4"/>
          <p:cNvSpPr/>
          <p:nvPr/>
        </p:nvSpPr>
        <p:spPr>
          <a:xfrm>
            <a:off x="320040" y="5806440"/>
            <a:ext cx="2011680" cy="41148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i="0">
                <a:solidFill>
                  <a:srgbClr val="FFFFFF"/>
                </a:solidFill>
                <a:latin typeface="Calibri"/>
              </a:rPr>
              <a:t>⏱  ~2 minutes</a:t>
            </a:r>
          </a:p>
        </p:txBody>
      </p:sp>
      <p:sp>
        <p:nvSpPr>
          <p:cNvPr id="6" name="Oval 5"/>
          <p:cNvSpPr/>
          <p:nvPr/>
        </p:nvSpPr>
        <p:spPr>
          <a:xfrm>
            <a:off x="3566160" y="640080"/>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640080"/>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1</a:t>
            </a:r>
          </a:p>
        </p:txBody>
      </p:sp>
      <p:sp>
        <p:nvSpPr>
          <p:cNvPr id="8" name="TextBox 7"/>
          <p:cNvSpPr txBox="1"/>
          <p:nvPr/>
        </p:nvSpPr>
        <p:spPr>
          <a:xfrm>
            <a:off x="4114800" y="621792"/>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Upload a reading</a:t>
            </a:r>
          </a:p>
          <a:p>
            <a:pPr>
              <a:spcBef>
                <a:spcPts val="0"/>
              </a:spcBef>
              <a:spcAft>
                <a:spcPts val="200"/>
              </a:spcAft>
            </a:pPr>
            <a:r>
              <a:rPr sz="1050" b="0" i="0">
                <a:solidFill>
                  <a:srgbClr val="5C6B79"/>
                </a:solidFill>
                <a:latin typeface="Calibri"/>
              </a:rPr>
              <a:t>'How Memory Works' explainer → new NotebookLM notebook</a:t>
            </a:r>
          </a:p>
        </p:txBody>
      </p:sp>
      <p:sp>
        <p:nvSpPr>
          <p:cNvPr id="9" name="Oval 8"/>
          <p:cNvSpPr/>
          <p:nvPr/>
        </p:nvSpPr>
        <p:spPr>
          <a:xfrm>
            <a:off x="3566160" y="1389888"/>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389888"/>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2</a:t>
            </a:r>
          </a:p>
        </p:txBody>
      </p:sp>
      <p:sp>
        <p:nvSpPr>
          <p:cNvPr id="11" name="TextBox 10"/>
          <p:cNvSpPr txBox="1"/>
          <p:nvPr/>
        </p:nvSpPr>
        <p:spPr>
          <a:xfrm>
            <a:off x="4114800" y="1371600"/>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Generate a quiz / study guide</a:t>
            </a:r>
          </a:p>
          <a:p>
            <a:pPr>
              <a:spcBef>
                <a:spcPts val="0"/>
              </a:spcBef>
              <a:spcAft>
                <a:spcPts val="200"/>
              </a:spcAft>
            </a:pPr>
            <a:r>
              <a:rPr sz="1050" b="0" i="0">
                <a:solidFill>
                  <a:srgbClr val="5C6B79"/>
                </a:solidFill>
                <a:latin typeface="Calibri"/>
              </a:rPr>
              <a:t>One click in Studio; read a question aloud</a:t>
            </a:r>
          </a:p>
        </p:txBody>
      </p:sp>
      <p:sp>
        <p:nvSpPr>
          <p:cNvPr id="12" name="Oval 11"/>
          <p:cNvSpPr/>
          <p:nvPr/>
        </p:nvSpPr>
        <p:spPr>
          <a:xfrm>
            <a:off x="3566160" y="2139696"/>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139696"/>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3</a:t>
            </a:r>
          </a:p>
        </p:txBody>
      </p:sp>
      <p:sp>
        <p:nvSpPr>
          <p:cNvPr id="14" name="TextBox 13"/>
          <p:cNvSpPr txBox="1"/>
          <p:nvPr/>
        </p:nvSpPr>
        <p:spPr>
          <a:xfrm>
            <a:off x="4114800" y="2121408"/>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Ask a question in chat</a:t>
            </a:r>
          </a:p>
          <a:p>
            <a:pPr>
              <a:spcBef>
                <a:spcPts val="0"/>
              </a:spcBef>
              <a:spcAft>
                <a:spcPts val="200"/>
              </a:spcAft>
            </a:pPr>
            <a:r>
              <a:rPr sz="1050" b="0" i="0">
                <a:solidFill>
                  <a:srgbClr val="5C6B79"/>
                </a:solidFill>
                <a:latin typeface="Calibri"/>
              </a:rPr>
              <a:t>Show the cited, grounded answer — no hallucination</a:t>
            </a:r>
          </a:p>
        </p:txBody>
      </p:sp>
      <p:sp>
        <p:nvSpPr>
          <p:cNvPr id="15" name="Oval 14"/>
          <p:cNvSpPr/>
          <p:nvPr/>
        </p:nvSpPr>
        <p:spPr>
          <a:xfrm>
            <a:off x="3566160" y="2889504"/>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889504"/>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4</a:t>
            </a:r>
          </a:p>
        </p:txBody>
      </p:sp>
      <p:sp>
        <p:nvSpPr>
          <p:cNvPr id="17" name="TextBox 16"/>
          <p:cNvSpPr txBox="1"/>
          <p:nvPr/>
        </p:nvSpPr>
        <p:spPr>
          <a:xfrm>
            <a:off x="4114800" y="2871216"/>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Play the Audio Overview</a:t>
            </a:r>
          </a:p>
          <a:p>
            <a:pPr>
              <a:spcBef>
                <a:spcPts val="0"/>
              </a:spcBef>
              <a:spcAft>
                <a:spcPts val="200"/>
              </a:spcAft>
            </a:pPr>
            <a:r>
              <a:rPr sz="1050" b="0" i="0">
                <a:solidFill>
                  <a:srgbClr val="5C6B79"/>
                </a:solidFill>
                <a:latin typeface="Calibri"/>
              </a:rPr>
              <a:t>Pre-generated! 15–20 sec of two AI hosts on your notes</a:t>
            </a:r>
          </a:p>
        </p:txBody>
      </p:sp>
      <p:sp>
        <p:nvSpPr>
          <p:cNvPr id="18" name="Rounded Rectangle 17"/>
          <p:cNvSpPr/>
          <p:nvPr/>
        </p:nvSpPr>
        <p:spPr>
          <a:xfrm>
            <a:off x="3566160" y="3657600"/>
            <a:ext cx="7955279" cy="137160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66160" y="3657600"/>
            <a:ext cx="109728" cy="137160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2" y="3767328"/>
            <a:ext cx="7543799" cy="1188720"/>
          </a:xfrm>
          <a:prstGeom prst="rect">
            <a:avLst/>
          </a:prstGeom>
          <a:noFill/>
        </p:spPr>
        <p:txBody>
          <a:bodyPr wrap="square" anchor="t" lIns="0" rIns="0" tIns="0" bIns="0">
            <a:spAutoFit/>
          </a:bodyPr>
          <a:lstStyle/>
          <a:p>
            <a:pPr>
              <a:spcBef>
                <a:spcPts val="0"/>
              </a:spcBef>
              <a:spcAft>
                <a:spcPts val="400"/>
              </a:spcAft>
            </a:pPr>
            <a:r>
              <a:rPr sz="1000" b="1" i="0">
                <a:solidFill>
                  <a:srgbClr val="14B8B0"/>
                </a:solidFill>
                <a:latin typeface="Calibri"/>
              </a:rPr>
              <a:t>PROMPT (into NotebookLM chat):</a:t>
            </a:r>
          </a:p>
          <a:p>
            <a:pPr>
              <a:spcBef>
                <a:spcPts val="0"/>
              </a:spcBef>
              <a:spcAft>
                <a:spcPts val="100"/>
              </a:spcAft>
            </a:pPr>
            <a:r>
              <a:rPr sz="950" b="0" i="0">
                <a:solidFill>
                  <a:srgbClr val="E7EFF5"/>
                </a:solidFill>
                <a:latin typeface="Consolas"/>
              </a:rPr>
              <a:t>Make a 5-question self-test that gets progressively harder,</a:t>
            </a:r>
          </a:p>
          <a:p>
            <a:pPr>
              <a:spcBef>
                <a:spcPts val="0"/>
              </a:spcBef>
              <a:spcAft>
                <a:spcPts val="100"/>
              </a:spcAft>
            </a:pPr>
            <a:r>
              <a:rPr sz="950" b="0" i="0">
                <a:solidFill>
                  <a:srgbClr val="E7EFF5"/>
                </a:solidFill>
                <a:latin typeface="Consolas"/>
              </a:rPr>
              <a:t>hide answers below a line, focus on likely exam concepts,</a:t>
            </a:r>
          </a:p>
          <a:p>
            <a:pPr>
              <a:spcBef>
                <a:spcPts val="0"/>
              </a:spcBef>
              <a:spcAft>
                <a:spcPts val="100"/>
              </a:spcAft>
            </a:pPr>
            <a:r>
              <a:rPr sz="950" b="0" i="0">
                <a:solidFill>
                  <a:srgbClr val="E7EFF5"/>
                </a:solidFill>
                <a:latin typeface="Consolas"/>
              </a:rPr>
              <a:t>and cite the section each question comes from.</a:t>
            </a:r>
          </a:p>
        </p:txBody>
      </p:sp>
      <p:sp>
        <p:nvSpPr>
          <p:cNvPr id="21" name="Rounded Rectangle 20"/>
          <p:cNvSpPr/>
          <p:nvPr/>
        </p:nvSpPr>
        <p:spPr>
          <a:xfrm>
            <a:off x="3566160" y="5120640"/>
            <a:ext cx="7955279" cy="658368"/>
          </a:xfrm>
          <a:prstGeom prst="roundRect">
            <a:avLst/>
          </a:prstGeom>
          <a:solidFill>
            <a:srgbClr val="DD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66160" y="5120640"/>
            <a:ext cx="109728" cy="658368"/>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2" y="5138928"/>
            <a:ext cx="7543799" cy="658368"/>
          </a:xfrm>
          <a:prstGeom prst="rect">
            <a:avLst/>
          </a:prstGeom>
          <a:noFill/>
        </p:spPr>
        <p:txBody>
          <a:bodyPr wrap="square" anchor="ctr" lIns="0" rIns="0" tIns="0" bIns="0">
            <a:spAutoFit/>
          </a:bodyPr>
          <a:lstStyle/>
          <a:p>
            <a:pPr>
              <a:spcBef>
                <a:spcPts val="0"/>
              </a:spcBef>
              <a:spcAft>
                <a:spcPts val="600"/>
              </a:spcAft>
            </a:pPr>
            <a:r>
              <a:rPr sz="1300" b="1" i="0">
                <a:solidFill>
                  <a:srgbClr val="14B8B0"/>
                </a:solidFill>
                <a:latin typeface="Calibri"/>
              </a:rPr>
              <a:t>🌟  </a:t>
            </a:r>
            <a:r>
              <a:rPr sz="1150" b="0" i="0">
                <a:solidFill>
                  <a:srgbClr val="242D35"/>
                </a:solidFill>
                <a:latin typeface="Calibri"/>
              </a:rPr>
              <a:t>WOW: your own lecture notes, playing back as a natural two-host podcast. Pre-generate this before the session!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2.3 EMAIL · SCHEDULING · MEETINGS</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Cut the inbox–calendar busywork</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14</a:t>
            </a:r>
          </a:p>
        </p:txBody>
      </p:sp>
      <p:sp>
        <p:nvSpPr>
          <p:cNvPr id="9" name="Rounded Rectangle 8"/>
          <p:cNvSpPr/>
          <p:nvPr/>
        </p:nvSpPr>
        <p:spPr>
          <a:xfrm>
            <a:off x="685800" y="1874519"/>
            <a:ext cx="5303520" cy="292608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874519"/>
            <a:ext cx="5303520" cy="548640"/>
          </a:xfrm>
          <a:prstGeom prst="round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148840"/>
            <a:ext cx="5303520" cy="27432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74519"/>
            <a:ext cx="530352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i="0">
                <a:solidFill>
                  <a:srgbClr val="FFFFFF"/>
                </a:solidFill>
                <a:latin typeface="Calibri"/>
              </a:rPr>
              <a:t>✓  Free personal account</a:t>
            </a:r>
          </a:p>
        </p:txBody>
      </p:sp>
      <p:sp>
        <p:nvSpPr>
          <p:cNvPr id="13" name="TextBox 12"/>
          <p:cNvSpPr txBox="1"/>
          <p:nvPr/>
        </p:nvSpPr>
        <p:spPr>
          <a:xfrm>
            <a:off x="914400" y="2606040"/>
            <a:ext cx="4937760" cy="2103120"/>
          </a:xfrm>
          <a:prstGeom prst="rect">
            <a:avLst/>
          </a:prstGeom>
          <a:noFill/>
        </p:spPr>
        <p:txBody>
          <a:bodyPr wrap="square" anchor="t" lIns="0" rIns="0" tIns="0" bIns="0">
            <a:spAutoFit/>
          </a:bodyPr>
          <a:lstStyle/>
          <a:p>
            <a:pPr>
              <a:spcBef>
                <a:spcPts val="0"/>
              </a:spcBef>
              <a:spcAft>
                <a:spcPts val="900"/>
              </a:spcAft>
            </a:pPr>
            <a:r>
              <a:rPr sz="1250" b="1" i="0">
                <a:solidFill>
                  <a:srgbClr val="14B8B0"/>
                </a:solidFill>
                <a:latin typeface="Calibri"/>
              </a:rPr>
              <a:t>●  </a:t>
            </a:r>
            <a:r>
              <a:rPr sz="1250" b="0" i="0">
                <a:solidFill>
                  <a:srgbClr val="242D35"/>
                </a:solidFill>
                <a:latin typeface="Calibri"/>
              </a:rPr>
              <a:t>Gmail 'Help me write' drafts &amp; replies</a:t>
            </a:r>
          </a:p>
          <a:p>
            <a:pPr>
              <a:spcBef>
                <a:spcPts val="0"/>
              </a:spcBef>
              <a:spcAft>
                <a:spcPts val="900"/>
              </a:spcAft>
            </a:pPr>
            <a:r>
              <a:rPr sz="1250" b="1" i="0">
                <a:solidFill>
                  <a:srgbClr val="14B8B0"/>
                </a:solidFill>
                <a:latin typeface="Calibri"/>
              </a:rPr>
              <a:t>●  </a:t>
            </a:r>
            <a:r>
              <a:rPr sz="1250" b="0" i="0">
                <a:solidFill>
                  <a:srgbClr val="242D35"/>
                </a:solidFill>
                <a:latin typeface="Calibri"/>
              </a:rPr>
              <a:t>Email date → one-tap 'Add to Calendar'</a:t>
            </a:r>
          </a:p>
          <a:p>
            <a:pPr>
              <a:spcBef>
                <a:spcPts val="0"/>
              </a:spcBef>
              <a:spcAft>
                <a:spcPts val="900"/>
              </a:spcAft>
            </a:pPr>
            <a:r>
              <a:rPr sz="1250" b="1" i="0">
                <a:solidFill>
                  <a:srgbClr val="14B8B0"/>
                </a:solidFill>
                <a:latin typeface="Calibri"/>
              </a:rPr>
              <a:t>●  </a:t>
            </a:r>
            <a:r>
              <a:rPr sz="1250" b="0" i="0">
                <a:solidFill>
                  <a:srgbClr val="242D35"/>
                </a:solidFill>
                <a:latin typeface="Calibri"/>
              </a:rPr>
              <a:t>Create Google Meet links in Calendar</a:t>
            </a:r>
          </a:p>
          <a:p>
            <a:pPr>
              <a:spcBef>
                <a:spcPts val="0"/>
              </a:spcBef>
              <a:spcAft>
                <a:spcPts val="900"/>
              </a:spcAft>
            </a:pPr>
            <a:r>
              <a:rPr sz="1250" b="1" i="0">
                <a:solidFill>
                  <a:srgbClr val="14B8B0"/>
                </a:solidFill>
                <a:latin typeface="Calibri"/>
              </a:rPr>
              <a:t>●  </a:t>
            </a:r>
            <a:r>
              <a:rPr sz="1250" b="0" i="0">
                <a:solidFill>
                  <a:srgbClr val="242D35"/>
                </a:solidFill>
                <a:latin typeface="Calibri"/>
              </a:rPr>
              <a:t>Gemini app: summarise, draft, prep agendas</a:t>
            </a:r>
          </a:p>
        </p:txBody>
      </p:sp>
      <p:sp>
        <p:nvSpPr>
          <p:cNvPr id="14" name="Rounded Rectangle 13"/>
          <p:cNvSpPr/>
          <p:nvPr/>
        </p:nvSpPr>
        <p:spPr>
          <a:xfrm>
            <a:off x="6199632" y="1874519"/>
            <a:ext cx="5303520" cy="292608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99632" y="1874519"/>
            <a:ext cx="5303520" cy="548640"/>
          </a:xfrm>
          <a:prstGeom prst="roundRect">
            <a:avLst/>
          </a:prstGeom>
          <a:solidFill>
            <a:srgbClr val="5C6B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i="0">
                <a:solidFill>
                  <a:srgbClr val="FFFFFF"/>
                </a:solidFill>
                <a:latin typeface="Calibri"/>
              </a:rPr>
              <a:t>＄  Paid Workspace only</a:t>
            </a:r>
          </a:p>
        </p:txBody>
      </p:sp>
      <p:sp>
        <p:nvSpPr>
          <p:cNvPr id="16" name="Rectangle 15"/>
          <p:cNvSpPr/>
          <p:nvPr/>
        </p:nvSpPr>
        <p:spPr>
          <a:xfrm>
            <a:off x="6199632" y="2148840"/>
            <a:ext cx="5303520" cy="274320"/>
          </a:xfrm>
          <a:prstGeom prst="rect">
            <a:avLst/>
          </a:prstGeom>
          <a:solidFill>
            <a:srgbClr val="5C6B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2606040"/>
            <a:ext cx="4937760" cy="2103120"/>
          </a:xfrm>
          <a:prstGeom prst="rect">
            <a:avLst/>
          </a:prstGeom>
          <a:noFill/>
        </p:spPr>
        <p:txBody>
          <a:bodyPr wrap="square" anchor="t" lIns="0" rIns="0" tIns="0" bIns="0">
            <a:spAutoFit/>
          </a:bodyPr>
          <a:lstStyle/>
          <a:p>
            <a:pPr>
              <a:spcBef>
                <a:spcPts val="0"/>
              </a:spcBef>
              <a:spcAft>
                <a:spcPts val="900"/>
              </a:spcAft>
            </a:pPr>
            <a:r>
              <a:rPr sz="1250" b="1" i="0">
                <a:solidFill>
                  <a:srgbClr val="14B8B0"/>
                </a:solidFill>
                <a:latin typeface="Calibri"/>
              </a:rPr>
              <a:t>●  </a:t>
            </a:r>
            <a:r>
              <a:rPr sz="1250" b="0" i="0">
                <a:solidFill>
                  <a:srgbClr val="242D35"/>
                </a:solidFill>
                <a:latin typeface="Calibri"/>
              </a:rPr>
              <a:t>Auto-suggest times across colleagues' calendars</a:t>
            </a:r>
          </a:p>
          <a:p>
            <a:pPr>
              <a:spcBef>
                <a:spcPts val="0"/>
              </a:spcBef>
              <a:spcAft>
                <a:spcPts val="900"/>
              </a:spcAft>
            </a:pPr>
            <a:r>
              <a:rPr sz="1250" b="1" i="0">
                <a:solidFill>
                  <a:srgbClr val="14B8B0"/>
                </a:solidFill>
                <a:latin typeface="Calibri"/>
              </a:rPr>
              <a:t>●  </a:t>
            </a:r>
            <a:r>
              <a:rPr sz="1250" b="0" i="0">
                <a:solidFill>
                  <a:srgbClr val="242D35"/>
                </a:solidFill>
                <a:latin typeface="Calibri"/>
              </a:rPr>
              <a:t>'Take notes for me' transcription in Meet</a:t>
            </a:r>
          </a:p>
          <a:p>
            <a:pPr>
              <a:spcBef>
                <a:spcPts val="0"/>
              </a:spcBef>
              <a:spcAft>
                <a:spcPts val="900"/>
              </a:spcAft>
            </a:pPr>
            <a:r>
              <a:rPr sz="1250" b="1" i="0">
                <a:solidFill>
                  <a:srgbClr val="14B8B0"/>
                </a:solidFill>
                <a:latin typeface="Calibri"/>
              </a:rPr>
              <a:t>●  </a:t>
            </a:r>
            <a:r>
              <a:rPr sz="1250" b="0" i="0">
                <a:solidFill>
                  <a:srgbClr val="242D35"/>
                </a:solidFill>
                <a:latin typeface="Calibri"/>
              </a:rPr>
              <a:t>'Ask Gemini' live during a meeting</a:t>
            </a:r>
          </a:p>
        </p:txBody>
      </p:sp>
      <p:sp>
        <p:nvSpPr>
          <p:cNvPr id="18" name="Rounded Rectangle 17"/>
          <p:cNvSpPr/>
          <p:nvPr/>
        </p:nvSpPr>
        <p:spPr>
          <a:xfrm>
            <a:off x="685800" y="4983480"/>
            <a:ext cx="10817352" cy="777240"/>
          </a:xfrm>
          <a:prstGeom prst="roundRect">
            <a:avLst/>
          </a:prstGeom>
          <a:solidFill>
            <a:srgbClr val="DF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 y="4983480"/>
            <a:ext cx="109728" cy="77724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5001768"/>
            <a:ext cx="10405872" cy="777240"/>
          </a:xfrm>
          <a:prstGeom prst="rect">
            <a:avLst/>
          </a:prstGeom>
          <a:noFill/>
        </p:spPr>
        <p:txBody>
          <a:bodyPr wrap="square" anchor="ctr" lIns="0" rIns="0" tIns="0" bIns="0">
            <a:spAutoFit/>
          </a:bodyPr>
          <a:lstStyle/>
          <a:p>
            <a:pPr>
              <a:spcBef>
                <a:spcPts val="0"/>
              </a:spcBef>
              <a:spcAft>
                <a:spcPts val="600"/>
              </a:spcAft>
            </a:pPr>
            <a:r>
              <a:rPr sz="1300" b="1" i="0">
                <a:solidFill>
                  <a:srgbClr val="1E6FB8"/>
                </a:solidFill>
                <a:latin typeface="Calibri"/>
              </a:rPr>
              <a:t>🎬  </a:t>
            </a:r>
            <a:r>
              <a:rPr sz="1150" b="0" i="0">
                <a:solidFill>
                  <a:srgbClr val="242D35"/>
                </a:solidFill>
                <a:latin typeface="Calibri"/>
              </a:rPr>
              <a:t>DEMO 3: draft → calendar event → Meet link, end-to-end, using only a FREE account with the Gemini app as the glue.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320040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0"/>
            <a:ext cx="2606040" cy="2011680"/>
          </a:xfrm>
          <a:prstGeom prst="rect">
            <a:avLst/>
          </a:prstGeom>
          <a:noFill/>
        </p:spPr>
        <p:txBody>
          <a:bodyPr wrap="square" anchor="t" lIns="0" rIns="0" tIns="0" bIns="0">
            <a:spAutoFit/>
          </a:bodyPr>
          <a:lstStyle/>
          <a:p>
            <a:pPr>
              <a:spcBef>
                <a:spcPts val="0"/>
              </a:spcBef>
              <a:spcAft>
                <a:spcPts val="200"/>
              </a:spcAft>
            </a:pPr>
            <a:r>
              <a:rPr sz="4600" b="1" i="0">
                <a:solidFill>
                  <a:srgbClr val="FFFFFF"/>
                </a:solidFill>
                <a:latin typeface="Calibri"/>
              </a:rPr>
              <a:t>🎬</a:t>
            </a:r>
          </a:p>
          <a:p>
            <a:pPr>
              <a:spcBef>
                <a:spcPts val="0"/>
              </a:spcBef>
              <a:spcAft>
                <a:spcPts val="200"/>
              </a:spcAft>
            </a:pPr>
            <a:r>
              <a:rPr sz="2000" b="1" i="0">
                <a:solidFill>
                  <a:srgbClr val="FFFFFF"/>
                </a:solidFill>
                <a:latin typeface="Calibri"/>
              </a:rPr>
              <a:t>LIVE DEMO 3</a:t>
            </a:r>
          </a:p>
        </p:txBody>
      </p:sp>
      <p:sp>
        <p:nvSpPr>
          <p:cNvPr id="4" name="TextBox 3"/>
          <p:cNvSpPr txBox="1"/>
          <p:nvPr/>
        </p:nvSpPr>
        <p:spPr>
          <a:xfrm>
            <a:off x="320040" y="2468880"/>
            <a:ext cx="2606040" cy="3474720"/>
          </a:xfrm>
          <a:prstGeom prst="rect">
            <a:avLst/>
          </a:prstGeom>
          <a:noFill/>
        </p:spPr>
        <p:txBody>
          <a:bodyPr wrap="square" anchor="t" lIns="0" rIns="0" tIns="0" bIns="0">
            <a:spAutoFit/>
          </a:bodyPr>
          <a:lstStyle/>
          <a:p>
            <a:pPr>
              <a:spcBef>
                <a:spcPts val="0"/>
              </a:spcBef>
              <a:spcAft>
                <a:spcPts val="400"/>
              </a:spcAft>
            </a:pPr>
            <a:r>
              <a:rPr sz="1500" b="1" i="0">
                <a:solidFill>
                  <a:srgbClr val="FFFFFF"/>
                </a:solidFill>
                <a:latin typeface="Calibri"/>
              </a:rPr>
              <a:t>Gmail + Calendar + Meet, end-to-end (free)</a:t>
            </a:r>
          </a:p>
        </p:txBody>
      </p:sp>
      <p:sp>
        <p:nvSpPr>
          <p:cNvPr id="5" name="Rounded Rectangle 4"/>
          <p:cNvSpPr/>
          <p:nvPr/>
        </p:nvSpPr>
        <p:spPr>
          <a:xfrm>
            <a:off x="320040" y="5806440"/>
            <a:ext cx="2011680" cy="41148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i="0">
                <a:solidFill>
                  <a:srgbClr val="FFFFFF"/>
                </a:solidFill>
                <a:latin typeface="Calibri"/>
              </a:rPr>
              <a:t>⏱  ~2 minutes</a:t>
            </a:r>
          </a:p>
        </p:txBody>
      </p:sp>
      <p:sp>
        <p:nvSpPr>
          <p:cNvPr id="6" name="Oval 5"/>
          <p:cNvSpPr/>
          <p:nvPr/>
        </p:nvSpPr>
        <p:spPr>
          <a:xfrm>
            <a:off x="3566160" y="640080"/>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640080"/>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1</a:t>
            </a:r>
          </a:p>
        </p:txBody>
      </p:sp>
      <p:sp>
        <p:nvSpPr>
          <p:cNvPr id="8" name="TextBox 7"/>
          <p:cNvSpPr txBox="1"/>
          <p:nvPr/>
        </p:nvSpPr>
        <p:spPr>
          <a:xfrm>
            <a:off x="4114800" y="621792"/>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Draft the invite in Gemini</a:t>
            </a:r>
          </a:p>
          <a:p>
            <a:pPr>
              <a:spcBef>
                <a:spcPts val="0"/>
              </a:spcBef>
              <a:spcAft>
                <a:spcPts val="200"/>
              </a:spcAft>
            </a:pPr>
            <a:r>
              <a:rPr sz="1050" b="0" i="0">
                <a:solidFill>
                  <a:srgbClr val="5C6B79"/>
                </a:solidFill>
                <a:latin typeface="Calibri"/>
              </a:rPr>
              <a:t>Paste Prompt A → a clean, warm invitation in seconds</a:t>
            </a:r>
          </a:p>
        </p:txBody>
      </p:sp>
      <p:sp>
        <p:nvSpPr>
          <p:cNvPr id="9" name="Oval 8"/>
          <p:cNvSpPr/>
          <p:nvPr/>
        </p:nvSpPr>
        <p:spPr>
          <a:xfrm>
            <a:off x="3566160" y="1389888"/>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389888"/>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2</a:t>
            </a:r>
          </a:p>
        </p:txBody>
      </p:sp>
      <p:sp>
        <p:nvSpPr>
          <p:cNvPr id="11" name="TextBox 10"/>
          <p:cNvSpPr txBox="1"/>
          <p:nvPr/>
        </p:nvSpPr>
        <p:spPr>
          <a:xfrm>
            <a:off x="4114800" y="1371600"/>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Drop into Gmail</a:t>
            </a:r>
          </a:p>
          <a:p>
            <a:pPr>
              <a:spcBef>
                <a:spcPts val="0"/>
              </a:spcBef>
              <a:spcAft>
                <a:spcPts val="200"/>
              </a:spcAft>
            </a:pPr>
            <a:r>
              <a:rPr sz="1050" b="0" i="0">
                <a:solidFill>
                  <a:srgbClr val="5C6B79"/>
                </a:solidFill>
                <a:latin typeface="Calibri"/>
              </a:rPr>
              <a:t>It names a time, so Gmail shows 'Add to Calendar' — one tap</a:t>
            </a:r>
          </a:p>
        </p:txBody>
      </p:sp>
      <p:sp>
        <p:nvSpPr>
          <p:cNvPr id="12" name="Oval 11"/>
          <p:cNvSpPr/>
          <p:nvPr/>
        </p:nvSpPr>
        <p:spPr>
          <a:xfrm>
            <a:off x="3566160" y="2139696"/>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139696"/>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3</a:t>
            </a:r>
          </a:p>
        </p:txBody>
      </p:sp>
      <p:sp>
        <p:nvSpPr>
          <p:cNvPr id="14" name="TextBox 13"/>
          <p:cNvSpPr txBox="1"/>
          <p:nvPr/>
        </p:nvSpPr>
        <p:spPr>
          <a:xfrm>
            <a:off x="4114800" y="2121408"/>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Add a Meet link in Calendar</a:t>
            </a:r>
          </a:p>
          <a:p>
            <a:pPr>
              <a:spcBef>
                <a:spcPts val="0"/>
              </a:spcBef>
              <a:spcAft>
                <a:spcPts val="200"/>
              </a:spcAft>
            </a:pPr>
            <a:r>
              <a:rPr sz="1050" b="0" i="0">
                <a:solidFill>
                  <a:srgbClr val="5C6B79"/>
                </a:solidFill>
                <a:latin typeface="Calibri"/>
              </a:rPr>
              <a:t>'Add Google Meet' → Save → invite goes out</a:t>
            </a:r>
          </a:p>
        </p:txBody>
      </p:sp>
      <p:sp>
        <p:nvSpPr>
          <p:cNvPr id="15" name="Oval 14"/>
          <p:cNvSpPr/>
          <p:nvPr/>
        </p:nvSpPr>
        <p:spPr>
          <a:xfrm>
            <a:off x="3566160" y="2889504"/>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889504"/>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4</a:t>
            </a:r>
          </a:p>
        </p:txBody>
      </p:sp>
      <p:sp>
        <p:nvSpPr>
          <p:cNvPr id="17" name="TextBox 16"/>
          <p:cNvSpPr txBox="1"/>
          <p:nvPr/>
        </p:nvSpPr>
        <p:spPr>
          <a:xfrm>
            <a:off x="4114800" y="2871216"/>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Prep the meeting</a:t>
            </a:r>
          </a:p>
          <a:p>
            <a:pPr>
              <a:spcBef>
                <a:spcPts val="0"/>
              </a:spcBef>
              <a:spcAft>
                <a:spcPts val="200"/>
              </a:spcAft>
            </a:pPr>
            <a:r>
              <a:rPr sz="1050" b="0" i="0">
                <a:solidFill>
                  <a:srgbClr val="5C6B79"/>
                </a:solidFill>
                <a:latin typeface="Calibri"/>
              </a:rPr>
              <a:t>Prompt B → instant agenda + 3 opening questions</a:t>
            </a:r>
          </a:p>
        </p:txBody>
      </p:sp>
      <p:sp>
        <p:nvSpPr>
          <p:cNvPr id="18" name="Rounded Rectangle 17"/>
          <p:cNvSpPr/>
          <p:nvPr/>
        </p:nvSpPr>
        <p:spPr>
          <a:xfrm>
            <a:off x="3566160" y="3657600"/>
            <a:ext cx="7955279" cy="137160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66160" y="3657600"/>
            <a:ext cx="109728" cy="137160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2" y="3767328"/>
            <a:ext cx="7543799" cy="1188720"/>
          </a:xfrm>
          <a:prstGeom prst="rect">
            <a:avLst/>
          </a:prstGeom>
          <a:noFill/>
        </p:spPr>
        <p:txBody>
          <a:bodyPr wrap="square" anchor="t" lIns="0" rIns="0" tIns="0" bIns="0">
            <a:spAutoFit/>
          </a:bodyPr>
          <a:lstStyle/>
          <a:p>
            <a:pPr>
              <a:spcBef>
                <a:spcPts val="0"/>
              </a:spcBef>
              <a:spcAft>
                <a:spcPts val="400"/>
              </a:spcAft>
            </a:pPr>
            <a:r>
              <a:rPr sz="1000" b="1" i="0">
                <a:solidFill>
                  <a:srgbClr val="14B8B0"/>
                </a:solidFill>
                <a:latin typeface="Calibri"/>
              </a:rPr>
              <a:t>PROMPT A (into the Gemini app):</a:t>
            </a:r>
          </a:p>
          <a:p>
            <a:pPr>
              <a:spcBef>
                <a:spcPts val="0"/>
              </a:spcBef>
              <a:spcAft>
                <a:spcPts val="100"/>
              </a:spcAft>
            </a:pPr>
            <a:r>
              <a:rPr sz="950" b="0" i="0">
                <a:solidFill>
                  <a:srgbClr val="E7EFF5"/>
                </a:solidFill>
                <a:latin typeface="Consolas"/>
              </a:rPr>
              <a:t>Write a short, friendly meeting invite. Kick-off for our</a:t>
            </a:r>
          </a:p>
          <a:p>
            <a:pPr>
              <a:spcBef>
                <a:spcPts val="0"/>
              </a:spcBef>
              <a:spcAft>
                <a:spcPts val="100"/>
              </a:spcAft>
            </a:pPr>
            <a:r>
              <a:rPr sz="950" b="0" i="0">
                <a:solidFill>
                  <a:srgbClr val="E7EFF5"/>
                </a:solidFill>
                <a:latin typeface="Consolas"/>
              </a:rPr>
              <a:t>'AI in Our Lives' session, 5 people, next Tue 3:00–3:45 PM.</a:t>
            </a:r>
          </a:p>
          <a:p>
            <a:pPr>
              <a:spcBef>
                <a:spcPts val="0"/>
              </a:spcBef>
              <a:spcAft>
                <a:spcPts val="100"/>
              </a:spcAft>
            </a:pPr>
            <a:r>
              <a:rPr sz="950" b="0" i="0">
                <a:solidFill>
                  <a:srgbClr val="E7EFF5"/>
                </a:solidFill>
                <a:latin typeface="Consolas"/>
              </a:rPr>
              <a:t>One-line purpose + 3-bullet agenda + Meet link note. &lt;120 words.</a:t>
            </a:r>
          </a:p>
        </p:txBody>
      </p:sp>
      <p:sp>
        <p:nvSpPr>
          <p:cNvPr id="21" name="Rounded Rectangle 20"/>
          <p:cNvSpPr/>
          <p:nvPr/>
        </p:nvSpPr>
        <p:spPr>
          <a:xfrm>
            <a:off x="3566160" y="5120640"/>
            <a:ext cx="7955279" cy="658368"/>
          </a:xfrm>
          <a:prstGeom prst="roundRect">
            <a:avLst/>
          </a:prstGeom>
          <a:solidFill>
            <a:srgbClr val="DF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66160" y="5120640"/>
            <a:ext cx="109728" cy="658368"/>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2" y="5138928"/>
            <a:ext cx="7543799" cy="658368"/>
          </a:xfrm>
          <a:prstGeom prst="rect">
            <a:avLst/>
          </a:prstGeom>
          <a:noFill/>
        </p:spPr>
        <p:txBody>
          <a:bodyPr wrap="square" anchor="ctr" lIns="0" rIns="0" tIns="0" bIns="0">
            <a:spAutoFit/>
          </a:bodyPr>
          <a:lstStyle/>
          <a:p>
            <a:pPr>
              <a:spcBef>
                <a:spcPts val="0"/>
              </a:spcBef>
              <a:spcAft>
                <a:spcPts val="600"/>
              </a:spcAft>
            </a:pPr>
            <a:r>
              <a:rPr sz="1300" b="1" i="0">
                <a:solidFill>
                  <a:srgbClr val="1E6FB8"/>
                </a:solidFill>
                <a:latin typeface="Calibri"/>
              </a:rPr>
              <a:t>🌟  </a:t>
            </a:r>
            <a:r>
              <a:rPr sz="1150" b="0" i="0">
                <a:solidFill>
                  <a:srgbClr val="242D35"/>
                </a:solidFill>
                <a:latin typeface="Calibri"/>
              </a:rPr>
              <a:t>WOW: from an email's text to a real calendar event in one tap — no retyping the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2.4 ASSIGNMENT GUIDANCE</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Use AI to learn — not to cheat</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16</a:t>
            </a:r>
          </a:p>
        </p:txBody>
      </p:sp>
      <p:sp>
        <p:nvSpPr>
          <p:cNvPr id="9" name="Rounded Rectangle 8"/>
          <p:cNvSpPr/>
          <p:nvPr/>
        </p:nvSpPr>
        <p:spPr>
          <a:xfrm>
            <a:off x="685800" y="1874519"/>
            <a:ext cx="5303520" cy="27432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874519"/>
            <a:ext cx="5303520" cy="548640"/>
          </a:xfrm>
          <a:prstGeom prst="round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i="0">
                <a:solidFill>
                  <a:srgbClr val="FFFFFF"/>
                </a:solidFill>
                <a:latin typeface="Calibri"/>
              </a:rPr>
              <a:t>✓  DO — tutor mode</a:t>
            </a:r>
          </a:p>
        </p:txBody>
      </p:sp>
      <p:sp>
        <p:nvSpPr>
          <p:cNvPr id="11" name="Rectangle 10"/>
          <p:cNvSpPr/>
          <p:nvPr/>
        </p:nvSpPr>
        <p:spPr>
          <a:xfrm>
            <a:off x="685800" y="2148840"/>
            <a:ext cx="5303520" cy="27432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06040"/>
            <a:ext cx="4937760" cy="1920240"/>
          </a:xfrm>
          <a:prstGeom prst="rect">
            <a:avLst/>
          </a:prstGeom>
          <a:noFill/>
        </p:spPr>
        <p:txBody>
          <a:bodyPr wrap="square" anchor="t" lIns="0" rIns="0" tIns="0" bIns="0">
            <a:spAutoFit/>
          </a:bodyPr>
          <a:lstStyle/>
          <a:p>
            <a:pPr>
              <a:spcBef>
                <a:spcPts val="0"/>
              </a:spcBef>
              <a:spcAft>
                <a:spcPts val="900"/>
              </a:spcAft>
            </a:pPr>
            <a:r>
              <a:rPr sz="1250" b="1" i="0">
                <a:solidFill>
                  <a:srgbClr val="14B8B0"/>
                </a:solidFill>
                <a:latin typeface="Calibri"/>
              </a:rPr>
              <a:t>●  </a:t>
            </a:r>
            <a:r>
              <a:rPr sz="1250" b="0" i="0">
                <a:solidFill>
                  <a:srgbClr val="242D35"/>
                </a:solidFill>
                <a:latin typeface="Calibri"/>
              </a:rPr>
              <a:t>'Explain what the question is really asking'</a:t>
            </a:r>
          </a:p>
          <a:p>
            <a:pPr>
              <a:spcBef>
                <a:spcPts val="0"/>
              </a:spcBef>
              <a:spcAft>
                <a:spcPts val="900"/>
              </a:spcAft>
            </a:pPr>
            <a:r>
              <a:rPr sz="1250" b="1" i="0">
                <a:solidFill>
                  <a:srgbClr val="14B8B0"/>
                </a:solidFill>
                <a:latin typeface="Calibri"/>
              </a:rPr>
              <a:t>●  </a:t>
            </a:r>
            <a:r>
              <a:rPr sz="1250" b="0" i="0">
                <a:solidFill>
                  <a:srgbClr val="242D35"/>
                </a:solidFill>
                <a:latin typeface="Calibri"/>
              </a:rPr>
              <a:t>'List the key concepts I need'</a:t>
            </a:r>
          </a:p>
          <a:p>
            <a:pPr>
              <a:spcBef>
                <a:spcPts val="0"/>
              </a:spcBef>
              <a:spcAft>
                <a:spcPts val="900"/>
              </a:spcAft>
            </a:pPr>
            <a:r>
              <a:rPr sz="1250" b="1" i="0">
                <a:solidFill>
                  <a:srgbClr val="14B8B0"/>
                </a:solidFill>
                <a:latin typeface="Calibri"/>
              </a:rPr>
              <a:t>●  </a:t>
            </a:r>
            <a:r>
              <a:rPr sz="1250" b="0" i="0">
                <a:solidFill>
                  <a:srgbClr val="242D35"/>
                </a:solidFill>
                <a:latin typeface="Calibri"/>
              </a:rPr>
              <a:t>'Quiz me to check my understanding'</a:t>
            </a:r>
          </a:p>
          <a:p>
            <a:pPr>
              <a:spcBef>
                <a:spcPts val="0"/>
              </a:spcBef>
              <a:spcAft>
                <a:spcPts val="900"/>
              </a:spcAft>
            </a:pPr>
            <a:r>
              <a:rPr sz="1250" b="1" i="0">
                <a:solidFill>
                  <a:srgbClr val="14B8B0"/>
                </a:solidFill>
                <a:latin typeface="Calibri"/>
              </a:rPr>
              <a:t>●  </a:t>
            </a:r>
            <a:r>
              <a:rPr sz="1250" b="0" i="0">
                <a:solidFill>
                  <a:srgbClr val="242D35"/>
                </a:solidFill>
                <a:latin typeface="Calibri"/>
              </a:rPr>
              <a:t>'Break the task into steps'</a:t>
            </a:r>
          </a:p>
        </p:txBody>
      </p:sp>
      <p:sp>
        <p:nvSpPr>
          <p:cNvPr id="13" name="Rounded Rectangle 12"/>
          <p:cNvSpPr/>
          <p:nvPr/>
        </p:nvSpPr>
        <p:spPr>
          <a:xfrm>
            <a:off x="6199632" y="1874519"/>
            <a:ext cx="5303520" cy="27432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99632" y="1874519"/>
            <a:ext cx="5303520" cy="548640"/>
          </a:xfrm>
          <a:prstGeom prst="roundRect">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i="0">
                <a:solidFill>
                  <a:srgbClr val="FFFFFF"/>
                </a:solidFill>
                <a:latin typeface="Calibri"/>
              </a:rPr>
              <a:t>✗  DON'T — ghost-writer</a:t>
            </a:r>
          </a:p>
        </p:txBody>
      </p:sp>
      <p:sp>
        <p:nvSpPr>
          <p:cNvPr id="15" name="Rectangle 14"/>
          <p:cNvSpPr/>
          <p:nvPr/>
        </p:nvSpPr>
        <p:spPr>
          <a:xfrm>
            <a:off x="6199632" y="2148840"/>
            <a:ext cx="5303520" cy="274320"/>
          </a:xfrm>
          <a:prstGeom prst="rect">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2606040"/>
            <a:ext cx="4937760" cy="1920240"/>
          </a:xfrm>
          <a:prstGeom prst="rect">
            <a:avLst/>
          </a:prstGeom>
          <a:noFill/>
        </p:spPr>
        <p:txBody>
          <a:bodyPr wrap="square" anchor="t" lIns="0" rIns="0" tIns="0" bIns="0">
            <a:spAutoFit/>
          </a:bodyPr>
          <a:lstStyle/>
          <a:p>
            <a:pPr>
              <a:spcBef>
                <a:spcPts val="0"/>
              </a:spcBef>
              <a:spcAft>
                <a:spcPts val="900"/>
              </a:spcAft>
            </a:pPr>
            <a:r>
              <a:rPr sz="1250" b="1" i="0">
                <a:solidFill>
                  <a:srgbClr val="14B8B0"/>
                </a:solidFill>
                <a:latin typeface="Calibri"/>
              </a:rPr>
              <a:t>●  </a:t>
            </a:r>
            <a:r>
              <a:rPr sz="1250" b="0" i="0">
                <a:solidFill>
                  <a:srgbClr val="242D35"/>
                </a:solidFill>
                <a:latin typeface="Calibri"/>
              </a:rPr>
              <a:t>'Write my essay for me'</a:t>
            </a:r>
          </a:p>
          <a:p>
            <a:pPr>
              <a:spcBef>
                <a:spcPts val="0"/>
              </a:spcBef>
              <a:spcAft>
                <a:spcPts val="900"/>
              </a:spcAft>
            </a:pPr>
            <a:r>
              <a:rPr sz="1250" b="1" i="0">
                <a:solidFill>
                  <a:srgbClr val="14B8B0"/>
                </a:solidFill>
                <a:latin typeface="Calibri"/>
              </a:rPr>
              <a:t>●  </a:t>
            </a:r>
            <a:r>
              <a:rPr sz="1250" b="0" i="0">
                <a:solidFill>
                  <a:srgbClr val="242D35"/>
                </a:solidFill>
                <a:latin typeface="Calibri"/>
              </a:rPr>
              <a:t>Submitting AI text as your own</a:t>
            </a:r>
          </a:p>
          <a:p>
            <a:pPr>
              <a:spcBef>
                <a:spcPts val="0"/>
              </a:spcBef>
              <a:spcAft>
                <a:spcPts val="900"/>
              </a:spcAft>
            </a:pPr>
            <a:r>
              <a:rPr sz="1250" b="1" i="0">
                <a:solidFill>
                  <a:srgbClr val="14B8B0"/>
                </a:solidFill>
                <a:latin typeface="Calibri"/>
              </a:rPr>
              <a:t>●  </a:t>
            </a:r>
            <a:r>
              <a:rPr sz="1250" b="0" i="0">
                <a:solidFill>
                  <a:srgbClr val="242D35"/>
                </a:solidFill>
                <a:latin typeface="Calibri"/>
              </a:rPr>
              <a:t>Copying answers you can't explain</a:t>
            </a:r>
          </a:p>
          <a:p>
            <a:pPr>
              <a:spcBef>
                <a:spcPts val="0"/>
              </a:spcBef>
              <a:spcAft>
                <a:spcPts val="900"/>
              </a:spcAft>
            </a:pPr>
            <a:r>
              <a:rPr sz="1250" b="1" i="0">
                <a:solidFill>
                  <a:srgbClr val="14B8B0"/>
                </a:solidFill>
                <a:latin typeface="Calibri"/>
              </a:rPr>
              <a:t>●  </a:t>
            </a:r>
            <a:r>
              <a:rPr sz="1250" b="0" i="0">
                <a:solidFill>
                  <a:srgbClr val="242D35"/>
                </a:solidFill>
                <a:latin typeface="Calibri"/>
              </a:rPr>
              <a:t>Skipping the actual thinking</a:t>
            </a:r>
          </a:p>
        </p:txBody>
      </p:sp>
      <p:sp>
        <p:nvSpPr>
          <p:cNvPr id="17" name="Rounded Rectangle 16"/>
          <p:cNvSpPr/>
          <p:nvPr/>
        </p:nvSpPr>
        <p:spPr>
          <a:xfrm>
            <a:off x="685800" y="4800600"/>
            <a:ext cx="10817352" cy="868680"/>
          </a:xfrm>
          <a:prstGeom prst="roundRect">
            <a:avLst/>
          </a:prstGeom>
          <a:solidFill>
            <a:srgbClr val="DF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4800600"/>
            <a:ext cx="109728" cy="8686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4818888"/>
            <a:ext cx="10405872" cy="868680"/>
          </a:xfrm>
          <a:prstGeom prst="rect">
            <a:avLst/>
          </a:prstGeom>
          <a:noFill/>
        </p:spPr>
        <p:txBody>
          <a:bodyPr wrap="square" anchor="ctr" lIns="0" rIns="0" tIns="0" bIns="0">
            <a:spAutoFit/>
          </a:bodyPr>
          <a:lstStyle/>
          <a:p>
            <a:pPr>
              <a:spcBef>
                <a:spcPts val="0"/>
              </a:spcBef>
              <a:spcAft>
                <a:spcPts val="600"/>
              </a:spcAft>
            </a:pPr>
            <a:r>
              <a:rPr sz="1300" b="1" i="0">
                <a:solidFill>
                  <a:srgbClr val="1E6FB8"/>
                </a:solidFill>
                <a:latin typeface="Calibri"/>
              </a:rPr>
              <a:t>🎓  </a:t>
            </a:r>
            <a:r>
              <a:rPr sz="1150" b="0" i="0">
                <a:solidFill>
                  <a:srgbClr val="242D35"/>
                </a:solidFill>
                <a:latin typeface="Calibri"/>
              </a:rPr>
              <a:t>NotebookLM's Learning Guide and ChatGPT/Gemini study modes both do Socratic tutoring — always check your institution's AI policy too.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2.4 ASSIGNMENT GUIDANCE</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The 'tutor, not author' prompt</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17</a:t>
            </a:r>
          </a:p>
        </p:txBody>
      </p:sp>
      <p:sp>
        <p:nvSpPr>
          <p:cNvPr id="9" name="Rounded Rectangle 8"/>
          <p:cNvSpPr/>
          <p:nvPr/>
        </p:nvSpPr>
        <p:spPr>
          <a:xfrm>
            <a:off x="685800" y="1920240"/>
            <a:ext cx="10817352" cy="196596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920240"/>
            <a:ext cx="109728" cy="196596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029968"/>
            <a:ext cx="10405872" cy="1783080"/>
          </a:xfrm>
          <a:prstGeom prst="rect">
            <a:avLst/>
          </a:prstGeom>
          <a:noFill/>
        </p:spPr>
        <p:txBody>
          <a:bodyPr wrap="square" anchor="t" lIns="0" rIns="0" tIns="0" bIns="0">
            <a:spAutoFit/>
          </a:bodyPr>
          <a:lstStyle/>
          <a:p>
            <a:pPr>
              <a:spcBef>
                <a:spcPts val="0"/>
              </a:spcBef>
              <a:spcAft>
                <a:spcPts val="400"/>
              </a:spcAft>
            </a:pPr>
            <a:r>
              <a:rPr sz="1000" b="1" i="0">
                <a:solidFill>
                  <a:srgbClr val="14B8B0"/>
                </a:solidFill>
                <a:latin typeface="Calibri"/>
              </a:rPr>
              <a:t>COPY-PASTE PROMPT:</a:t>
            </a:r>
          </a:p>
          <a:p>
            <a:pPr>
              <a:spcBef>
                <a:spcPts val="0"/>
              </a:spcBef>
              <a:spcAft>
                <a:spcPts val="100"/>
              </a:spcAft>
            </a:pPr>
            <a:r>
              <a:rPr sz="950" b="0" i="0">
                <a:solidFill>
                  <a:srgbClr val="E7EFF5"/>
                </a:solidFill>
                <a:latin typeface="Consolas"/>
              </a:rPr>
              <a:t>Act as my Socratic tutor. Here is my assignment brief: [paste it].</a:t>
            </a:r>
          </a:p>
          <a:p>
            <a:pPr>
              <a:spcBef>
                <a:spcPts val="0"/>
              </a:spcBef>
              <a:spcAft>
                <a:spcPts val="100"/>
              </a:spcAft>
            </a:pPr>
            <a:r>
              <a:rPr sz="950" b="0" i="0">
                <a:solidFill>
                  <a:srgbClr val="E7EFF5"/>
                </a:solidFill>
                <a:latin typeface="Consolas"/>
              </a:rPr>
              <a:t>1) Explain what the question is really asking, in plain English.</a:t>
            </a:r>
          </a:p>
          <a:p>
            <a:pPr>
              <a:spcBef>
                <a:spcPts val="0"/>
              </a:spcBef>
              <a:spcAft>
                <a:spcPts val="100"/>
              </a:spcAft>
            </a:pPr>
            <a:r>
              <a:rPr sz="950" b="0" i="0">
                <a:solidFill>
                  <a:srgbClr val="E7EFF5"/>
                </a:solidFill>
                <a:latin typeface="Consolas"/>
              </a:rPr>
              <a:t>2) List the key concepts and skills I'll need.</a:t>
            </a:r>
          </a:p>
          <a:p>
            <a:pPr>
              <a:spcBef>
                <a:spcPts val="0"/>
              </a:spcBef>
              <a:spcAft>
                <a:spcPts val="100"/>
              </a:spcAft>
            </a:pPr>
            <a:r>
              <a:rPr sz="950" b="0" i="0">
                <a:solidFill>
                  <a:srgbClr val="E7EFF5"/>
                </a:solidFill>
                <a:latin typeface="Consolas"/>
              </a:rPr>
              <a:t>3) Then ask me questions to check my understanding — one at a time.</a:t>
            </a:r>
          </a:p>
          <a:p>
            <a:pPr>
              <a:spcBef>
                <a:spcPts val="0"/>
              </a:spcBef>
              <a:spcAft>
                <a:spcPts val="100"/>
              </a:spcAft>
            </a:pPr>
            <a:r>
              <a:rPr sz="950" b="0" i="0">
                <a:solidFill>
                  <a:srgbClr val="E7EFF5"/>
                </a:solidFill>
                <a:latin typeface="Consolas"/>
              </a:rPr>
              <a:t>Do NOT write the answer for me. Wait for my reply before continuing.</a:t>
            </a:r>
          </a:p>
        </p:txBody>
      </p:sp>
      <p:sp>
        <p:nvSpPr>
          <p:cNvPr id="12" name="Rounded Rectangle 11"/>
          <p:cNvSpPr/>
          <p:nvPr/>
        </p:nvSpPr>
        <p:spPr>
          <a:xfrm>
            <a:off x="685800" y="4160520"/>
            <a:ext cx="3502152" cy="155448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05256" y="4370832"/>
            <a:ext cx="502920" cy="50292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370832"/>
            <a:ext cx="502920" cy="502920"/>
          </a:xfrm>
          <a:prstGeom prst="rect">
            <a:avLst/>
          </a:prstGeom>
          <a:noFill/>
        </p:spPr>
        <p:txBody>
          <a:bodyPr wrap="square" anchor="ctr" lIns="0" rIns="0" tIns="0" bIns="0">
            <a:spAutoFit/>
          </a:bodyPr>
          <a:lstStyle/>
          <a:p>
            <a:pPr algn="ctr">
              <a:spcBef>
                <a:spcPts val="0"/>
              </a:spcBef>
              <a:spcAft>
                <a:spcPts val="600"/>
              </a:spcAft>
            </a:pPr>
            <a:r>
              <a:rPr sz="1600" b="1" i="0">
                <a:solidFill>
                  <a:srgbClr val="FFFFFF"/>
                </a:solidFill>
                <a:latin typeface="Calibri"/>
              </a:rPr>
              <a:t>1</a:t>
            </a:r>
          </a:p>
        </p:txBody>
      </p:sp>
      <p:sp>
        <p:nvSpPr>
          <p:cNvPr id="15" name="TextBox 14"/>
          <p:cNvSpPr txBox="1"/>
          <p:nvPr/>
        </p:nvSpPr>
        <p:spPr>
          <a:xfrm>
            <a:off x="905256" y="4983480"/>
            <a:ext cx="3063240" cy="685800"/>
          </a:xfrm>
          <a:prstGeom prst="rect">
            <a:avLst/>
          </a:prstGeom>
          <a:noFill/>
        </p:spPr>
        <p:txBody>
          <a:bodyPr wrap="square" anchor="t" lIns="0" rIns="0" tIns="0" bIns="0">
            <a:spAutoFit/>
          </a:bodyPr>
          <a:lstStyle/>
          <a:p>
            <a:pPr>
              <a:spcBef>
                <a:spcPts val="0"/>
              </a:spcBef>
              <a:spcAft>
                <a:spcPts val="200"/>
              </a:spcAft>
            </a:pPr>
            <a:r>
              <a:rPr sz="1250" b="1" i="0">
                <a:solidFill>
                  <a:srgbClr val="0F2A43"/>
                </a:solidFill>
                <a:latin typeface="Calibri"/>
              </a:rPr>
              <a:t>It reframes the task</a:t>
            </a:r>
          </a:p>
          <a:p>
            <a:pPr>
              <a:spcBef>
                <a:spcPts val="0"/>
              </a:spcBef>
              <a:spcAft>
                <a:spcPts val="600"/>
              </a:spcAft>
            </a:pPr>
            <a:r>
              <a:rPr sz="1050" b="0" i="0">
                <a:solidFill>
                  <a:srgbClr val="5C6B79"/>
                </a:solidFill>
                <a:latin typeface="Calibri"/>
              </a:rPr>
              <a:t>so you understand it before starting</a:t>
            </a:r>
          </a:p>
        </p:txBody>
      </p:sp>
      <p:sp>
        <p:nvSpPr>
          <p:cNvPr id="16" name="Rounded Rectangle 15"/>
          <p:cNvSpPr/>
          <p:nvPr/>
        </p:nvSpPr>
        <p:spPr>
          <a:xfrm>
            <a:off x="4343400" y="4160520"/>
            <a:ext cx="3502152" cy="155448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62856" y="4370832"/>
            <a:ext cx="502920" cy="50292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2856" y="4370832"/>
            <a:ext cx="502920" cy="502920"/>
          </a:xfrm>
          <a:prstGeom prst="rect">
            <a:avLst/>
          </a:prstGeom>
          <a:noFill/>
        </p:spPr>
        <p:txBody>
          <a:bodyPr wrap="square" anchor="ctr" lIns="0" rIns="0" tIns="0" bIns="0">
            <a:spAutoFit/>
          </a:bodyPr>
          <a:lstStyle/>
          <a:p>
            <a:pPr algn="ctr">
              <a:spcBef>
                <a:spcPts val="0"/>
              </a:spcBef>
              <a:spcAft>
                <a:spcPts val="600"/>
              </a:spcAft>
            </a:pPr>
            <a:r>
              <a:rPr sz="1600" b="1" i="0">
                <a:solidFill>
                  <a:srgbClr val="FFFFFF"/>
                </a:solidFill>
                <a:latin typeface="Calibri"/>
              </a:rPr>
              <a:t>2</a:t>
            </a:r>
          </a:p>
        </p:txBody>
      </p:sp>
      <p:sp>
        <p:nvSpPr>
          <p:cNvPr id="19" name="TextBox 18"/>
          <p:cNvSpPr txBox="1"/>
          <p:nvPr/>
        </p:nvSpPr>
        <p:spPr>
          <a:xfrm>
            <a:off x="4562856" y="4983480"/>
            <a:ext cx="3063240" cy="685800"/>
          </a:xfrm>
          <a:prstGeom prst="rect">
            <a:avLst/>
          </a:prstGeom>
          <a:noFill/>
        </p:spPr>
        <p:txBody>
          <a:bodyPr wrap="square" anchor="t" lIns="0" rIns="0" tIns="0" bIns="0">
            <a:spAutoFit/>
          </a:bodyPr>
          <a:lstStyle/>
          <a:p>
            <a:pPr>
              <a:spcBef>
                <a:spcPts val="0"/>
              </a:spcBef>
              <a:spcAft>
                <a:spcPts val="200"/>
              </a:spcAft>
            </a:pPr>
            <a:r>
              <a:rPr sz="1250" b="1" i="0">
                <a:solidFill>
                  <a:srgbClr val="0F2A43"/>
                </a:solidFill>
                <a:latin typeface="Calibri"/>
              </a:rPr>
              <a:t>It surfaces the concepts</a:t>
            </a:r>
          </a:p>
          <a:p>
            <a:pPr>
              <a:spcBef>
                <a:spcPts val="0"/>
              </a:spcBef>
              <a:spcAft>
                <a:spcPts val="600"/>
              </a:spcAft>
            </a:pPr>
            <a:r>
              <a:rPr sz="1050" b="0" i="0">
                <a:solidFill>
                  <a:srgbClr val="5C6B79"/>
                </a:solidFill>
                <a:latin typeface="Calibri"/>
              </a:rPr>
              <a:t>so you know what to revise</a:t>
            </a:r>
          </a:p>
        </p:txBody>
      </p:sp>
      <p:sp>
        <p:nvSpPr>
          <p:cNvPr id="20" name="Rounded Rectangle 19"/>
          <p:cNvSpPr/>
          <p:nvPr/>
        </p:nvSpPr>
        <p:spPr>
          <a:xfrm>
            <a:off x="8001000" y="4160520"/>
            <a:ext cx="3502152" cy="155448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0456" y="4370832"/>
            <a:ext cx="502920" cy="50292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0456" y="4370832"/>
            <a:ext cx="502920" cy="502920"/>
          </a:xfrm>
          <a:prstGeom prst="rect">
            <a:avLst/>
          </a:prstGeom>
          <a:noFill/>
        </p:spPr>
        <p:txBody>
          <a:bodyPr wrap="square" anchor="ctr" lIns="0" rIns="0" tIns="0" bIns="0">
            <a:spAutoFit/>
          </a:bodyPr>
          <a:lstStyle/>
          <a:p>
            <a:pPr algn="ctr">
              <a:spcBef>
                <a:spcPts val="0"/>
              </a:spcBef>
              <a:spcAft>
                <a:spcPts val="600"/>
              </a:spcAft>
            </a:pPr>
            <a:r>
              <a:rPr sz="1600" b="1" i="0">
                <a:solidFill>
                  <a:srgbClr val="FFFFFF"/>
                </a:solidFill>
                <a:latin typeface="Calibri"/>
              </a:rPr>
              <a:t>3</a:t>
            </a:r>
          </a:p>
        </p:txBody>
      </p:sp>
      <p:sp>
        <p:nvSpPr>
          <p:cNvPr id="23" name="TextBox 22"/>
          <p:cNvSpPr txBox="1"/>
          <p:nvPr/>
        </p:nvSpPr>
        <p:spPr>
          <a:xfrm>
            <a:off x="8220456" y="4983480"/>
            <a:ext cx="3063240" cy="685800"/>
          </a:xfrm>
          <a:prstGeom prst="rect">
            <a:avLst/>
          </a:prstGeom>
          <a:noFill/>
        </p:spPr>
        <p:txBody>
          <a:bodyPr wrap="square" anchor="t" lIns="0" rIns="0" tIns="0" bIns="0">
            <a:spAutoFit/>
          </a:bodyPr>
          <a:lstStyle/>
          <a:p>
            <a:pPr>
              <a:spcBef>
                <a:spcPts val="0"/>
              </a:spcBef>
              <a:spcAft>
                <a:spcPts val="200"/>
              </a:spcAft>
            </a:pPr>
            <a:r>
              <a:rPr sz="1250" b="1" i="0">
                <a:solidFill>
                  <a:srgbClr val="0F2A43"/>
                </a:solidFill>
                <a:latin typeface="Calibri"/>
              </a:rPr>
              <a:t>It quizzes you</a:t>
            </a:r>
          </a:p>
          <a:p>
            <a:pPr>
              <a:spcBef>
                <a:spcPts val="0"/>
              </a:spcBef>
              <a:spcAft>
                <a:spcPts val="600"/>
              </a:spcAft>
            </a:pPr>
            <a:r>
              <a:rPr sz="1050" b="0" i="0">
                <a:solidFill>
                  <a:srgbClr val="5C6B79"/>
                </a:solidFill>
                <a:latin typeface="Calibri"/>
              </a:rPr>
              <a:t>so the learning actually sticks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2.5 EDM &amp; POSTER CREATION</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Design without a designer</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18</a:t>
            </a:r>
          </a:p>
        </p:txBody>
      </p:sp>
      <p:sp>
        <p:nvSpPr>
          <p:cNvPr id="9" name="Rounded Rectangle 8"/>
          <p:cNvSpPr/>
          <p:nvPr/>
        </p:nvSpPr>
        <p:spPr>
          <a:xfrm>
            <a:off x="685800" y="1874519"/>
            <a:ext cx="3429000" cy="233172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874519"/>
            <a:ext cx="3429000" cy="566928"/>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Canva Magic Design</a:t>
            </a:r>
          </a:p>
          <a:p>
            <a:r>
              <a:rPr sz="950" b="0" i="0">
                <a:solidFill>
                  <a:srgbClr val="EAF3F8"/>
                </a:solidFill>
                <a:latin typeface="Calibri"/>
              </a:rPr>
              <a:t>Fast + fully editable</a:t>
            </a:r>
          </a:p>
        </p:txBody>
      </p:sp>
      <p:sp>
        <p:nvSpPr>
          <p:cNvPr id="11" name="Rectangle 10"/>
          <p:cNvSpPr/>
          <p:nvPr/>
        </p:nvSpPr>
        <p:spPr>
          <a:xfrm>
            <a:off x="685800" y="2157983"/>
            <a:ext cx="3429000" cy="283464"/>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2587751"/>
            <a:ext cx="3136392" cy="150876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Describe it → editable design; resize poster→EDM in a click</a:t>
            </a:r>
          </a:p>
          <a:p>
            <a:pPr>
              <a:spcBef>
                <a:spcPts val="300"/>
              </a:spcBef>
              <a:spcAft>
                <a:spcPts val="0"/>
              </a:spcAft>
            </a:pPr>
            <a:r>
              <a:rPr sz="1200" b="1" i="0">
                <a:solidFill>
                  <a:srgbClr val="E89A18"/>
                </a:solidFill>
                <a:latin typeface="Calibri"/>
              </a:rPr>
              <a:t>⚠ </a:t>
            </a:r>
            <a:r>
              <a:rPr sz="1100" b="0" i="0">
                <a:solidFill>
                  <a:srgbClr val="5C6B79"/>
                </a:solidFill>
                <a:latin typeface="Calibri"/>
              </a:rPr>
              <a:t>Some media/features gated on free</a:t>
            </a:r>
          </a:p>
        </p:txBody>
      </p:sp>
      <p:sp>
        <p:nvSpPr>
          <p:cNvPr id="13" name="Rounded Rectangle 12"/>
          <p:cNvSpPr/>
          <p:nvPr/>
        </p:nvSpPr>
        <p:spPr>
          <a:xfrm>
            <a:off x="4379976" y="1874519"/>
            <a:ext cx="3429000" cy="233172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9976" y="1874519"/>
            <a:ext cx="3429000" cy="566928"/>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Microsoft Designer</a:t>
            </a:r>
          </a:p>
          <a:p>
            <a:r>
              <a:rPr sz="950" b="0" i="0">
                <a:solidFill>
                  <a:srgbClr val="EAF3F8"/>
                </a:solidFill>
                <a:latin typeface="Calibri"/>
              </a:rPr>
              <a:t>Genuinely free</a:t>
            </a:r>
          </a:p>
        </p:txBody>
      </p:sp>
      <p:sp>
        <p:nvSpPr>
          <p:cNvPr id="15" name="Rectangle 14"/>
          <p:cNvSpPr/>
          <p:nvPr/>
        </p:nvSpPr>
        <p:spPr>
          <a:xfrm>
            <a:off x="4379976" y="2157983"/>
            <a:ext cx="3429000" cy="2834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87751"/>
            <a:ext cx="3136392" cy="150876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Strong free social graphics with no real paywall</a:t>
            </a:r>
          </a:p>
          <a:p>
            <a:pPr>
              <a:spcBef>
                <a:spcPts val="300"/>
              </a:spcBef>
              <a:spcAft>
                <a:spcPts val="0"/>
              </a:spcAft>
            </a:pPr>
            <a:r>
              <a:rPr sz="1200" b="1" i="0">
                <a:solidFill>
                  <a:srgbClr val="E89A18"/>
                </a:solidFill>
                <a:latin typeface="Calibri"/>
              </a:rPr>
              <a:t>⚠ </a:t>
            </a:r>
            <a:r>
              <a:rPr sz="1100" b="0" i="0">
                <a:solidFill>
                  <a:srgbClr val="5C6B79"/>
                </a:solidFill>
                <a:latin typeface="Calibri"/>
              </a:rPr>
              <a:t>Fewer templates than Canva</a:t>
            </a:r>
          </a:p>
        </p:txBody>
      </p:sp>
      <p:sp>
        <p:nvSpPr>
          <p:cNvPr id="17" name="Rounded Rectangle 16"/>
          <p:cNvSpPr/>
          <p:nvPr/>
        </p:nvSpPr>
        <p:spPr>
          <a:xfrm>
            <a:off x="8074152" y="1874519"/>
            <a:ext cx="3429000" cy="233172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74152" y="1874519"/>
            <a:ext cx="3429000" cy="566928"/>
          </a:xfrm>
          <a:prstGeom prst="round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Ideogram</a:t>
            </a:r>
          </a:p>
          <a:p>
            <a:r>
              <a:rPr sz="950" b="0" i="0">
                <a:solidFill>
                  <a:srgbClr val="EAF3F8"/>
                </a:solidFill>
                <a:latin typeface="Calibri"/>
              </a:rPr>
              <a:t>Text inside the image</a:t>
            </a:r>
          </a:p>
        </p:txBody>
      </p:sp>
      <p:sp>
        <p:nvSpPr>
          <p:cNvPr id="19" name="Rectangle 18"/>
          <p:cNvSpPr/>
          <p:nvPr/>
        </p:nvSpPr>
        <p:spPr>
          <a:xfrm>
            <a:off x="8074152" y="2157983"/>
            <a:ext cx="3429000" cy="283464"/>
          </a:xfrm>
          <a:prstGeom prst="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0456" y="2587751"/>
            <a:ext cx="3136392" cy="150876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Best at rendering readable words inside AI art</a:t>
            </a:r>
          </a:p>
          <a:p>
            <a:pPr>
              <a:spcBef>
                <a:spcPts val="300"/>
              </a:spcBef>
              <a:spcAft>
                <a:spcPts val="0"/>
              </a:spcAft>
            </a:pPr>
            <a:r>
              <a:rPr sz="1200" b="1" i="0">
                <a:solidFill>
                  <a:srgbClr val="E89A18"/>
                </a:solidFill>
                <a:latin typeface="Calibri"/>
              </a:rPr>
              <a:t>⚠ </a:t>
            </a:r>
            <a:r>
              <a:rPr sz="1100" b="0" i="0">
                <a:solidFill>
                  <a:srgbClr val="5C6B79"/>
                </a:solidFill>
                <a:latin typeface="Calibri"/>
              </a:rPr>
              <a:t>Text is baked in; editing is limited</a:t>
            </a:r>
          </a:p>
        </p:txBody>
      </p:sp>
      <p:sp>
        <p:nvSpPr>
          <p:cNvPr id="21" name="Rounded Rectangle 20"/>
          <p:cNvSpPr/>
          <p:nvPr/>
        </p:nvSpPr>
        <p:spPr>
          <a:xfrm>
            <a:off x="685800" y="4434840"/>
            <a:ext cx="10817352" cy="1234440"/>
          </a:xfrm>
          <a:prstGeom prst="roundRect">
            <a:avLst/>
          </a:prstGeom>
          <a:solidFill>
            <a:srgbClr val="FBF1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5800" y="4434840"/>
            <a:ext cx="109728" cy="1234440"/>
          </a:xfrm>
          <a:prstGeom prst="roundRect">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4453128"/>
            <a:ext cx="10405872" cy="1234440"/>
          </a:xfrm>
          <a:prstGeom prst="rect">
            <a:avLst/>
          </a:prstGeom>
          <a:noFill/>
        </p:spPr>
        <p:txBody>
          <a:bodyPr wrap="square" anchor="ctr" lIns="0" rIns="0" tIns="0" bIns="0">
            <a:spAutoFit/>
          </a:bodyPr>
          <a:lstStyle/>
          <a:p>
            <a:pPr>
              <a:spcBef>
                <a:spcPts val="0"/>
              </a:spcBef>
              <a:spcAft>
                <a:spcPts val="600"/>
              </a:spcAft>
            </a:pPr>
            <a:r>
              <a:rPr sz="1300" b="1" i="0">
                <a:solidFill>
                  <a:srgbClr val="E89A18"/>
                </a:solidFill>
                <a:latin typeface="Calibri"/>
              </a:rPr>
              <a:t>⚠️  </a:t>
            </a:r>
            <a:r>
              <a:rPr sz="1150" b="0" i="0">
                <a:solidFill>
                  <a:srgbClr val="242D35"/>
                </a:solidFill>
                <a:latin typeface="Calibri"/>
              </a:rPr>
              <a:t>Two catches for every tool: proofread every letter (AI still misspells text in images), and free tiers usually forbid commercial use and may add a watermark. DEMO 4 next: a poster for THIS session.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3200400"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0"/>
            <a:ext cx="2606040" cy="2011680"/>
          </a:xfrm>
          <a:prstGeom prst="rect">
            <a:avLst/>
          </a:prstGeom>
          <a:noFill/>
        </p:spPr>
        <p:txBody>
          <a:bodyPr wrap="square" anchor="t" lIns="0" rIns="0" tIns="0" bIns="0">
            <a:spAutoFit/>
          </a:bodyPr>
          <a:lstStyle/>
          <a:p>
            <a:pPr>
              <a:spcBef>
                <a:spcPts val="0"/>
              </a:spcBef>
              <a:spcAft>
                <a:spcPts val="200"/>
              </a:spcAft>
            </a:pPr>
            <a:r>
              <a:rPr sz="4600" b="1" i="0">
                <a:solidFill>
                  <a:srgbClr val="FFFFFF"/>
                </a:solidFill>
                <a:latin typeface="Calibri"/>
              </a:rPr>
              <a:t>🎬</a:t>
            </a:r>
          </a:p>
          <a:p>
            <a:pPr>
              <a:spcBef>
                <a:spcPts val="0"/>
              </a:spcBef>
              <a:spcAft>
                <a:spcPts val="200"/>
              </a:spcAft>
            </a:pPr>
            <a:r>
              <a:rPr sz="2000" b="1" i="0">
                <a:solidFill>
                  <a:srgbClr val="FFFFFF"/>
                </a:solidFill>
                <a:latin typeface="Calibri"/>
              </a:rPr>
              <a:t>LIVE DEMO 4</a:t>
            </a:r>
          </a:p>
        </p:txBody>
      </p:sp>
      <p:sp>
        <p:nvSpPr>
          <p:cNvPr id="4" name="TextBox 3"/>
          <p:cNvSpPr txBox="1"/>
          <p:nvPr/>
        </p:nvSpPr>
        <p:spPr>
          <a:xfrm>
            <a:off x="320040" y="2468880"/>
            <a:ext cx="2606040" cy="3474720"/>
          </a:xfrm>
          <a:prstGeom prst="rect">
            <a:avLst/>
          </a:prstGeom>
          <a:noFill/>
        </p:spPr>
        <p:txBody>
          <a:bodyPr wrap="square" anchor="t" lIns="0" rIns="0" tIns="0" bIns="0">
            <a:spAutoFit/>
          </a:bodyPr>
          <a:lstStyle/>
          <a:p>
            <a:pPr>
              <a:spcBef>
                <a:spcPts val="0"/>
              </a:spcBef>
              <a:spcAft>
                <a:spcPts val="400"/>
              </a:spcAft>
            </a:pPr>
            <a:r>
              <a:rPr sz="1500" b="1" i="0">
                <a:solidFill>
                  <a:srgbClr val="FFFFFF"/>
                </a:solidFill>
                <a:latin typeface="Calibri"/>
              </a:rPr>
              <a:t>A poster / EDM for THIS session (case study)</a:t>
            </a:r>
          </a:p>
        </p:txBody>
      </p:sp>
      <p:sp>
        <p:nvSpPr>
          <p:cNvPr id="5" name="Rounded Rectangle 4"/>
          <p:cNvSpPr/>
          <p:nvPr/>
        </p:nvSpPr>
        <p:spPr>
          <a:xfrm>
            <a:off x="320040" y="5806440"/>
            <a:ext cx="2011680" cy="41148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i="0">
                <a:solidFill>
                  <a:srgbClr val="FFFFFF"/>
                </a:solidFill>
                <a:latin typeface="Calibri"/>
              </a:rPr>
              <a:t>⏱  ~2 minutes</a:t>
            </a:r>
          </a:p>
        </p:txBody>
      </p:sp>
      <p:sp>
        <p:nvSpPr>
          <p:cNvPr id="6" name="Oval 5"/>
          <p:cNvSpPr/>
          <p:nvPr/>
        </p:nvSpPr>
        <p:spPr>
          <a:xfrm>
            <a:off x="3566160" y="640080"/>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640080"/>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1</a:t>
            </a:r>
          </a:p>
        </p:txBody>
      </p:sp>
      <p:sp>
        <p:nvSpPr>
          <p:cNvPr id="8" name="TextBox 7"/>
          <p:cNvSpPr txBox="1"/>
          <p:nvPr/>
        </p:nvSpPr>
        <p:spPr>
          <a:xfrm>
            <a:off x="4114800" y="621792"/>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Open Canva → Design with AI</a:t>
            </a:r>
          </a:p>
          <a:p>
            <a:pPr>
              <a:spcBef>
                <a:spcPts val="0"/>
              </a:spcBef>
              <a:spcAft>
                <a:spcPts val="200"/>
              </a:spcAft>
            </a:pPr>
            <a:r>
              <a:rPr sz="1050" b="0" i="0">
                <a:solidFill>
                  <a:srgbClr val="5C6B79"/>
                </a:solidFill>
                <a:latin typeface="Calibri"/>
              </a:rPr>
              <a:t>Search 'Poster' → paste the brief prompt</a:t>
            </a:r>
          </a:p>
        </p:txBody>
      </p:sp>
      <p:sp>
        <p:nvSpPr>
          <p:cNvPr id="9" name="Oval 8"/>
          <p:cNvSpPr/>
          <p:nvPr/>
        </p:nvSpPr>
        <p:spPr>
          <a:xfrm>
            <a:off x="3566160" y="1389888"/>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389888"/>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2</a:t>
            </a:r>
          </a:p>
        </p:txBody>
      </p:sp>
      <p:sp>
        <p:nvSpPr>
          <p:cNvPr id="11" name="TextBox 10"/>
          <p:cNvSpPr txBox="1"/>
          <p:nvPr/>
        </p:nvSpPr>
        <p:spPr>
          <a:xfrm>
            <a:off x="4114800" y="1371600"/>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Generate &amp; pick a layout</a:t>
            </a:r>
          </a:p>
          <a:p>
            <a:pPr>
              <a:spcBef>
                <a:spcPts val="0"/>
              </a:spcBef>
              <a:spcAft>
                <a:spcPts val="200"/>
              </a:spcAft>
            </a:pPr>
            <a:r>
              <a:rPr sz="1050" b="0" i="0">
                <a:solidFill>
                  <a:srgbClr val="5C6B79"/>
                </a:solidFill>
                <a:latin typeface="Calibri"/>
              </a:rPr>
              <a:t>Several editable options appear; choose one</a:t>
            </a:r>
          </a:p>
        </p:txBody>
      </p:sp>
      <p:sp>
        <p:nvSpPr>
          <p:cNvPr id="12" name="Oval 11"/>
          <p:cNvSpPr/>
          <p:nvPr/>
        </p:nvSpPr>
        <p:spPr>
          <a:xfrm>
            <a:off x="3566160" y="2139696"/>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139696"/>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3</a:t>
            </a:r>
          </a:p>
        </p:txBody>
      </p:sp>
      <p:sp>
        <p:nvSpPr>
          <p:cNvPr id="14" name="TextBox 13"/>
          <p:cNvSpPr txBox="1"/>
          <p:nvPr/>
        </p:nvSpPr>
        <p:spPr>
          <a:xfrm>
            <a:off x="4114800" y="2121408"/>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Live-edit the date/colour</a:t>
            </a:r>
          </a:p>
          <a:p>
            <a:pPr>
              <a:spcBef>
                <a:spcPts val="0"/>
              </a:spcBef>
              <a:spcAft>
                <a:spcPts val="200"/>
              </a:spcAft>
            </a:pPr>
            <a:r>
              <a:rPr sz="1050" b="0" i="0">
                <a:solidFill>
                  <a:srgbClr val="5C6B79"/>
                </a:solidFill>
                <a:latin typeface="Calibri"/>
              </a:rPr>
              <a:t>Prove it's editable, not a flat image</a:t>
            </a:r>
          </a:p>
        </p:txBody>
      </p:sp>
      <p:sp>
        <p:nvSpPr>
          <p:cNvPr id="15" name="Oval 14"/>
          <p:cNvSpPr/>
          <p:nvPr/>
        </p:nvSpPr>
        <p:spPr>
          <a:xfrm>
            <a:off x="3566160" y="2889504"/>
            <a:ext cx="384048" cy="38404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889504"/>
            <a:ext cx="384048" cy="384048"/>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4</a:t>
            </a:r>
          </a:p>
        </p:txBody>
      </p:sp>
      <p:sp>
        <p:nvSpPr>
          <p:cNvPr id="17" name="TextBox 16"/>
          <p:cNvSpPr txBox="1"/>
          <p:nvPr/>
        </p:nvSpPr>
        <p:spPr>
          <a:xfrm>
            <a:off x="4114800" y="2871216"/>
            <a:ext cx="7589520" cy="1005840"/>
          </a:xfrm>
          <a:prstGeom prst="rect">
            <a:avLst/>
          </a:prstGeom>
          <a:noFill/>
        </p:spPr>
        <p:txBody>
          <a:bodyPr wrap="square" anchor="t" lIns="0" rIns="0" tIns="0" bIns="0">
            <a:spAutoFit/>
          </a:bodyPr>
          <a:lstStyle/>
          <a:p>
            <a:pPr>
              <a:spcBef>
                <a:spcPts val="0"/>
              </a:spcBef>
              <a:spcAft>
                <a:spcPts val="200"/>
              </a:spcAft>
            </a:pPr>
            <a:r>
              <a:rPr sz="1300" b="1" i="0">
                <a:solidFill>
                  <a:srgbClr val="0F2A43"/>
                </a:solidFill>
                <a:latin typeface="Calibri"/>
              </a:rPr>
              <a:t>Download + resize to EDM</a:t>
            </a:r>
          </a:p>
          <a:p>
            <a:pPr>
              <a:spcBef>
                <a:spcPts val="0"/>
              </a:spcBef>
              <a:spcAft>
                <a:spcPts val="200"/>
              </a:spcAft>
            </a:pPr>
            <a:r>
              <a:rPr sz="1050" b="0" i="0">
                <a:solidFill>
                  <a:srgbClr val="5C6B79"/>
                </a:solidFill>
                <a:latin typeface="Calibri"/>
              </a:rPr>
              <a:t>PNG/PDF, then 'Resize' to an email header</a:t>
            </a:r>
          </a:p>
        </p:txBody>
      </p:sp>
      <p:sp>
        <p:nvSpPr>
          <p:cNvPr id="18" name="Rounded Rectangle 17"/>
          <p:cNvSpPr/>
          <p:nvPr/>
        </p:nvSpPr>
        <p:spPr>
          <a:xfrm>
            <a:off x="3566160" y="3657600"/>
            <a:ext cx="7955279" cy="137160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66160" y="3657600"/>
            <a:ext cx="109728" cy="137160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2" y="3767328"/>
            <a:ext cx="7543799" cy="1188720"/>
          </a:xfrm>
          <a:prstGeom prst="rect">
            <a:avLst/>
          </a:prstGeom>
          <a:noFill/>
        </p:spPr>
        <p:txBody>
          <a:bodyPr wrap="square" anchor="t" lIns="0" rIns="0" tIns="0" bIns="0">
            <a:spAutoFit/>
          </a:bodyPr>
          <a:lstStyle/>
          <a:p>
            <a:pPr>
              <a:spcBef>
                <a:spcPts val="0"/>
              </a:spcBef>
              <a:spcAft>
                <a:spcPts val="400"/>
              </a:spcAft>
            </a:pPr>
            <a:r>
              <a:rPr sz="1000" b="1" i="0">
                <a:solidFill>
                  <a:srgbClr val="14B8B0"/>
                </a:solidFill>
                <a:latin typeface="Calibri"/>
              </a:rPr>
              <a:t>PROMPT (into Canva Magic Design):</a:t>
            </a:r>
          </a:p>
          <a:p>
            <a:pPr>
              <a:spcBef>
                <a:spcPts val="0"/>
              </a:spcBef>
              <a:spcAft>
                <a:spcPts val="100"/>
              </a:spcAft>
            </a:pPr>
            <a:r>
              <a:rPr sz="950" b="0" i="0">
                <a:solidFill>
                  <a:srgbClr val="E7EFF5"/>
                </a:solidFill>
                <a:latin typeface="Consolas"/>
              </a:rPr>
              <a:t>Modern portrait event poster. Title 'Using AI in Our Lives',</a:t>
            </a:r>
          </a:p>
          <a:p>
            <a:pPr>
              <a:spcBef>
                <a:spcPts val="0"/>
              </a:spcBef>
              <a:spcAft>
                <a:spcPts val="100"/>
              </a:spcAft>
            </a:pPr>
            <a:r>
              <a:rPr sz="950" b="0" i="0">
                <a:solidFill>
                  <a:srgbClr val="E7EFF5"/>
                </a:solidFill>
                <a:latin typeface="Consolas"/>
              </a:rPr>
              <a:t>subtitle 'free tools only'. Include date/time/venue + 'bring laptop'.</a:t>
            </a:r>
          </a:p>
          <a:p>
            <a:pPr>
              <a:spcBef>
                <a:spcPts val="0"/>
              </a:spcBef>
              <a:spcAft>
                <a:spcPts val="100"/>
              </a:spcAft>
            </a:pPr>
            <a:r>
              <a:rPr sz="950" b="0" i="0">
                <a:solidFill>
                  <a:srgbClr val="E7EFF5"/>
                </a:solidFill>
                <a:latin typeface="Consolas"/>
              </a:rPr>
              <a:t>Clean, blue &amp; teal, white space, lightbulb motif. Keep text editable.</a:t>
            </a:r>
          </a:p>
        </p:txBody>
      </p:sp>
      <p:sp>
        <p:nvSpPr>
          <p:cNvPr id="21" name="Rounded Rectangle 20"/>
          <p:cNvSpPr/>
          <p:nvPr/>
        </p:nvSpPr>
        <p:spPr>
          <a:xfrm>
            <a:off x="3566160" y="5120640"/>
            <a:ext cx="7955279" cy="658368"/>
          </a:xfrm>
          <a:prstGeom prst="roundRect">
            <a:avLst/>
          </a:prstGeom>
          <a:solidFill>
            <a:srgbClr val="DD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66160" y="5120640"/>
            <a:ext cx="109728" cy="658368"/>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2" y="5138928"/>
            <a:ext cx="7543799" cy="658368"/>
          </a:xfrm>
          <a:prstGeom prst="rect">
            <a:avLst/>
          </a:prstGeom>
          <a:noFill/>
        </p:spPr>
        <p:txBody>
          <a:bodyPr wrap="square" anchor="ctr" lIns="0" rIns="0" tIns="0" bIns="0">
            <a:spAutoFit/>
          </a:bodyPr>
          <a:lstStyle/>
          <a:p>
            <a:pPr>
              <a:spcBef>
                <a:spcPts val="0"/>
              </a:spcBef>
              <a:spcAft>
                <a:spcPts val="600"/>
              </a:spcAft>
            </a:pPr>
            <a:r>
              <a:rPr sz="1300" b="1" i="0">
                <a:solidFill>
                  <a:srgbClr val="14B8B0"/>
                </a:solidFill>
                <a:latin typeface="Calibri"/>
              </a:rPr>
              <a:t>🌟  </a:t>
            </a:r>
            <a:r>
              <a:rPr sz="1150" b="0" i="0">
                <a:solidFill>
                  <a:srgbClr val="242D35"/>
                </a:solidFill>
                <a:latin typeface="Calibri"/>
              </a:rPr>
              <a:t>WOW: live-edit the date on a finished poster. 'Try that with a flat JPG from a designer.'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2.6 AI VIDEO CREATION</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From a text prompt to moving pictures</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20</a:t>
            </a:r>
          </a:p>
        </p:txBody>
      </p:sp>
      <p:sp>
        <p:nvSpPr>
          <p:cNvPr id="9" name="Rounded Rectangle 8"/>
          <p:cNvSpPr/>
          <p:nvPr/>
        </p:nvSpPr>
        <p:spPr>
          <a:xfrm>
            <a:off x="685800" y="1874519"/>
            <a:ext cx="3429000" cy="21945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874519"/>
            <a:ext cx="3429000" cy="566928"/>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Canva / CapCut</a:t>
            </a:r>
          </a:p>
          <a:p>
            <a:r>
              <a:rPr sz="950" b="0" i="0">
                <a:solidFill>
                  <a:srgbClr val="EAF3F8"/>
                </a:solidFill>
                <a:latin typeface="Calibri"/>
              </a:rPr>
              <a:t>Easiest, beginner-friendly</a:t>
            </a:r>
          </a:p>
        </p:txBody>
      </p:sp>
      <p:sp>
        <p:nvSpPr>
          <p:cNvPr id="11" name="Rectangle 10"/>
          <p:cNvSpPr/>
          <p:nvPr/>
        </p:nvSpPr>
        <p:spPr>
          <a:xfrm>
            <a:off x="685800" y="2157983"/>
            <a:ext cx="3429000" cy="283464"/>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2587751"/>
            <a:ext cx="3136392" cy="137160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Script/slides → narrated video; watermark-free path</a:t>
            </a:r>
          </a:p>
          <a:p>
            <a:pPr>
              <a:spcBef>
                <a:spcPts val="300"/>
              </a:spcBef>
              <a:spcAft>
                <a:spcPts val="0"/>
              </a:spcAft>
            </a:pPr>
            <a:r>
              <a:rPr sz="1200" b="1" i="0">
                <a:solidFill>
                  <a:srgbClr val="E89A18"/>
                </a:solidFill>
                <a:latin typeface="Calibri"/>
              </a:rPr>
              <a:t>⚠ </a:t>
            </a:r>
            <a:r>
              <a:rPr sz="1100" b="0" i="0">
                <a:solidFill>
                  <a:srgbClr val="5C6B79"/>
                </a:solidFill>
                <a:latin typeface="Calibri"/>
              </a:rPr>
              <a:t>Template-driven, not generated 'cinema'</a:t>
            </a:r>
          </a:p>
        </p:txBody>
      </p:sp>
      <p:sp>
        <p:nvSpPr>
          <p:cNvPr id="13" name="Rounded Rectangle 12"/>
          <p:cNvSpPr/>
          <p:nvPr/>
        </p:nvSpPr>
        <p:spPr>
          <a:xfrm>
            <a:off x="4379976" y="1874519"/>
            <a:ext cx="3429000" cy="21945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9976" y="1874519"/>
            <a:ext cx="3429000" cy="566928"/>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Google Veo (Gemini)</a:t>
            </a:r>
          </a:p>
          <a:p>
            <a:r>
              <a:rPr sz="950" b="0" i="0">
                <a:solidFill>
                  <a:srgbClr val="EAF3F8"/>
                </a:solidFill>
                <a:latin typeface="Calibri"/>
              </a:rPr>
              <a:t>Most realistic clips</a:t>
            </a:r>
          </a:p>
        </p:txBody>
      </p:sp>
      <p:sp>
        <p:nvSpPr>
          <p:cNvPr id="15" name="Rectangle 14"/>
          <p:cNvSpPr/>
          <p:nvPr/>
        </p:nvSpPr>
        <p:spPr>
          <a:xfrm>
            <a:off x="4379976" y="2157983"/>
            <a:ext cx="3429000" cy="2834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87751"/>
            <a:ext cx="3136392" cy="137160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Text → lifelike short clips, with generated sound</a:t>
            </a:r>
          </a:p>
          <a:p>
            <a:pPr>
              <a:spcBef>
                <a:spcPts val="300"/>
              </a:spcBef>
              <a:spcAft>
                <a:spcPts val="0"/>
              </a:spcAft>
            </a:pPr>
            <a:r>
              <a:rPr sz="1200" b="1" i="0">
                <a:solidFill>
                  <a:srgbClr val="E89A18"/>
                </a:solidFill>
                <a:latin typeface="Calibri"/>
              </a:rPr>
              <a:t>⚠ </a:t>
            </a:r>
            <a:r>
              <a:rPr sz="1100" b="0" i="0">
                <a:solidFill>
                  <a:srgbClr val="5C6B79"/>
                </a:solidFill>
                <a:latin typeface="Calibri"/>
              </a:rPr>
              <a:t>Short clips; small free daily allowance</a:t>
            </a:r>
          </a:p>
        </p:txBody>
      </p:sp>
      <p:sp>
        <p:nvSpPr>
          <p:cNvPr id="17" name="Rounded Rectangle 16"/>
          <p:cNvSpPr/>
          <p:nvPr/>
        </p:nvSpPr>
        <p:spPr>
          <a:xfrm>
            <a:off x="8074152" y="1874519"/>
            <a:ext cx="3429000" cy="21945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74152" y="1874519"/>
            <a:ext cx="3429000" cy="566928"/>
          </a:xfrm>
          <a:prstGeom prst="round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Runway / Kling / Luma</a:t>
            </a:r>
          </a:p>
          <a:p>
            <a:r>
              <a:rPr sz="950" b="0" i="0">
                <a:solidFill>
                  <a:srgbClr val="EAF3F8"/>
                </a:solidFill>
                <a:latin typeface="Calibri"/>
              </a:rPr>
              <a:t>Creative control</a:t>
            </a:r>
          </a:p>
        </p:txBody>
      </p:sp>
      <p:sp>
        <p:nvSpPr>
          <p:cNvPr id="19" name="Rectangle 18"/>
          <p:cNvSpPr/>
          <p:nvPr/>
        </p:nvSpPr>
        <p:spPr>
          <a:xfrm>
            <a:off x="8074152" y="2157983"/>
            <a:ext cx="3429000" cy="283464"/>
          </a:xfrm>
          <a:prstGeom prst="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0456" y="2587751"/>
            <a:ext cx="3136392" cy="137160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Styles, motion control, editing tools</a:t>
            </a:r>
          </a:p>
          <a:p>
            <a:pPr>
              <a:spcBef>
                <a:spcPts val="300"/>
              </a:spcBef>
              <a:spcAft>
                <a:spcPts val="0"/>
              </a:spcAft>
            </a:pPr>
            <a:r>
              <a:rPr sz="1200" b="1" i="0">
                <a:solidFill>
                  <a:srgbClr val="E89A18"/>
                </a:solidFill>
                <a:latin typeface="Calibri"/>
              </a:rPr>
              <a:t>⚠ </a:t>
            </a:r>
            <a:r>
              <a:rPr sz="1100" b="0" i="0">
                <a:solidFill>
                  <a:srgbClr val="5C6B79"/>
                </a:solidFill>
                <a:latin typeface="Calibri"/>
              </a:rPr>
              <a:t>Watermarks; limited free credits</a:t>
            </a:r>
          </a:p>
        </p:txBody>
      </p:sp>
      <p:sp>
        <p:nvSpPr>
          <p:cNvPr id="21" name="Rounded Rectangle 20"/>
          <p:cNvSpPr/>
          <p:nvPr/>
        </p:nvSpPr>
        <p:spPr>
          <a:xfrm>
            <a:off x="685800" y="4297680"/>
            <a:ext cx="10817352" cy="1371600"/>
          </a:xfrm>
          <a:prstGeom prst="roundRect">
            <a:avLst/>
          </a:prstGeom>
          <a:solidFill>
            <a:srgbClr val="FBF1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5800" y="4297680"/>
            <a:ext cx="109728" cy="1371600"/>
          </a:xfrm>
          <a:prstGeom prst="roundRect">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4315968"/>
            <a:ext cx="10405872" cy="1371600"/>
          </a:xfrm>
          <a:prstGeom prst="rect">
            <a:avLst/>
          </a:prstGeom>
          <a:noFill/>
        </p:spPr>
        <p:txBody>
          <a:bodyPr wrap="square" anchor="ctr" lIns="0" rIns="0" tIns="0" bIns="0">
            <a:spAutoFit/>
          </a:bodyPr>
          <a:lstStyle/>
          <a:p>
            <a:pPr>
              <a:spcBef>
                <a:spcPts val="0"/>
              </a:spcBef>
              <a:spcAft>
                <a:spcPts val="600"/>
              </a:spcAft>
            </a:pPr>
            <a:r>
              <a:rPr sz="1300" b="1" i="0">
                <a:solidFill>
                  <a:srgbClr val="E89A18"/>
                </a:solidFill>
                <a:latin typeface="Calibri"/>
              </a:rPr>
              <a:t>⚠️  </a:t>
            </a:r>
            <a:r>
              <a:rPr sz="1150" b="0" i="0">
                <a:solidFill>
                  <a:srgbClr val="242D35"/>
                </a:solidFill>
                <a:latin typeface="Calibri"/>
              </a:rPr>
              <a:t>Reality check for ALL free video: clips are short (seconds, not minutes), rate-limited, often watermarked, and NOT licensed for commercial use. Astonishing for learning &amp; personal projects — not yet for client work. (No live demo — generation is slow; prompt is in your handout.)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2.7 HOLIDAY PLANNING</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Your instant travel brainstorming partner</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21</a:t>
            </a:r>
          </a:p>
        </p:txBody>
      </p:sp>
      <p:sp>
        <p:nvSpPr>
          <p:cNvPr id="9" name="Rounded Rectangle 8"/>
          <p:cNvSpPr/>
          <p:nvPr/>
        </p:nvSpPr>
        <p:spPr>
          <a:xfrm>
            <a:off x="685800" y="1874519"/>
            <a:ext cx="5303520" cy="210312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874519"/>
            <a:ext cx="5303520" cy="566928"/>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ChatGPT / Gemini</a:t>
            </a:r>
          </a:p>
          <a:p>
            <a:r>
              <a:rPr sz="950" b="0" i="0">
                <a:solidFill>
                  <a:srgbClr val="EAF3F8"/>
                </a:solidFill>
                <a:latin typeface="Calibri"/>
              </a:rPr>
              <a:t>Best all-round planner</a:t>
            </a:r>
          </a:p>
        </p:txBody>
      </p:sp>
      <p:sp>
        <p:nvSpPr>
          <p:cNvPr id="11" name="Rectangle 10"/>
          <p:cNvSpPr/>
          <p:nvPr/>
        </p:nvSpPr>
        <p:spPr>
          <a:xfrm>
            <a:off x="685800" y="2157983"/>
            <a:ext cx="5303520" cy="283464"/>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2587751"/>
            <a:ext cx="5010912" cy="128016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Turns a vague idea into a day-by-day itinerary in seconds</a:t>
            </a:r>
          </a:p>
          <a:p>
            <a:pPr>
              <a:spcBef>
                <a:spcPts val="300"/>
              </a:spcBef>
              <a:spcAft>
                <a:spcPts val="0"/>
              </a:spcAft>
            </a:pPr>
            <a:r>
              <a:rPr sz="1200" b="1" i="0">
                <a:solidFill>
                  <a:srgbClr val="E89A18"/>
                </a:solidFill>
                <a:latin typeface="Calibri"/>
              </a:rPr>
              <a:t>⚠ </a:t>
            </a:r>
            <a:r>
              <a:rPr sz="1100" b="0" i="0">
                <a:solidFill>
                  <a:srgbClr val="5C6B79"/>
                </a:solidFill>
                <a:latin typeface="Calibri"/>
              </a:rPr>
              <a:t>Prices &amp; 'this place exists' claims can be wrong</a:t>
            </a:r>
          </a:p>
        </p:txBody>
      </p:sp>
      <p:sp>
        <p:nvSpPr>
          <p:cNvPr id="13" name="Rounded Rectangle 12"/>
          <p:cNvSpPr/>
          <p:nvPr/>
        </p:nvSpPr>
        <p:spPr>
          <a:xfrm>
            <a:off x="6199632" y="1874519"/>
            <a:ext cx="5303520" cy="210312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99632" y="1874519"/>
            <a:ext cx="5303520" cy="566928"/>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76200"/>
          <a:lstStyle/>
          <a:p>
            <a:pPr algn="ctr"/>
            <a:r>
              <a:rPr sz="1500" b="1" i="0">
                <a:solidFill>
                  <a:srgbClr val="FFFFFF"/>
                </a:solidFill>
                <a:latin typeface="Calibri"/>
              </a:rPr>
              <a:t>Wonderplan · Google Travel</a:t>
            </a:r>
          </a:p>
          <a:p>
            <a:r>
              <a:rPr sz="950" b="0" i="0">
                <a:solidFill>
                  <a:srgbClr val="EAF3F8"/>
                </a:solidFill>
                <a:latin typeface="Calibri"/>
              </a:rPr>
              <a:t>Free dedicated tools</a:t>
            </a:r>
          </a:p>
        </p:txBody>
      </p:sp>
      <p:sp>
        <p:nvSpPr>
          <p:cNvPr id="15" name="Rectangle 14"/>
          <p:cNvSpPr/>
          <p:nvPr/>
        </p:nvSpPr>
        <p:spPr>
          <a:xfrm>
            <a:off x="6199632" y="2157983"/>
            <a:ext cx="5303520" cy="2834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5936" y="2587751"/>
            <a:ext cx="5010912" cy="1280160"/>
          </a:xfrm>
          <a:prstGeom prst="rect">
            <a:avLst/>
          </a:prstGeom>
          <a:noFill/>
        </p:spPr>
        <p:txBody>
          <a:bodyPr wrap="square" anchor="t" lIns="0" rIns="0" tIns="0" bIns="0">
            <a:spAutoFit/>
          </a:bodyPr>
          <a:lstStyle/>
          <a:p>
            <a:pPr>
              <a:spcBef>
                <a:spcPts val="0"/>
              </a:spcBef>
              <a:spcAft>
                <a:spcPts val="500"/>
              </a:spcAft>
            </a:pPr>
            <a:r>
              <a:rPr sz="1200" b="1" i="0">
                <a:solidFill>
                  <a:srgbClr val="2E9E5B"/>
                </a:solidFill>
                <a:latin typeface="Calibri"/>
              </a:rPr>
              <a:t>✓ </a:t>
            </a:r>
            <a:r>
              <a:rPr sz="1100" b="0" i="0">
                <a:solidFill>
                  <a:srgbClr val="242D35"/>
                </a:solidFill>
                <a:latin typeface="Calibri"/>
              </a:rPr>
              <a:t>Maps, budgets, and real listings alongside the plan</a:t>
            </a:r>
          </a:p>
          <a:p>
            <a:pPr>
              <a:spcBef>
                <a:spcPts val="300"/>
              </a:spcBef>
              <a:spcAft>
                <a:spcPts val="0"/>
              </a:spcAft>
            </a:pPr>
            <a:r>
              <a:rPr sz="1200" b="1" i="0">
                <a:solidFill>
                  <a:srgbClr val="E89A18"/>
                </a:solidFill>
                <a:latin typeface="Calibri"/>
              </a:rPr>
              <a:t>⚠ </a:t>
            </a:r>
            <a:r>
              <a:rPr sz="1100" b="0" i="0">
                <a:solidFill>
                  <a:srgbClr val="5C6B79"/>
                </a:solidFill>
                <a:latin typeface="Calibri"/>
              </a:rPr>
              <a:t>Less flexible than an open chat</a:t>
            </a:r>
          </a:p>
        </p:txBody>
      </p:sp>
      <p:sp>
        <p:nvSpPr>
          <p:cNvPr id="17" name="Rounded Rectangle 16"/>
          <p:cNvSpPr/>
          <p:nvPr/>
        </p:nvSpPr>
        <p:spPr>
          <a:xfrm>
            <a:off x="685800" y="4114800"/>
            <a:ext cx="6949440" cy="155448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4114800"/>
            <a:ext cx="109728" cy="155448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4224528"/>
            <a:ext cx="6537960" cy="1371600"/>
          </a:xfrm>
          <a:prstGeom prst="rect">
            <a:avLst/>
          </a:prstGeom>
          <a:noFill/>
        </p:spPr>
        <p:txBody>
          <a:bodyPr wrap="square" anchor="t" lIns="0" rIns="0" tIns="0" bIns="0">
            <a:spAutoFit/>
          </a:bodyPr>
          <a:lstStyle/>
          <a:p>
            <a:pPr>
              <a:spcBef>
                <a:spcPts val="0"/>
              </a:spcBef>
              <a:spcAft>
                <a:spcPts val="400"/>
              </a:spcAft>
            </a:pPr>
            <a:r>
              <a:rPr sz="1000" b="1" i="0">
                <a:solidFill>
                  <a:srgbClr val="14B8B0"/>
                </a:solidFill>
                <a:latin typeface="Calibri"/>
              </a:rPr>
              <a:t>GIVE IT THE DETAILS:</a:t>
            </a:r>
          </a:p>
          <a:p>
            <a:pPr>
              <a:spcBef>
                <a:spcPts val="0"/>
              </a:spcBef>
              <a:spcAft>
                <a:spcPts val="100"/>
              </a:spcAft>
            </a:pPr>
            <a:r>
              <a:rPr sz="950" b="0" i="0">
                <a:solidFill>
                  <a:srgbClr val="E7EFF5"/>
                </a:solidFill>
                <a:latin typeface="Consolas"/>
              </a:rPr>
              <a:t>'10 relaxed days in Japan, food-focused, mid-budget,</a:t>
            </a:r>
          </a:p>
          <a:p>
            <a:pPr>
              <a:spcBef>
                <a:spcPts val="0"/>
              </a:spcBef>
              <a:spcAft>
                <a:spcPts val="100"/>
              </a:spcAft>
            </a:pPr>
            <a:r>
              <a:rPr sz="950" b="0" i="0">
                <a:solidFill>
                  <a:srgbClr val="E7EFF5"/>
                </a:solidFill>
                <a:latin typeface="Consolas"/>
              </a:rPr>
              <a:t>2 adults, first visit, hate early starts — build a</a:t>
            </a:r>
          </a:p>
          <a:p>
            <a:pPr>
              <a:spcBef>
                <a:spcPts val="0"/>
              </a:spcBef>
              <a:spcAft>
                <a:spcPts val="100"/>
              </a:spcAft>
            </a:pPr>
            <a:r>
              <a:rPr sz="950" b="0" i="0">
                <a:solidFill>
                  <a:srgbClr val="E7EFF5"/>
                </a:solidFill>
                <a:latin typeface="Consolas"/>
              </a:rPr>
              <a:t>day-by-day plan with 2–3 options each day.'</a:t>
            </a:r>
          </a:p>
        </p:txBody>
      </p:sp>
      <p:sp>
        <p:nvSpPr>
          <p:cNvPr id="20" name="Rounded Rectangle 19"/>
          <p:cNvSpPr/>
          <p:nvPr/>
        </p:nvSpPr>
        <p:spPr>
          <a:xfrm>
            <a:off x="7772400" y="4114800"/>
            <a:ext cx="3730752" cy="1554480"/>
          </a:xfrm>
          <a:prstGeom prst="roundRect">
            <a:avLst/>
          </a:prstGeom>
          <a:solidFill>
            <a:srgbClr val="FBF1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0" y="4114800"/>
            <a:ext cx="109728" cy="1554480"/>
          </a:xfrm>
          <a:prstGeom prst="roundRect">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2" y="4133088"/>
            <a:ext cx="3319272" cy="1554480"/>
          </a:xfrm>
          <a:prstGeom prst="rect">
            <a:avLst/>
          </a:prstGeom>
          <a:noFill/>
        </p:spPr>
        <p:txBody>
          <a:bodyPr wrap="square" anchor="ctr" lIns="0" rIns="0" tIns="0" bIns="0">
            <a:spAutoFit/>
          </a:bodyPr>
          <a:lstStyle/>
          <a:p>
            <a:pPr>
              <a:spcBef>
                <a:spcPts val="0"/>
              </a:spcBef>
              <a:spcAft>
                <a:spcPts val="600"/>
              </a:spcAft>
            </a:pPr>
            <a:r>
              <a:rPr sz="1300" b="1" i="0">
                <a:solidFill>
                  <a:srgbClr val="E89A18"/>
                </a:solidFill>
                <a:latin typeface="Calibri"/>
              </a:rPr>
              <a:t>⚠️  </a:t>
            </a:r>
            <a:r>
              <a:rPr sz="1150" b="0" i="0">
                <a:solidFill>
                  <a:srgbClr val="242D35"/>
                </a:solidFill>
                <a:latin typeface="Calibri"/>
              </a:rPr>
              <a:t>Always verify prices, opening hours &amp; bookings. Use AI to plan — not to pay.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2.8 AI IN DAILY LIFE</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The small wins that add up</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8 Everyday Jobs</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22</a:t>
            </a:r>
          </a:p>
        </p:txBody>
      </p:sp>
      <p:sp>
        <p:nvSpPr>
          <p:cNvPr id="9" name="Rounded Rectangle 8"/>
          <p:cNvSpPr/>
          <p:nvPr/>
        </p:nvSpPr>
        <p:spPr>
          <a:xfrm>
            <a:off x="685800" y="1920240"/>
            <a:ext cx="3502152" cy="1371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68680" y="2176272"/>
            <a:ext cx="548640" cy="54864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176272"/>
            <a:ext cx="548640" cy="54864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a:t>
            </a:r>
          </a:p>
        </p:txBody>
      </p:sp>
      <p:sp>
        <p:nvSpPr>
          <p:cNvPr id="12" name="TextBox 11"/>
          <p:cNvSpPr txBox="1"/>
          <p:nvPr/>
        </p:nvSpPr>
        <p:spPr>
          <a:xfrm>
            <a:off x="1554480" y="2066544"/>
            <a:ext cx="2496312" cy="1097280"/>
          </a:xfrm>
          <a:prstGeom prst="rect">
            <a:avLst/>
          </a:prstGeom>
          <a:noFill/>
        </p:spPr>
        <p:txBody>
          <a:bodyPr wrap="square" anchor="ctr" lIns="0" rIns="0" tIns="0" bIns="0">
            <a:spAutoFit/>
          </a:bodyPr>
          <a:lstStyle/>
          <a:p>
            <a:pPr>
              <a:spcBef>
                <a:spcPts val="0"/>
              </a:spcBef>
              <a:spcAft>
                <a:spcPts val="200"/>
              </a:spcAft>
            </a:pPr>
            <a:r>
              <a:rPr sz="1250" b="1" i="0">
                <a:solidFill>
                  <a:srgbClr val="0F2A43"/>
                </a:solidFill>
                <a:latin typeface="Calibri"/>
              </a:rPr>
              <a:t>Fridge → dinner</a:t>
            </a:r>
          </a:p>
          <a:p>
            <a:pPr>
              <a:spcBef>
                <a:spcPts val="0"/>
              </a:spcBef>
              <a:spcAft>
                <a:spcPts val="600"/>
              </a:spcAft>
            </a:pPr>
            <a:r>
              <a:rPr sz="1000" b="0" i="0">
                <a:solidFill>
                  <a:srgbClr val="5C6B79"/>
                </a:solidFill>
                <a:latin typeface="Calibri"/>
              </a:rPr>
              <a:t>3 meal ideas from a photo of what you have</a:t>
            </a:r>
          </a:p>
        </p:txBody>
      </p:sp>
      <p:sp>
        <p:nvSpPr>
          <p:cNvPr id="13" name="Rounded Rectangle 12"/>
          <p:cNvSpPr/>
          <p:nvPr/>
        </p:nvSpPr>
        <p:spPr>
          <a:xfrm>
            <a:off x="4343400" y="1920240"/>
            <a:ext cx="3502152" cy="1371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26280" y="2176272"/>
            <a:ext cx="548640" cy="54864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176272"/>
            <a:ext cx="548640" cy="54864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a:t>
            </a:r>
          </a:p>
        </p:txBody>
      </p:sp>
      <p:sp>
        <p:nvSpPr>
          <p:cNvPr id="16" name="TextBox 15"/>
          <p:cNvSpPr txBox="1"/>
          <p:nvPr/>
        </p:nvSpPr>
        <p:spPr>
          <a:xfrm>
            <a:off x="5212080" y="2066544"/>
            <a:ext cx="2496312" cy="1097280"/>
          </a:xfrm>
          <a:prstGeom prst="rect">
            <a:avLst/>
          </a:prstGeom>
          <a:noFill/>
        </p:spPr>
        <p:txBody>
          <a:bodyPr wrap="square" anchor="ctr" lIns="0" rIns="0" tIns="0" bIns="0">
            <a:spAutoFit/>
          </a:bodyPr>
          <a:lstStyle/>
          <a:p>
            <a:pPr>
              <a:spcBef>
                <a:spcPts val="0"/>
              </a:spcBef>
              <a:spcAft>
                <a:spcPts val="200"/>
              </a:spcAft>
            </a:pPr>
            <a:r>
              <a:rPr sz="1250" b="1" i="0">
                <a:solidFill>
                  <a:srgbClr val="0F2A43"/>
                </a:solidFill>
                <a:latin typeface="Calibri"/>
              </a:rPr>
              <a:t>Explain the jargon</a:t>
            </a:r>
          </a:p>
          <a:p>
            <a:pPr>
              <a:spcBef>
                <a:spcPts val="0"/>
              </a:spcBef>
              <a:spcAft>
                <a:spcPts val="600"/>
              </a:spcAft>
            </a:pPr>
            <a:r>
              <a:rPr sz="1000" b="0" i="0">
                <a:solidFill>
                  <a:srgbClr val="5C6B79"/>
                </a:solidFill>
                <a:latin typeface="Calibri"/>
              </a:rPr>
              <a:t>Decode a contract, letter, or insurance form</a:t>
            </a:r>
          </a:p>
        </p:txBody>
      </p:sp>
      <p:sp>
        <p:nvSpPr>
          <p:cNvPr id="17" name="Rounded Rectangle 16"/>
          <p:cNvSpPr/>
          <p:nvPr/>
        </p:nvSpPr>
        <p:spPr>
          <a:xfrm>
            <a:off x="8001000" y="1920240"/>
            <a:ext cx="3502152" cy="1371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83880" y="2176272"/>
            <a:ext cx="548640" cy="54864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3880" y="2176272"/>
            <a:ext cx="548640" cy="54864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a:t>
            </a:r>
          </a:p>
        </p:txBody>
      </p:sp>
      <p:sp>
        <p:nvSpPr>
          <p:cNvPr id="20" name="TextBox 19"/>
          <p:cNvSpPr txBox="1"/>
          <p:nvPr/>
        </p:nvSpPr>
        <p:spPr>
          <a:xfrm>
            <a:off x="8869680" y="2066544"/>
            <a:ext cx="2496312" cy="1097280"/>
          </a:xfrm>
          <a:prstGeom prst="rect">
            <a:avLst/>
          </a:prstGeom>
          <a:noFill/>
        </p:spPr>
        <p:txBody>
          <a:bodyPr wrap="square" anchor="ctr" lIns="0" rIns="0" tIns="0" bIns="0">
            <a:spAutoFit/>
          </a:bodyPr>
          <a:lstStyle/>
          <a:p>
            <a:pPr>
              <a:spcBef>
                <a:spcPts val="0"/>
              </a:spcBef>
              <a:spcAft>
                <a:spcPts val="200"/>
              </a:spcAft>
            </a:pPr>
            <a:r>
              <a:rPr sz="1250" b="1" i="0">
                <a:solidFill>
                  <a:srgbClr val="0F2A43"/>
                </a:solidFill>
                <a:latin typeface="Calibri"/>
              </a:rPr>
              <a:t>Summarise anything</a:t>
            </a:r>
          </a:p>
          <a:p>
            <a:pPr>
              <a:spcBef>
                <a:spcPts val="0"/>
              </a:spcBef>
              <a:spcAft>
                <a:spcPts val="600"/>
              </a:spcAft>
            </a:pPr>
            <a:r>
              <a:rPr sz="1000" b="0" i="0">
                <a:solidFill>
                  <a:srgbClr val="5C6B79"/>
                </a:solidFill>
                <a:latin typeface="Calibri"/>
              </a:rPr>
              <a:t>5 key points from a 40-page PDF or article</a:t>
            </a:r>
          </a:p>
        </p:txBody>
      </p:sp>
      <p:sp>
        <p:nvSpPr>
          <p:cNvPr id="21" name="Rounded Rectangle 20"/>
          <p:cNvSpPr/>
          <p:nvPr/>
        </p:nvSpPr>
        <p:spPr>
          <a:xfrm>
            <a:off x="685800" y="3438144"/>
            <a:ext cx="3502152" cy="1371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8680" y="3694176"/>
            <a:ext cx="548640" cy="54864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94176"/>
            <a:ext cx="548640" cy="54864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a:t>
            </a:r>
          </a:p>
        </p:txBody>
      </p:sp>
      <p:sp>
        <p:nvSpPr>
          <p:cNvPr id="24" name="TextBox 23"/>
          <p:cNvSpPr txBox="1"/>
          <p:nvPr/>
        </p:nvSpPr>
        <p:spPr>
          <a:xfrm>
            <a:off x="1554480" y="3584448"/>
            <a:ext cx="2496312" cy="1097280"/>
          </a:xfrm>
          <a:prstGeom prst="rect">
            <a:avLst/>
          </a:prstGeom>
          <a:noFill/>
        </p:spPr>
        <p:txBody>
          <a:bodyPr wrap="square" anchor="ctr" lIns="0" rIns="0" tIns="0" bIns="0">
            <a:spAutoFit/>
          </a:bodyPr>
          <a:lstStyle/>
          <a:p>
            <a:pPr>
              <a:spcBef>
                <a:spcPts val="0"/>
              </a:spcBef>
              <a:spcAft>
                <a:spcPts val="200"/>
              </a:spcAft>
            </a:pPr>
            <a:r>
              <a:rPr sz="1250" b="1" i="0">
                <a:solidFill>
                  <a:srgbClr val="0F2A43"/>
                </a:solidFill>
                <a:latin typeface="Calibri"/>
              </a:rPr>
              <a:t>Soften a message</a:t>
            </a:r>
          </a:p>
          <a:p>
            <a:pPr>
              <a:spcBef>
                <a:spcPts val="0"/>
              </a:spcBef>
              <a:spcAft>
                <a:spcPts val="600"/>
              </a:spcAft>
            </a:pPr>
            <a:r>
              <a:rPr sz="1000" b="0" i="0">
                <a:solidFill>
                  <a:srgbClr val="5C6B79"/>
                </a:solidFill>
                <a:latin typeface="Calibri"/>
              </a:rPr>
              <a:t>Draft the awkward email you're avoiding</a:t>
            </a:r>
          </a:p>
        </p:txBody>
      </p:sp>
      <p:sp>
        <p:nvSpPr>
          <p:cNvPr id="25" name="Rounded Rectangle 24"/>
          <p:cNvSpPr/>
          <p:nvPr/>
        </p:nvSpPr>
        <p:spPr>
          <a:xfrm>
            <a:off x="4343400" y="3438144"/>
            <a:ext cx="3502152" cy="1371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526280" y="3694176"/>
            <a:ext cx="548640" cy="54864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3694176"/>
            <a:ext cx="548640" cy="54864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a:t>
            </a:r>
          </a:p>
        </p:txBody>
      </p:sp>
      <p:sp>
        <p:nvSpPr>
          <p:cNvPr id="28" name="TextBox 27"/>
          <p:cNvSpPr txBox="1"/>
          <p:nvPr/>
        </p:nvSpPr>
        <p:spPr>
          <a:xfrm>
            <a:off x="5212080" y="3584448"/>
            <a:ext cx="2496312" cy="1097280"/>
          </a:xfrm>
          <a:prstGeom prst="rect">
            <a:avLst/>
          </a:prstGeom>
          <a:noFill/>
        </p:spPr>
        <p:txBody>
          <a:bodyPr wrap="square" anchor="ctr" lIns="0" rIns="0" tIns="0" bIns="0">
            <a:spAutoFit/>
          </a:bodyPr>
          <a:lstStyle/>
          <a:p>
            <a:pPr>
              <a:spcBef>
                <a:spcPts val="0"/>
              </a:spcBef>
              <a:spcAft>
                <a:spcPts val="200"/>
              </a:spcAft>
            </a:pPr>
            <a:r>
              <a:rPr sz="1250" b="1" i="0">
                <a:solidFill>
                  <a:srgbClr val="0F2A43"/>
                </a:solidFill>
                <a:latin typeface="Calibri"/>
              </a:rPr>
              <a:t>Translate live</a:t>
            </a:r>
          </a:p>
          <a:p>
            <a:pPr>
              <a:spcBef>
                <a:spcPts val="0"/>
              </a:spcBef>
              <a:spcAft>
                <a:spcPts val="600"/>
              </a:spcAft>
            </a:pPr>
            <a:r>
              <a:rPr sz="1000" b="0" i="0">
                <a:solidFill>
                  <a:srgbClr val="5C6B79"/>
                </a:solidFill>
                <a:latin typeface="Calibri"/>
              </a:rPr>
              <a:t>Point your camera at a menu or sign</a:t>
            </a:r>
          </a:p>
        </p:txBody>
      </p:sp>
      <p:sp>
        <p:nvSpPr>
          <p:cNvPr id="29" name="Rounded Rectangle 28"/>
          <p:cNvSpPr/>
          <p:nvPr/>
        </p:nvSpPr>
        <p:spPr>
          <a:xfrm>
            <a:off x="8001000" y="3438144"/>
            <a:ext cx="3502152" cy="137160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183880" y="3694176"/>
            <a:ext cx="548640" cy="54864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3694176"/>
            <a:ext cx="548640" cy="548640"/>
          </a:xfrm>
          <a:prstGeom prst="rect">
            <a:avLst/>
          </a:prstGeom>
          <a:noFill/>
        </p:spPr>
        <p:txBody>
          <a:bodyPr wrap="square" anchor="ctr" lIns="0" rIns="0" tIns="0" bIns="0">
            <a:spAutoFit/>
          </a:bodyPr>
          <a:lstStyle/>
          <a:p>
            <a:pPr algn="ctr">
              <a:spcBef>
                <a:spcPts val="0"/>
              </a:spcBef>
              <a:spcAft>
                <a:spcPts val="600"/>
              </a:spcAft>
            </a:pPr>
            <a:r>
              <a:rPr sz="1700" b="1" i="0">
                <a:solidFill>
                  <a:srgbClr val="FFFFFF"/>
                </a:solidFill>
                <a:latin typeface="Calibri"/>
              </a:rPr>
              <a:t>🎁</a:t>
            </a:r>
          </a:p>
        </p:txBody>
      </p:sp>
      <p:sp>
        <p:nvSpPr>
          <p:cNvPr id="32" name="TextBox 31"/>
          <p:cNvSpPr txBox="1"/>
          <p:nvPr/>
        </p:nvSpPr>
        <p:spPr>
          <a:xfrm>
            <a:off x="8869680" y="3584448"/>
            <a:ext cx="2496312" cy="1097280"/>
          </a:xfrm>
          <a:prstGeom prst="rect">
            <a:avLst/>
          </a:prstGeom>
          <a:noFill/>
        </p:spPr>
        <p:txBody>
          <a:bodyPr wrap="square" anchor="ctr" lIns="0" rIns="0" tIns="0" bIns="0">
            <a:spAutoFit/>
          </a:bodyPr>
          <a:lstStyle/>
          <a:p>
            <a:pPr>
              <a:spcBef>
                <a:spcPts val="0"/>
              </a:spcBef>
              <a:spcAft>
                <a:spcPts val="200"/>
              </a:spcAft>
            </a:pPr>
            <a:r>
              <a:rPr sz="1250" b="1" i="0">
                <a:solidFill>
                  <a:srgbClr val="0F2A43"/>
                </a:solidFill>
                <a:latin typeface="Calibri"/>
              </a:rPr>
              <a:t>Write the tricky bit</a:t>
            </a:r>
          </a:p>
          <a:p>
            <a:pPr>
              <a:spcBef>
                <a:spcPts val="0"/>
              </a:spcBef>
              <a:spcAft>
                <a:spcPts val="600"/>
              </a:spcAft>
            </a:pPr>
            <a:r>
              <a:rPr sz="1000" b="0" i="0">
                <a:solidFill>
                  <a:srgbClr val="5C6B79"/>
                </a:solidFill>
                <a:latin typeface="Calibri"/>
              </a:rPr>
              <a:t>The birthday poem, the toast, the caption</a:t>
            </a:r>
          </a:p>
        </p:txBody>
      </p:sp>
      <p:sp>
        <p:nvSpPr>
          <p:cNvPr id="33" name="Rounded Rectangle 32"/>
          <p:cNvSpPr/>
          <p:nvPr/>
        </p:nvSpPr>
        <p:spPr>
          <a:xfrm>
            <a:off x="685800" y="5074920"/>
            <a:ext cx="10817352" cy="731520"/>
          </a:xfrm>
          <a:prstGeom prst="roundRect">
            <a:avLst/>
          </a:prstGeom>
          <a:solidFill>
            <a:srgbClr val="FBF1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85800" y="5074920"/>
            <a:ext cx="109728" cy="731520"/>
          </a:xfrm>
          <a:prstGeom prst="roundRect">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5093208"/>
            <a:ext cx="10405872" cy="731520"/>
          </a:xfrm>
          <a:prstGeom prst="rect">
            <a:avLst/>
          </a:prstGeom>
          <a:noFill/>
        </p:spPr>
        <p:txBody>
          <a:bodyPr wrap="square" anchor="ctr" lIns="0" rIns="0" tIns="0" bIns="0">
            <a:spAutoFit/>
          </a:bodyPr>
          <a:lstStyle/>
          <a:p>
            <a:pPr>
              <a:spcBef>
                <a:spcPts val="0"/>
              </a:spcBef>
              <a:spcAft>
                <a:spcPts val="600"/>
              </a:spcAft>
            </a:pPr>
            <a:r>
              <a:rPr sz="1300" b="1" i="0">
                <a:solidFill>
                  <a:srgbClr val="E89A18"/>
                </a:solidFill>
                <a:latin typeface="Calibri"/>
              </a:rPr>
              <a:t>🔒  </a:t>
            </a:r>
            <a:r>
              <a:rPr sz="1150" b="0" i="0">
                <a:solidFill>
                  <a:srgbClr val="242D35"/>
                </a:solidFill>
                <a:latin typeface="Calibri"/>
              </a:rPr>
              <a:t>Never paste passwords, ID numbers, or medical/financial details into a free consumer AI.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6FB8"/>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6400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10972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7040" y="15544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607040" y="20116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9601200" cy="2286000"/>
          </a:xfrm>
          <a:prstGeom prst="rect">
            <a:avLst/>
          </a:prstGeom>
          <a:noFill/>
        </p:spPr>
        <p:txBody>
          <a:bodyPr wrap="square" anchor="t" lIns="0" rIns="0" tIns="0" bIns="0">
            <a:spAutoFit/>
          </a:bodyPr>
          <a:lstStyle/>
          <a:p>
            <a:pPr>
              <a:spcBef>
                <a:spcPts val="0"/>
              </a:spcBef>
              <a:spcAft>
                <a:spcPts val="600"/>
              </a:spcAft>
            </a:pPr>
            <a:r>
              <a:rPr sz="2000" b="1" i="0">
                <a:solidFill>
                  <a:srgbClr val="C9E8F0"/>
                </a:solidFill>
                <a:latin typeface="Calibri"/>
              </a:rPr>
              <a:t>Section 3</a:t>
            </a:r>
          </a:p>
          <a:p>
            <a:pPr>
              <a:spcBef>
                <a:spcPts val="0"/>
              </a:spcBef>
              <a:spcAft>
                <a:spcPts val="1400"/>
              </a:spcAft>
            </a:pPr>
            <a:r>
              <a:rPr sz="4200" b="1" i="0">
                <a:solidFill>
                  <a:srgbClr val="FFFFFF"/>
                </a:solidFill>
                <a:latin typeface="Calibri"/>
              </a:rPr>
              <a:t>Doing It Responsibly</a:t>
            </a:r>
          </a:p>
          <a:p>
            <a:pPr>
              <a:spcBef>
                <a:spcPts val="0"/>
              </a:spcBef>
              <a:spcAft>
                <a:spcPts val="400"/>
              </a:spcAft>
            </a:pPr>
            <a:r>
              <a:rPr sz="1600" b="1" i="0">
                <a:solidFill>
                  <a:srgbClr val="14B8B0"/>
                </a:solidFill>
                <a:latin typeface="Calibri"/>
              </a:rPr>
              <a:t>›  </a:t>
            </a:r>
            <a:r>
              <a:rPr sz="1500" b="0" i="0">
                <a:solidFill>
                  <a:srgbClr val="DDEAF3"/>
                </a:solidFill>
                <a:latin typeface="Calibri"/>
              </a:rPr>
              <a:t>The four honest limitations to watch</a:t>
            </a:r>
          </a:p>
          <a:p>
            <a:pPr>
              <a:spcBef>
                <a:spcPts val="0"/>
              </a:spcBef>
              <a:spcAft>
                <a:spcPts val="400"/>
              </a:spcAft>
            </a:pPr>
            <a:r>
              <a:rPr sz="1600" b="1" i="0">
                <a:solidFill>
                  <a:srgbClr val="14B8B0"/>
                </a:solidFill>
                <a:latin typeface="Calibri"/>
              </a:rPr>
              <a:t>›  </a:t>
            </a:r>
            <a:r>
              <a:rPr sz="1500" b="0" i="0">
                <a:solidFill>
                  <a:srgbClr val="DDEAF3"/>
                </a:solidFill>
                <a:latin typeface="Calibri"/>
              </a:rPr>
              <a:t>Five habits of people who get great results</a:t>
            </a:r>
          </a:p>
          <a:p>
            <a:pPr>
              <a:spcBef>
                <a:spcPts val="0"/>
              </a:spcBef>
              <a:spcAft>
                <a:spcPts val="400"/>
              </a:spcAft>
            </a:pPr>
            <a:r>
              <a:rPr sz="1600" b="1" i="0">
                <a:solidFill>
                  <a:srgbClr val="14B8B0"/>
                </a:solidFill>
                <a:latin typeface="Calibri"/>
              </a:rPr>
              <a:t>›  </a:t>
            </a:r>
            <a:r>
              <a:rPr sz="1500" b="0" i="0">
                <a:solidFill>
                  <a:srgbClr val="DDEAF3"/>
                </a:solidFill>
                <a:latin typeface="Calibri"/>
              </a:rPr>
              <a:t>Staying the editor, not the passenger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DOING IT RESPONSIBLY</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The four honest limitations</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Responsibly</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24</a:t>
            </a:r>
          </a:p>
        </p:txBody>
      </p:sp>
      <p:sp>
        <p:nvSpPr>
          <p:cNvPr id="9" name="Rounded Rectangle 8"/>
          <p:cNvSpPr/>
          <p:nvPr/>
        </p:nvSpPr>
        <p:spPr>
          <a:xfrm>
            <a:off x="685800" y="1920240"/>
            <a:ext cx="5303520" cy="17373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23544" y="2194560"/>
            <a:ext cx="640080" cy="640080"/>
          </a:xfrm>
          <a:prstGeom prst="ellipse">
            <a:avLst/>
          </a:prstGeom>
          <a:solidFill>
            <a:srgbClr val="E89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2194560"/>
            <a:ext cx="640080" cy="640080"/>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12" name="TextBox 11"/>
          <p:cNvSpPr txBox="1"/>
          <p:nvPr/>
        </p:nvSpPr>
        <p:spPr>
          <a:xfrm>
            <a:off x="1737360" y="2176272"/>
            <a:ext cx="4069080" cy="1280160"/>
          </a:xfrm>
          <a:prstGeom prst="rect">
            <a:avLst/>
          </a:prstGeom>
          <a:noFill/>
        </p:spPr>
        <p:txBody>
          <a:bodyPr wrap="square" anchor="ctr" lIns="0" rIns="0" tIns="0" bIns="0">
            <a:spAutoFit/>
          </a:bodyPr>
          <a:lstStyle/>
          <a:p>
            <a:pPr>
              <a:spcBef>
                <a:spcPts val="0"/>
              </a:spcBef>
              <a:spcAft>
                <a:spcPts val="300"/>
              </a:spcAft>
            </a:pPr>
            <a:r>
              <a:rPr sz="1500" b="1" i="0">
                <a:solidFill>
                  <a:srgbClr val="0F2A43"/>
                </a:solidFill>
                <a:latin typeface="Calibri"/>
              </a:rPr>
              <a:t>Hallucinations</a:t>
            </a:r>
          </a:p>
          <a:p>
            <a:pPr>
              <a:spcBef>
                <a:spcPts val="0"/>
              </a:spcBef>
              <a:spcAft>
                <a:spcPts val="600"/>
              </a:spcAft>
            </a:pPr>
            <a:r>
              <a:rPr sz="1150" b="0" i="0">
                <a:solidFill>
                  <a:srgbClr val="5C6B79"/>
                </a:solidFill>
                <a:latin typeface="Calibri"/>
              </a:rPr>
              <a:t>Invents facts, quotes &amp; citations with total confidence</a:t>
            </a:r>
          </a:p>
        </p:txBody>
      </p:sp>
      <p:sp>
        <p:nvSpPr>
          <p:cNvPr id="13" name="Rounded Rectangle 12"/>
          <p:cNvSpPr/>
          <p:nvPr/>
        </p:nvSpPr>
        <p:spPr>
          <a:xfrm>
            <a:off x="6199632" y="1920240"/>
            <a:ext cx="5303520" cy="17373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37376" y="2194560"/>
            <a:ext cx="640080" cy="64008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2194560"/>
            <a:ext cx="640080" cy="640080"/>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16" name="TextBox 15"/>
          <p:cNvSpPr txBox="1"/>
          <p:nvPr/>
        </p:nvSpPr>
        <p:spPr>
          <a:xfrm>
            <a:off x="7251192" y="2176272"/>
            <a:ext cx="4069080" cy="1280160"/>
          </a:xfrm>
          <a:prstGeom prst="rect">
            <a:avLst/>
          </a:prstGeom>
          <a:noFill/>
        </p:spPr>
        <p:txBody>
          <a:bodyPr wrap="square" anchor="ctr" lIns="0" rIns="0" tIns="0" bIns="0">
            <a:spAutoFit/>
          </a:bodyPr>
          <a:lstStyle/>
          <a:p>
            <a:pPr>
              <a:spcBef>
                <a:spcPts val="0"/>
              </a:spcBef>
              <a:spcAft>
                <a:spcPts val="300"/>
              </a:spcAft>
            </a:pPr>
            <a:r>
              <a:rPr sz="1500" b="1" i="0">
                <a:solidFill>
                  <a:srgbClr val="0F2A43"/>
                </a:solidFill>
                <a:latin typeface="Calibri"/>
              </a:rPr>
              <a:t>Stale info</a:t>
            </a:r>
          </a:p>
          <a:p>
            <a:pPr>
              <a:spcBef>
                <a:spcPts val="0"/>
              </a:spcBef>
              <a:spcAft>
                <a:spcPts val="600"/>
              </a:spcAft>
            </a:pPr>
            <a:r>
              <a:rPr sz="1150" b="0" i="0">
                <a:solidFill>
                  <a:srgbClr val="5C6B79"/>
                </a:solidFill>
                <a:latin typeface="Calibri"/>
              </a:rPr>
              <a:t>Prices, hours &amp; current events can be out of date</a:t>
            </a:r>
          </a:p>
        </p:txBody>
      </p:sp>
      <p:sp>
        <p:nvSpPr>
          <p:cNvPr id="17" name="Rounded Rectangle 16"/>
          <p:cNvSpPr/>
          <p:nvPr/>
        </p:nvSpPr>
        <p:spPr>
          <a:xfrm>
            <a:off x="685800" y="3840480"/>
            <a:ext cx="5303520" cy="17373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3544" y="4114800"/>
            <a:ext cx="640080" cy="64008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4114800"/>
            <a:ext cx="640080" cy="640080"/>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20" name="TextBox 19"/>
          <p:cNvSpPr txBox="1"/>
          <p:nvPr/>
        </p:nvSpPr>
        <p:spPr>
          <a:xfrm>
            <a:off x="1737360" y="4096512"/>
            <a:ext cx="4069080" cy="1280160"/>
          </a:xfrm>
          <a:prstGeom prst="rect">
            <a:avLst/>
          </a:prstGeom>
          <a:noFill/>
        </p:spPr>
        <p:txBody>
          <a:bodyPr wrap="square" anchor="ctr" lIns="0" rIns="0" tIns="0" bIns="0">
            <a:spAutoFit/>
          </a:bodyPr>
          <a:lstStyle/>
          <a:p>
            <a:pPr>
              <a:spcBef>
                <a:spcPts val="0"/>
              </a:spcBef>
              <a:spcAft>
                <a:spcPts val="300"/>
              </a:spcAft>
            </a:pPr>
            <a:r>
              <a:rPr sz="1500" b="1" i="0">
                <a:solidFill>
                  <a:srgbClr val="0F2A43"/>
                </a:solidFill>
                <a:latin typeface="Calibri"/>
              </a:rPr>
              <a:t>Bias</a:t>
            </a:r>
          </a:p>
          <a:p>
            <a:pPr>
              <a:spcBef>
                <a:spcPts val="0"/>
              </a:spcBef>
              <a:spcAft>
                <a:spcPts val="600"/>
              </a:spcAft>
            </a:pPr>
            <a:r>
              <a:rPr sz="1150" b="0" i="0">
                <a:solidFill>
                  <a:srgbClr val="5C6B79"/>
                </a:solidFill>
                <a:latin typeface="Calibri"/>
              </a:rPr>
              <a:t>Mirrors patterns — and stereotypes — in its training data</a:t>
            </a:r>
          </a:p>
        </p:txBody>
      </p:sp>
      <p:sp>
        <p:nvSpPr>
          <p:cNvPr id="21" name="Rounded Rectangle 20"/>
          <p:cNvSpPr/>
          <p:nvPr/>
        </p:nvSpPr>
        <p:spPr>
          <a:xfrm>
            <a:off x="6199632" y="3840480"/>
            <a:ext cx="5303520" cy="173736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4114800"/>
            <a:ext cx="640080" cy="6400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114800"/>
            <a:ext cx="640080" cy="640080"/>
          </a:xfrm>
          <a:prstGeom prst="rect">
            <a:avLst/>
          </a:prstGeom>
          <a:noFill/>
        </p:spPr>
        <p:txBody>
          <a:bodyPr wrap="square" anchor="ctr" lIns="0" rIns="0" tIns="0" bIns="0">
            <a:spAutoFit/>
          </a:bodyPr>
          <a:lstStyle/>
          <a:p>
            <a:pPr algn="ctr">
              <a:spcBef>
                <a:spcPts val="0"/>
              </a:spcBef>
              <a:spcAft>
                <a:spcPts val="600"/>
              </a:spcAft>
            </a:pPr>
            <a:r>
              <a:rPr sz="2000" b="1" i="0">
                <a:solidFill>
                  <a:srgbClr val="FFFFFF"/>
                </a:solidFill>
                <a:latin typeface="Calibri"/>
              </a:rPr>
              <a:t>🔒</a:t>
            </a:r>
          </a:p>
        </p:txBody>
      </p:sp>
      <p:sp>
        <p:nvSpPr>
          <p:cNvPr id="24" name="TextBox 23"/>
          <p:cNvSpPr txBox="1"/>
          <p:nvPr/>
        </p:nvSpPr>
        <p:spPr>
          <a:xfrm>
            <a:off x="7251192" y="4096512"/>
            <a:ext cx="4069080" cy="1280160"/>
          </a:xfrm>
          <a:prstGeom prst="rect">
            <a:avLst/>
          </a:prstGeom>
          <a:noFill/>
        </p:spPr>
        <p:txBody>
          <a:bodyPr wrap="square" anchor="ctr" lIns="0" rIns="0" tIns="0" bIns="0">
            <a:spAutoFit/>
          </a:bodyPr>
          <a:lstStyle/>
          <a:p>
            <a:pPr>
              <a:spcBef>
                <a:spcPts val="0"/>
              </a:spcBef>
              <a:spcAft>
                <a:spcPts val="300"/>
              </a:spcAft>
            </a:pPr>
            <a:r>
              <a:rPr sz="1500" b="1" i="0">
                <a:solidFill>
                  <a:srgbClr val="0F2A43"/>
                </a:solidFill>
                <a:latin typeface="Calibri"/>
              </a:rPr>
              <a:t>Privacy</a:t>
            </a:r>
          </a:p>
          <a:p>
            <a:pPr>
              <a:spcBef>
                <a:spcPts val="0"/>
              </a:spcBef>
              <a:spcAft>
                <a:spcPts val="600"/>
              </a:spcAft>
            </a:pPr>
            <a:r>
              <a:rPr sz="1150" b="0" i="0">
                <a:solidFill>
                  <a:srgbClr val="5C6B79"/>
                </a:solidFill>
                <a:latin typeface="Calibri"/>
              </a:rPr>
              <a:t>On free tiers your inputs may train the model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DOING IT RESPONSIBLY</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Five habits of great AI users</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Responsibly</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25</a:t>
            </a:r>
          </a:p>
        </p:txBody>
      </p:sp>
      <p:sp>
        <p:nvSpPr>
          <p:cNvPr id="9" name="Rounded Rectangle 8"/>
          <p:cNvSpPr/>
          <p:nvPr/>
        </p:nvSpPr>
        <p:spPr>
          <a:xfrm>
            <a:off x="685800" y="1920240"/>
            <a:ext cx="10817352" cy="74980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14400" y="2066544"/>
            <a:ext cx="457200" cy="45720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66544"/>
            <a:ext cx="457200" cy="457200"/>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1</a:t>
            </a:r>
          </a:p>
        </p:txBody>
      </p:sp>
      <p:sp>
        <p:nvSpPr>
          <p:cNvPr id="12" name="TextBox 11"/>
          <p:cNvSpPr txBox="1"/>
          <p:nvPr/>
        </p:nvSpPr>
        <p:spPr>
          <a:xfrm>
            <a:off x="1600200" y="1920240"/>
            <a:ext cx="9692640" cy="749808"/>
          </a:xfrm>
          <a:prstGeom prst="rect">
            <a:avLst/>
          </a:prstGeom>
          <a:noFill/>
        </p:spPr>
        <p:txBody>
          <a:bodyPr wrap="square" anchor="ctr" lIns="0" rIns="0" tIns="0" bIns="0">
            <a:spAutoFit/>
          </a:bodyPr>
          <a:lstStyle/>
          <a:p>
            <a:pPr>
              <a:spcBef>
                <a:spcPts val="0"/>
              </a:spcBef>
              <a:spcAft>
                <a:spcPts val="100"/>
              </a:spcAft>
            </a:pPr>
            <a:r>
              <a:rPr sz="1400" b="1" i="0">
                <a:solidFill>
                  <a:srgbClr val="0F2A43"/>
                </a:solidFill>
                <a:latin typeface="Calibri"/>
              </a:rPr>
              <a:t>Give context &amp; an example</a:t>
            </a:r>
            <a:r>
              <a:rPr sz="1100" b="0" i="0">
                <a:solidFill>
                  <a:srgbClr val="5C6B79"/>
                </a:solidFill>
                <a:latin typeface="Calibri"/>
              </a:rPr>
              <a:t>   — Vague prompts get vague answers — show it what 'good' looks like</a:t>
            </a:r>
          </a:p>
        </p:txBody>
      </p:sp>
      <p:sp>
        <p:nvSpPr>
          <p:cNvPr id="13" name="Rounded Rectangle 12"/>
          <p:cNvSpPr/>
          <p:nvPr/>
        </p:nvSpPr>
        <p:spPr>
          <a:xfrm>
            <a:off x="685800" y="2761488"/>
            <a:ext cx="10817352" cy="74980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4400" y="2907792"/>
            <a:ext cx="457200" cy="4572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907792"/>
            <a:ext cx="457200" cy="457200"/>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2</a:t>
            </a:r>
          </a:p>
        </p:txBody>
      </p:sp>
      <p:sp>
        <p:nvSpPr>
          <p:cNvPr id="16" name="TextBox 15"/>
          <p:cNvSpPr txBox="1"/>
          <p:nvPr/>
        </p:nvSpPr>
        <p:spPr>
          <a:xfrm>
            <a:off x="1600200" y="2761488"/>
            <a:ext cx="9692640" cy="749808"/>
          </a:xfrm>
          <a:prstGeom prst="rect">
            <a:avLst/>
          </a:prstGeom>
          <a:noFill/>
        </p:spPr>
        <p:txBody>
          <a:bodyPr wrap="square" anchor="ctr" lIns="0" rIns="0" tIns="0" bIns="0">
            <a:spAutoFit/>
          </a:bodyPr>
          <a:lstStyle/>
          <a:p>
            <a:pPr>
              <a:spcBef>
                <a:spcPts val="0"/>
              </a:spcBef>
              <a:spcAft>
                <a:spcPts val="100"/>
              </a:spcAft>
            </a:pPr>
            <a:r>
              <a:rPr sz="1400" b="1" i="0">
                <a:solidFill>
                  <a:srgbClr val="0F2A43"/>
                </a:solidFill>
                <a:latin typeface="Calibri"/>
              </a:rPr>
              <a:t>Ask for its reasoning</a:t>
            </a:r>
            <a:r>
              <a:rPr sz="1100" b="0" i="0">
                <a:solidFill>
                  <a:srgbClr val="5C6B79"/>
                </a:solidFill>
                <a:latin typeface="Calibri"/>
              </a:rPr>
              <a:t>   — Have it show sources or explain how it got there</a:t>
            </a:r>
          </a:p>
        </p:txBody>
      </p:sp>
      <p:sp>
        <p:nvSpPr>
          <p:cNvPr id="17" name="Rounded Rectangle 16"/>
          <p:cNvSpPr/>
          <p:nvPr/>
        </p:nvSpPr>
        <p:spPr>
          <a:xfrm>
            <a:off x="685800" y="3602736"/>
            <a:ext cx="10817352" cy="74980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4400" y="3749040"/>
            <a:ext cx="457200" cy="45720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749040"/>
            <a:ext cx="457200" cy="457200"/>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3</a:t>
            </a:r>
          </a:p>
        </p:txBody>
      </p:sp>
      <p:sp>
        <p:nvSpPr>
          <p:cNvPr id="20" name="TextBox 19"/>
          <p:cNvSpPr txBox="1"/>
          <p:nvPr/>
        </p:nvSpPr>
        <p:spPr>
          <a:xfrm>
            <a:off x="1600200" y="3602736"/>
            <a:ext cx="9692640" cy="749808"/>
          </a:xfrm>
          <a:prstGeom prst="rect">
            <a:avLst/>
          </a:prstGeom>
          <a:noFill/>
        </p:spPr>
        <p:txBody>
          <a:bodyPr wrap="square" anchor="ctr" lIns="0" rIns="0" tIns="0" bIns="0">
            <a:spAutoFit/>
          </a:bodyPr>
          <a:lstStyle/>
          <a:p>
            <a:pPr>
              <a:spcBef>
                <a:spcPts val="0"/>
              </a:spcBef>
              <a:spcAft>
                <a:spcPts val="100"/>
              </a:spcAft>
            </a:pPr>
            <a:r>
              <a:rPr sz="1400" b="1" i="0">
                <a:solidFill>
                  <a:srgbClr val="0F2A43"/>
                </a:solidFill>
                <a:latin typeface="Calibri"/>
              </a:rPr>
              <a:t>Verify what matters</a:t>
            </a:r>
            <a:r>
              <a:rPr sz="1100" b="0" i="0">
                <a:solidFill>
                  <a:srgbClr val="5C6B79"/>
                </a:solidFill>
                <a:latin typeface="Calibri"/>
              </a:rPr>
              <a:t>   — Cross-check any fact against a second source</a:t>
            </a:r>
          </a:p>
        </p:txBody>
      </p:sp>
      <p:sp>
        <p:nvSpPr>
          <p:cNvPr id="21" name="Rounded Rectangle 20"/>
          <p:cNvSpPr/>
          <p:nvPr/>
        </p:nvSpPr>
        <p:spPr>
          <a:xfrm>
            <a:off x="685800" y="4443984"/>
            <a:ext cx="10817352" cy="74980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4400" y="4590288"/>
            <a:ext cx="457200" cy="45720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590288"/>
            <a:ext cx="457200" cy="457200"/>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4</a:t>
            </a:r>
          </a:p>
        </p:txBody>
      </p:sp>
      <p:sp>
        <p:nvSpPr>
          <p:cNvPr id="24" name="TextBox 23"/>
          <p:cNvSpPr txBox="1"/>
          <p:nvPr/>
        </p:nvSpPr>
        <p:spPr>
          <a:xfrm>
            <a:off x="1600200" y="4443984"/>
            <a:ext cx="9692640" cy="749808"/>
          </a:xfrm>
          <a:prstGeom prst="rect">
            <a:avLst/>
          </a:prstGeom>
          <a:noFill/>
        </p:spPr>
        <p:txBody>
          <a:bodyPr wrap="square" anchor="ctr" lIns="0" rIns="0" tIns="0" bIns="0">
            <a:spAutoFit/>
          </a:bodyPr>
          <a:lstStyle/>
          <a:p>
            <a:pPr>
              <a:spcBef>
                <a:spcPts val="0"/>
              </a:spcBef>
              <a:spcAft>
                <a:spcPts val="100"/>
              </a:spcAft>
            </a:pPr>
            <a:r>
              <a:rPr sz="1400" b="1" i="0">
                <a:solidFill>
                  <a:srgbClr val="0F2A43"/>
                </a:solidFill>
                <a:latin typeface="Calibri"/>
              </a:rPr>
              <a:t>Iterate — don't accept draft 1</a:t>
            </a:r>
            <a:r>
              <a:rPr sz="1100" b="0" i="0">
                <a:solidFill>
                  <a:srgbClr val="5C6B79"/>
                </a:solidFill>
                <a:latin typeface="Calibri"/>
              </a:rPr>
              <a:t>   — Push back: 'shorter', 'more formal', 'you missed X'</a:t>
            </a:r>
          </a:p>
        </p:txBody>
      </p:sp>
      <p:sp>
        <p:nvSpPr>
          <p:cNvPr id="25" name="Rounded Rectangle 24"/>
          <p:cNvSpPr/>
          <p:nvPr/>
        </p:nvSpPr>
        <p:spPr>
          <a:xfrm>
            <a:off x="685800" y="5285232"/>
            <a:ext cx="10817352" cy="749808"/>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4400" y="5431536"/>
            <a:ext cx="457200" cy="4572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431536"/>
            <a:ext cx="457200" cy="457200"/>
          </a:xfrm>
          <a:prstGeom prst="rect">
            <a:avLst/>
          </a:prstGeom>
          <a:noFill/>
        </p:spPr>
        <p:txBody>
          <a:bodyPr wrap="square" anchor="ctr" lIns="0" rIns="0" tIns="0" bIns="0">
            <a:spAutoFit/>
          </a:bodyPr>
          <a:lstStyle/>
          <a:p>
            <a:pPr algn="ctr">
              <a:spcBef>
                <a:spcPts val="0"/>
              </a:spcBef>
              <a:spcAft>
                <a:spcPts val="600"/>
              </a:spcAft>
            </a:pPr>
            <a:r>
              <a:rPr sz="1500" b="1" i="0">
                <a:solidFill>
                  <a:srgbClr val="FFFFFF"/>
                </a:solidFill>
                <a:latin typeface="Calibri"/>
              </a:rPr>
              <a:t>5</a:t>
            </a:r>
          </a:p>
        </p:txBody>
      </p:sp>
      <p:sp>
        <p:nvSpPr>
          <p:cNvPr id="28" name="TextBox 27"/>
          <p:cNvSpPr txBox="1"/>
          <p:nvPr/>
        </p:nvSpPr>
        <p:spPr>
          <a:xfrm>
            <a:off x="1600200" y="5285232"/>
            <a:ext cx="9692640" cy="749808"/>
          </a:xfrm>
          <a:prstGeom prst="rect">
            <a:avLst/>
          </a:prstGeom>
          <a:noFill/>
        </p:spPr>
        <p:txBody>
          <a:bodyPr wrap="square" anchor="ctr" lIns="0" rIns="0" tIns="0" bIns="0">
            <a:spAutoFit/>
          </a:bodyPr>
          <a:lstStyle/>
          <a:p>
            <a:pPr>
              <a:spcBef>
                <a:spcPts val="0"/>
              </a:spcBef>
              <a:spcAft>
                <a:spcPts val="100"/>
              </a:spcAft>
            </a:pPr>
            <a:r>
              <a:rPr sz="1400" b="1" i="0">
                <a:solidFill>
                  <a:srgbClr val="0F2A43"/>
                </a:solidFill>
                <a:latin typeface="Calibri"/>
              </a:rPr>
              <a:t>Keep the decision human</a:t>
            </a:r>
            <a:r>
              <a:rPr sz="1100" b="0" i="0">
                <a:solidFill>
                  <a:srgbClr val="5C6B79"/>
                </a:solidFill>
                <a:latin typeface="Calibri"/>
              </a:rPr>
              <a:t>   — You own the final call, every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E6FB8"/>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6400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10972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7040" y="1554480"/>
            <a:ext cx="201168" cy="201168"/>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607040" y="2011680"/>
            <a:ext cx="201168" cy="201168"/>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9601200" cy="2286000"/>
          </a:xfrm>
          <a:prstGeom prst="rect">
            <a:avLst/>
          </a:prstGeom>
          <a:noFill/>
        </p:spPr>
        <p:txBody>
          <a:bodyPr wrap="square" anchor="t" lIns="0" rIns="0" tIns="0" bIns="0">
            <a:spAutoFit/>
          </a:bodyPr>
          <a:lstStyle/>
          <a:p>
            <a:pPr>
              <a:spcBef>
                <a:spcPts val="0"/>
              </a:spcBef>
              <a:spcAft>
                <a:spcPts val="600"/>
              </a:spcAft>
            </a:pPr>
            <a:r>
              <a:rPr sz="2000" b="1" i="0">
                <a:solidFill>
                  <a:srgbClr val="C9E8F0"/>
                </a:solidFill>
                <a:latin typeface="Calibri"/>
              </a:rPr>
              <a:t>Section 4</a:t>
            </a:r>
          </a:p>
          <a:p>
            <a:pPr>
              <a:spcBef>
                <a:spcPts val="0"/>
              </a:spcBef>
              <a:spcAft>
                <a:spcPts val="1400"/>
              </a:spcAft>
            </a:pPr>
            <a:r>
              <a:rPr sz="4200" b="1" i="0">
                <a:solidFill>
                  <a:srgbClr val="FFFFFF"/>
                </a:solidFill>
                <a:latin typeface="Calibri"/>
              </a:rPr>
              <a:t>Your Starter Kit &amp; Close</a:t>
            </a:r>
          </a:p>
          <a:p>
            <a:pPr>
              <a:spcBef>
                <a:spcPts val="0"/>
              </a:spcBef>
              <a:spcAft>
                <a:spcPts val="400"/>
              </a:spcAft>
            </a:pPr>
            <a:r>
              <a:rPr sz="1600" b="1" i="0">
                <a:solidFill>
                  <a:srgbClr val="14B8B0"/>
                </a:solidFill>
                <a:latin typeface="Calibri"/>
              </a:rPr>
              <a:t>›  </a:t>
            </a:r>
            <a:r>
              <a:rPr sz="1500" b="0" i="0">
                <a:solidFill>
                  <a:srgbClr val="DDEAF3"/>
                </a:solidFill>
                <a:latin typeface="Calibri"/>
              </a:rPr>
              <a:t>The four free tools to install tonight</a:t>
            </a:r>
          </a:p>
          <a:p>
            <a:pPr>
              <a:spcBef>
                <a:spcPts val="0"/>
              </a:spcBef>
              <a:spcAft>
                <a:spcPts val="400"/>
              </a:spcAft>
            </a:pPr>
            <a:r>
              <a:rPr sz="1600" b="1" i="0">
                <a:solidFill>
                  <a:srgbClr val="14B8B0"/>
                </a:solidFill>
                <a:latin typeface="Calibri"/>
              </a:rPr>
              <a:t>›  </a:t>
            </a:r>
            <a:r>
              <a:rPr sz="1500" b="0" i="0">
                <a:solidFill>
                  <a:srgbClr val="DDEAF3"/>
                </a:solidFill>
                <a:latin typeface="Calibri"/>
              </a:rPr>
              <a:t>One challenge before you leave</a:t>
            </a:r>
          </a:p>
          <a:p>
            <a:pPr>
              <a:spcBef>
                <a:spcPts val="0"/>
              </a:spcBef>
              <a:spcAft>
                <a:spcPts val="400"/>
              </a:spcAft>
            </a:pPr>
            <a:r>
              <a:rPr sz="1600" b="1" i="0">
                <a:solidFill>
                  <a:srgbClr val="14B8B0"/>
                </a:solidFill>
                <a:latin typeface="Calibri"/>
              </a:rPr>
              <a:t>›  </a:t>
            </a:r>
            <a:r>
              <a:rPr sz="1500" b="0" i="0">
                <a:solidFill>
                  <a:srgbClr val="DDEAF3"/>
                </a:solidFill>
                <a:latin typeface="Calibri"/>
              </a:rPr>
              <a:t>Questions &amp; discussion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9F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058400" cy="365760"/>
          </a:xfrm>
          <a:prstGeom prst="rect">
            <a:avLst/>
          </a:prstGeom>
          <a:noFill/>
        </p:spPr>
        <p:txBody>
          <a:bodyPr wrap="square" anchor="t" lIns="0" rIns="0" tIns="0" bIns="0">
            <a:spAutoFit/>
          </a:bodyPr>
          <a:lstStyle/>
          <a:p>
            <a:pPr>
              <a:spcBef>
                <a:spcPts val="0"/>
              </a:spcBef>
              <a:spcAft>
                <a:spcPts val="600"/>
              </a:spcAft>
            </a:pPr>
            <a:r>
              <a:rPr sz="1250" b="1" i="0">
                <a:solidFill>
                  <a:srgbClr val="14B8B0"/>
                </a:solidFill>
                <a:latin typeface="Calibri"/>
              </a:rPr>
              <a:t>YOUR STARTER KIT</a:t>
            </a:r>
          </a:p>
        </p:txBody>
      </p:sp>
      <p:sp>
        <p:nvSpPr>
          <p:cNvPr id="4" name="TextBox 3"/>
          <p:cNvSpPr txBox="1"/>
          <p:nvPr/>
        </p:nvSpPr>
        <p:spPr>
          <a:xfrm>
            <a:off x="640080" y="786384"/>
            <a:ext cx="10972800" cy="914400"/>
          </a:xfrm>
          <a:prstGeom prst="rect">
            <a:avLst/>
          </a:prstGeom>
          <a:noFill/>
        </p:spPr>
        <p:txBody>
          <a:bodyPr wrap="square" anchor="t" lIns="0" rIns="0" tIns="0" bIns="0">
            <a:spAutoFit/>
          </a:bodyPr>
          <a:lstStyle/>
          <a:p>
            <a:pPr>
              <a:spcBef>
                <a:spcPts val="0"/>
              </a:spcBef>
              <a:spcAft>
                <a:spcPts val="600"/>
              </a:spcAft>
            </a:pPr>
            <a:r>
              <a:rPr sz="3000" b="1" i="0">
                <a:solidFill>
                  <a:srgbClr val="0F2A43"/>
                </a:solidFill>
                <a:latin typeface="Calibri"/>
              </a:rPr>
              <a:t>Four free tools, and you're covered</a:t>
            </a:r>
          </a:p>
        </p:txBody>
      </p:sp>
      <p:sp>
        <p:nvSpPr>
          <p:cNvPr id="5" name="Rectangle 4"/>
          <p:cNvSpPr/>
          <p:nvPr/>
        </p:nvSpPr>
        <p:spPr>
          <a:xfrm>
            <a:off x="676656" y="1481328"/>
            <a:ext cx="1188720" cy="50800"/>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419088"/>
            <a:ext cx="10908792" cy="12700"/>
          </a:xfrm>
          <a:prstGeom prst="rect">
            <a:avLst/>
          </a:prstGeom>
          <a:solidFill>
            <a:srgbClr val="D5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7315200" cy="320040"/>
          </a:xfrm>
          <a:prstGeom prst="rect">
            <a:avLst/>
          </a:prstGeom>
          <a:noFill/>
        </p:spPr>
        <p:txBody>
          <a:bodyPr wrap="square" anchor="t" lIns="0" rIns="0" tIns="0" bIns="0">
            <a:spAutoFit/>
          </a:bodyPr>
          <a:lstStyle/>
          <a:p>
            <a:pPr>
              <a:spcBef>
                <a:spcPts val="0"/>
              </a:spcBef>
              <a:spcAft>
                <a:spcPts val="600"/>
              </a:spcAft>
            </a:pPr>
            <a:r>
              <a:rPr sz="900" b="1" i="0">
                <a:solidFill>
                  <a:srgbClr val="5C6B79"/>
                </a:solidFill>
                <a:latin typeface="Calibri"/>
              </a:rPr>
              <a:t>Close</a:t>
            </a:r>
          </a:p>
        </p:txBody>
      </p:sp>
      <p:sp>
        <p:nvSpPr>
          <p:cNvPr id="8" name="TextBox 7"/>
          <p:cNvSpPr txBox="1"/>
          <p:nvPr/>
        </p:nvSpPr>
        <p:spPr>
          <a:xfrm>
            <a:off x="8229600" y="6473952"/>
            <a:ext cx="3319272" cy="320040"/>
          </a:xfrm>
          <a:prstGeom prst="rect">
            <a:avLst/>
          </a:prstGeom>
          <a:noFill/>
        </p:spPr>
        <p:txBody>
          <a:bodyPr wrap="square" anchor="t" lIns="0" rIns="0" tIns="0" bIns="0">
            <a:spAutoFit/>
          </a:bodyPr>
          <a:lstStyle/>
          <a:p>
            <a:pPr algn="r">
              <a:spcBef>
                <a:spcPts val="0"/>
              </a:spcBef>
              <a:spcAft>
                <a:spcPts val="600"/>
              </a:spcAft>
            </a:pPr>
            <a:r>
              <a:rPr sz="900" b="0" i="0">
                <a:solidFill>
                  <a:srgbClr val="5C6B79"/>
                </a:solidFill>
                <a:latin typeface="Calibri"/>
              </a:rPr>
              <a:t>Using AI in Our Lives</a:t>
            </a:r>
            <a:r>
              <a:rPr sz="900" b="1" i="0">
                <a:solidFill>
                  <a:srgbClr val="14B8B0"/>
                </a:solidFill>
                <a:latin typeface="Calibri"/>
              </a:rPr>
              <a:t>   ·   27</a:t>
            </a:r>
          </a:p>
        </p:txBody>
      </p:sp>
      <p:sp>
        <p:nvSpPr>
          <p:cNvPr id="9" name="Rounded Rectangle 8"/>
          <p:cNvSpPr/>
          <p:nvPr/>
        </p:nvSpPr>
        <p:spPr>
          <a:xfrm>
            <a:off x="685800" y="1965960"/>
            <a:ext cx="2624328" cy="28346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1965960"/>
            <a:ext cx="2624328" cy="146304"/>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08760" y="2377440"/>
            <a:ext cx="960120" cy="96012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2377440"/>
            <a:ext cx="960120" cy="960120"/>
          </a:xfrm>
          <a:prstGeom prst="rect">
            <a:avLst/>
          </a:prstGeom>
          <a:noFill/>
        </p:spPr>
        <p:txBody>
          <a:bodyPr wrap="square" anchor="ctr" lIns="0" rIns="0" tIns="0" bIns="0">
            <a:spAutoFit/>
          </a:bodyPr>
          <a:lstStyle/>
          <a:p>
            <a:pPr algn="ctr">
              <a:spcBef>
                <a:spcPts val="0"/>
              </a:spcBef>
              <a:spcAft>
                <a:spcPts val="600"/>
              </a:spcAft>
            </a:pPr>
            <a:r>
              <a:rPr sz="2800" b="1" i="0">
                <a:solidFill>
                  <a:srgbClr val="FFFFFF"/>
                </a:solidFill>
                <a:latin typeface="Calibri"/>
              </a:rPr>
              <a:t>🤖</a:t>
            </a:r>
          </a:p>
        </p:txBody>
      </p:sp>
      <p:sp>
        <p:nvSpPr>
          <p:cNvPr id="13" name="TextBox 12"/>
          <p:cNvSpPr txBox="1"/>
          <p:nvPr/>
        </p:nvSpPr>
        <p:spPr>
          <a:xfrm>
            <a:off x="868680" y="3566160"/>
            <a:ext cx="2258568" cy="1143000"/>
          </a:xfrm>
          <a:prstGeom prst="rect">
            <a:avLst/>
          </a:prstGeom>
          <a:noFill/>
        </p:spPr>
        <p:txBody>
          <a:bodyPr wrap="square" anchor="t" lIns="0" rIns="0" tIns="0" bIns="0">
            <a:spAutoFit/>
          </a:bodyPr>
          <a:lstStyle/>
          <a:p>
            <a:pPr algn="ctr">
              <a:spcBef>
                <a:spcPts val="0"/>
              </a:spcBef>
              <a:spcAft>
                <a:spcPts val="500"/>
              </a:spcAft>
            </a:pPr>
            <a:r>
              <a:rPr sz="1500" b="1" i="0">
                <a:solidFill>
                  <a:srgbClr val="0F2A43"/>
                </a:solidFill>
                <a:latin typeface="Calibri"/>
              </a:rPr>
              <a:t>ChatGPT / Gemini</a:t>
            </a:r>
          </a:p>
          <a:p>
            <a:pPr algn="ctr">
              <a:spcBef>
                <a:spcPts val="0"/>
              </a:spcBef>
              <a:spcAft>
                <a:spcPts val="600"/>
              </a:spcAft>
            </a:pPr>
            <a:r>
              <a:rPr sz="1100" b="0" i="0">
                <a:solidFill>
                  <a:srgbClr val="5C6B79"/>
                </a:solidFill>
                <a:latin typeface="Calibri"/>
              </a:rPr>
              <a:t>Everyday questions, drafting, brainstorming, travel</a:t>
            </a:r>
          </a:p>
        </p:txBody>
      </p:sp>
      <p:sp>
        <p:nvSpPr>
          <p:cNvPr id="14" name="Rounded Rectangle 13"/>
          <p:cNvSpPr/>
          <p:nvPr/>
        </p:nvSpPr>
        <p:spPr>
          <a:xfrm>
            <a:off x="3456432" y="1965960"/>
            <a:ext cx="2624328" cy="28346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56432" y="1965960"/>
            <a:ext cx="2624328" cy="146304"/>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279392" y="2377440"/>
            <a:ext cx="960120" cy="96012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9392" y="2377440"/>
            <a:ext cx="960120" cy="960120"/>
          </a:xfrm>
          <a:prstGeom prst="rect">
            <a:avLst/>
          </a:prstGeom>
          <a:noFill/>
        </p:spPr>
        <p:txBody>
          <a:bodyPr wrap="square" anchor="ctr" lIns="0" rIns="0" tIns="0" bIns="0">
            <a:spAutoFit/>
          </a:bodyPr>
          <a:lstStyle/>
          <a:p>
            <a:pPr algn="ctr">
              <a:spcBef>
                <a:spcPts val="0"/>
              </a:spcBef>
              <a:spcAft>
                <a:spcPts val="600"/>
              </a:spcAft>
            </a:pPr>
            <a:r>
              <a:rPr sz="2800" b="1" i="0">
                <a:solidFill>
                  <a:srgbClr val="FFFFFF"/>
                </a:solidFill>
                <a:latin typeface="Calibri"/>
              </a:rPr>
              <a:t>📚</a:t>
            </a:r>
          </a:p>
        </p:txBody>
      </p:sp>
      <p:sp>
        <p:nvSpPr>
          <p:cNvPr id="18" name="TextBox 17"/>
          <p:cNvSpPr txBox="1"/>
          <p:nvPr/>
        </p:nvSpPr>
        <p:spPr>
          <a:xfrm>
            <a:off x="3639312" y="3566160"/>
            <a:ext cx="2258568" cy="1143000"/>
          </a:xfrm>
          <a:prstGeom prst="rect">
            <a:avLst/>
          </a:prstGeom>
          <a:noFill/>
        </p:spPr>
        <p:txBody>
          <a:bodyPr wrap="square" anchor="t" lIns="0" rIns="0" tIns="0" bIns="0">
            <a:spAutoFit/>
          </a:bodyPr>
          <a:lstStyle/>
          <a:p>
            <a:pPr algn="ctr">
              <a:spcBef>
                <a:spcPts val="0"/>
              </a:spcBef>
              <a:spcAft>
                <a:spcPts val="500"/>
              </a:spcAft>
            </a:pPr>
            <a:r>
              <a:rPr sz="1500" b="1" i="0">
                <a:solidFill>
                  <a:srgbClr val="0F2A43"/>
                </a:solidFill>
                <a:latin typeface="Calibri"/>
              </a:rPr>
              <a:t>NotebookLM</a:t>
            </a:r>
          </a:p>
          <a:p>
            <a:pPr algn="ctr">
              <a:spcBef>
                <a:spcPts val="0"/>
              </a:spcBef>
              <a:spcAft>
                <a:spcPts val="600"/>
              </a:spcAft>
            </a:pPr>
            <a:r>
              <a:rPr sz="1100" b="0" i="0">
                <a:solidFill>
                  <a:srgbClr val="5C6B79"/>
                </a:solidFill>
                <a:latin typeface="Calibri"/>
              </a:rPr>
              <a:t>Studying and making sense of your own documents</a:t>
            </a:r>
          </a:p>
        </p:txBody>
      </p:sp>
      <p:sp>
        <p:nvSpPr>
          <p:cNvPr id="19" name="Rounded Rectangle 18"/>
          <p:cNvSpPr/>
          <p:nvPr/>
        </p:nvSpPr>
        <p:spPr>
          <a:xfrm>
            <a:off x="6227064" y="1965960"/>
            <a:ext cx="2624328" cy="28346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27064" y="1965960"/>
            <a:ext cx="2624328" cy="146304"/>
          </a:xfrm>
          <a:prstGeom prst="roundRect">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50024" y="2377440"/>
            <a:ext cx="960120" cy="960120"/>
          </a:xfrm>
          <a:prstGeom prst="ellipse">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50024" y="2377440"/>
            <a:ext cx="960120" cy="960120"/>
          </a:xfrm>
          <a:prstGeom prst="rect">
            <a:avLst/>
          </a:prstGeom>
          <a:noFill/>
        </p:spPr>
        <p:txBody>
          <a:bodyPr wrap="square" anchor="ctr" lIns="0" rIns="0" tIns="0" bIns="0">
            <a:spAutoFit/>
          </a:bodyPr>
          <a:lstStyle/>
          <a:p>
            <a:pPr algn="ctr">
              <a:spcBef>
                <a:spcPts val="0"/>
              </a:spcBef>
              <a:spcAft>
                <a:spcPts val="600"/>
              </a:spcAft>
            </a:pPr>
            <a:r>
              <a:rPr sz="2800" b="1" i="0">
                <a:solidFill>
                  <a:srgbClr val="FFFFFF"/>
                </a:solidFill>
                <a:latin typeface="Calibri"/>
              </a:rPr>
              <a:t>🎨</a:t>
            </a:r>
          </a:p>
        </p:txBody>
      </p:sp>
      <p:sp>
        <p:nvSpPr>
          <p:cNvPr id="23" name="TextBox 22"/>
          <p:cNvSpPr txBox="1"/>
          <p:nvPr/>
        </p:nvSpPr>
        <p:spPr>
          <a:xfrm>
            <a:off x="6409944" y="3566160"/>
            <a:ext cx="2258568" cy="1143000"/>
          </a:xfrm>
          <a:prstGeom prst="rect">
            <a:avLst/>
          </a:prstGeom>
          <a:noFill/>
        </p:spPr>
        <p:txBody>
          <a:bodyPr wrap="square" anchor="t" lIns="0" rIns="0" tIns="0" bIns="0">
            <a:spAutoFit/>
          </a:bodyPr>
          <a:lstStyle/>
          <a:p>
            <a:pPr algn="ctr">
              <a:spcBef>
                <a:spcPts val="0"/>
              </a:spcBef>
              <a:spcAft>
                <a:spcPts val="500"/>
              </a:spcAft>
            </a:pPr>
            <a:r>
              <a:rPr sz="1500" b="1" i="0">
                <a:solidFill>
                  <a:srgbClr val="0F2A43"/>
                </a:solidFill>
                <a:latin typeface="Calibri"/>
              </a:rPr>
              <a:t>Canva</a:t>
            </a:r>
          </a:p>
          <a:p>
            <a:pPr algn="ctr">
              <a:spcBef>
                <a:spcPts val="0"/>
              </a:spcBef>
              <a:spcAft>
                <a:spcPts val="600"/>
              </a:spcAft>
            </a:pPr>
            <a:r>
              <a:rPr sz="1100" b="0" i="0">
                <a:solidFill>
                  <a:srgbClr val="5C6B79"/>
                </a:solidFill>
                <a:latin typeface="Calibri"/>
              </a:rPr>
              <a:t>Posters, EDMs, and simple video — anything visual</a:t>
            </a:r>
          </a:p>
        </p:txBody>
      </p:sp>
      <p:sp>
        <p:nvSpPr>
          <p:cNvPr id="24" name="Rounded Rectangle 23"/>
          <p:cNvSpPr/>
          <p:nvPr/>
        </p:nvSpPr>
        <p:spPr>
          <a:xfrm>
            <a:off x="8997696" y="1965960"/>
            <a:ext cx="2624328" cy="2834640"/>
          </a:xfrm>
          <a:prstGeom prst="roundRect">
            <a:avLst/>
          </a:prstGeom>
          <a:solidFill>
            <a:srgbClr val="FFFFFF"/>
          </a:solidFill>
          <a:ln w="12700">
            <a:solidFill>
              <a:srgbClr val="D5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97696" y="1965960"/>
            <a:ext cx="2624328" cy="146304"/>
          </a:xfrm>
          <a:prstGeom prst="round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20656" y="2377440"/>
            <a:ext cx="960120" cy="96012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0656" y="2377440"/>
            <a:ext cx="960120" cy="960120"/>
          </a:xfrm>
          <a:prstGeom prst="rect">
            <a:avLst/>
          </a:prstGeom>
          <a:noFill/>
        </p:spPr>
        <p:txBody>
          <a:bodyPr wrap="square" anchor="ctr" lIns="0" rIns="0" tIns="0" bIns="0">
            <a:spAutoFit/>
          </a:bodyPr>
          <a:lstStyle/>
          <a:p>
            <a:pPr algn="ctr">
              <a:spcBef>
                <a:spcPts val="0"/>
              </a:spcBef>
              <a:spcAft>
                <a:spcPts val="600"/>
              </a:spcAft>
            </a:pPr>
            <a:r>
              <a:rPr sz="2800" b="1" i="0">
                <a:solidFill>
                  <a:srgbClr val="FFFFFF"/>
                </a:solidFill>
                <a:latin typeface="Calibri"/>
              </a:rPr>
              <a:t>📊</a:t>
            </a:r>
          </a:p>
        </p:txBody>
      </p:sp>
      <p:sp>
        <p:nvSpPr>
          <p:cNvPr id="28" name="TextBox 27"/>
          <p:cNvSpPr txBox="1"/>
          <p:nvPr/>
        </p:nvSpPr>
        <p:spPr>
          <a:xfrm>
            <a:off x="9180576" y="3566160"/>
            <a:ext cx="2258568" cy="1143000"/>
          </a:xfrm>
          <a:prstGeom prst="rect">
            <a:avLst/>
          </a:prstGeom>
          <a:noFill/>
        </p:spPr>
        <p:txBody>
          <a:bodyPr wrap="square" anchor="t" lIns="0" rIns="0" tIns="0" bIns="0">
            <a:spAutoFit/>
          </a:bodyPr>
          <a:lstStyle/>
          <a:p>
            <a:pPr algn="ctr">
              <a:spcBef>
                <a:spcPts val="0"/>
              </a:spcBef>
              <a:spcAft>
                <a:spcPts val="500"/>
              </a:spcAft>
            </a:pPr>
            <a:r>
              <a:rPr sz="1500" b="1" i="0">
                <a:solidFill>
                  <a:srgbClr val="0F2A43"/>
                </a:solidFill>
                <a:latin typeface="Calibri"/>
              </a:rPr>
              <a:t>Gamma</a:t>
            </a:r>
          </a:p>
          <a:p>
            <a:pPr algn="ctr">
              <a:spcBef>
                <a:spcPts val="0"/>
              </a:spcBef>
              <a:spcAft>
                <a:spcPts val="600"/>
              </a:spcAft>
            </a:pPr>
            <a:r>
              <a:rPr sz="1100" b="0" i="0">
                <a:solidFill>
                  <a:srgbClr val="5C6B79"/>
                </a:solidFill>
                <a:latin typeface="Calibri"/>
              </a:rPr>
              <a:t>Fast, good-looking presentation decks</a:t>
            </a:r>
          </a:p>
        </p:txBody>
      </p:sp>
      <p:sp>
        <p:nvSpPr>
          <p:cNvPr id="29" name="Rounded Rectangle 28"/>
          <p:cNvSpPr/>
          <p:nvPr/>
        </p:nvSpPr>
        <p:spPr>
          <a:xfrm>
            <a:off x="685800" y="5029200"/>
            <a:ext cx="10817352" cy="777240"/>
          </a:xfrm>
          <a:prstGeom prst="roundRect">
            <a:avLst/>
          </a:prstGeom>
          <a:solidFill>
            <a:srgbClr val="E4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5800" y="5029200"/>
            <a:ext cx="109728" cy="777240"/>
          </a:xfrm>
          <a:prstGeom prst="round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2" y="5047488"/>
            <a:ext cx="10405872" cy="777240"/>
          </a:xfrm>
          <a:prstGeom prst="rect">
            <a:avLst/>
          </a:prstGeom>
          <a:noFill/>
        </p:spPr>
        <p:txBody>
          <a:bodyPr wrap="square" anchor="ctr" lIns="0" rIns="0" tIns="0" bIns="0">
            <a:spAutoFit/>
          </a:bodyPr>
          <a:lstStyle/>
          <a:p>
            <a:pPr>
              <a:spcBef>
                <a:spcPts val="0"/>
              </a:spcBef>
              <a:spcAft>
                <a:spcPts val="600"/>
              </a:spcAft>
            </a:pPr>
            <a:r>
              <a:rPr sz="1300" b="1" i="0">
                <a:solidFill>
                  <a:srgbClr val="2E9E5B"/>
                </a:solidFill>
                <a:latin typeface="Calibri"/>
              </a:rPr>
              <a:t>✅  </a:t>
            </a:r>
            <a:r>
              <a:rPr sz="1150" b="0" i="0">
                <a:solidFill>
                  <a:srgbClr val="242D35"/>
                </a:solidFill>
                <a:latin typeface="Calibri"/>
              </a:rPr>
              <a:t>All free. Pick ONE job from today and try it this week — that's how it sticks.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2A43"/>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515600" cy="1280160"/>
          </a:xfrm>
          <a:prstGeom prst="rect">
            <a:avLst/>
          </a:prstGeom>
          <a:noFill/>
        </p:spPr>
        <p:txBody>
          <a:bodyPr wrap="square" anchor="t" lIns="0" rIns="0" tIns="0" bIns="0">
            <a:spAutoFit/>
          </a:bodyPr>
          <a:lstStyle/>
          <a:p>
            <a:pPr>
              <a:spcBef>
                <a:spcPts val="0"/>
              </a:spcBef>
              <a:spcAft>
                <a:spcPts val="600"/>
              </a:spcAft>
            </a:pPr>
            <a:r>
              <a:rPr sz="4000" b="1" i="0">
                <a:solidFill>
                  <a:srgbClr val="FFFFFF"/>
                </a:solidFill>
                <a:latin typeface="Calibri"/>
              </a:rPr>
              <a:t>One challenge before you go</a:t>
            </a:r>
          </a:p>
        </p:txBody>
      </p:sp>
      <p:sp>
        <p:nvSpPr>
          <p:cNvPr id="5" name="Oval 4"/>
          <p:cNvSpPr/>
          <p:nvPr/>
        </p:nvSpPr>
        <p:spPr>
          <a:xfrm>
            <a:off x="1280160" y="2788920"/>
            <a:ext cx="548640" cy="54864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88920"/>
            <a:ext cx="548640" cy="54864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7" name="TextBox 6"/>
          <p:cNvSpPr txBox="1"/>
          <p:nvPr/>
        </p:nvSpPr>
        <p:spPr>
          <a:xfrm>
            <a:off x="2057400" y="2743200"/>
            <a:ext cx="8686800" cy="640080"/>
          </a:xfrm>
          <a:prstGeom prst="rect">
            <a:avLst/>
          </a:prstGeom>
          <a:noFill/>
        </p:spPr>
        <p:txBody>
          <a:bodyPr wrap="square" anchor="ctr" lIns="0" rIns="0" tIns="0" bIns="0">
            <a:spAutoFit/>
          </a:bodyPr>
          <a:lstStyle/>
          <a:p>
            <a:pPr>
              <a:spcBef>
                <a:spcPts val="0"/>
              </a:spcBef>
              <a:spcAft>
                <a:spcPts val="600"/>
              </a:spcAft>
            </a:pPr>
            <a:r>
              <a:rPr sz="1600" b="1" i="0">
                <a:solidFill>
                  <a:srgbClr val="14B8B0"/>
                </a:solidFill>
                <a:latin typeface="Calibri"/>
              </a:rPr>
              <a:t>Tonight  </a:t>
            </a:r>
            <a:r>
              <a:rPr sz="1500" b="0" i="0">
                <a:solidFill>
                  <a:srgbClr val="FFFFFF"/>
                </a:solidFill>
                <a:latin typeface="Calibri"/>
              </a:rPr>
              <a:t>Hand one 15-minute task to a free AI</a:t>
            </a:r>
          </a:p>
        </p:txBody>
      </p:sp>
      <p:sp>
        <p:nvSpPr>
          <p:cNvPr id="8" name="Oval 7"/>
          <p:cNvSpPr/>
          <p:nvPr/>
        </p:nvSpPr>
        <p:spPr>
          <a:xfrm>
            <a:off x="1280160" y="3566160"/>
            <a:ext cx="548640" cy="54864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3566160"/>
            <a:ext cx="548640" cy="54864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10" name="TextBox 9"/>
          <p:cNvSpPr txBox="1"/>
          <p:nvPr/>
        </p:nvSpPr>
        <p:spPr>
          <a:xfrm>
            <a:off x="2057400" y="3520440"/>
            <a:ext cx="8686800" cy="640080"/>
          </a:xfrm>
          <a:prstGeom prst="rect">
            <a:avLst/>
          </a:prstGeom>
          <a:noFill/>
        </p:spPr>
        <p:txBody>
          <a:bodyPr wrap="square" anchor="ctr" lIns="0" rIns="0" tIns="0" bIns="0">
            <a:spAutoFit/>
          </a:bodyPr>
          <a:lstStyle/>
          <a:p>
            <a:pPr>
              <a:spcBef>
                <a:spcPts val="0"/>
              </a:spcBef>
              <a:spcAft>
                <a:spcPts val="600"/>
              </a:spcAft>
            </a:pPr>
            <a:r>
              <a:rPr sz="1600" b="1" i="0">
                <a:solidFill>
                  <a:srgbClr val="14B8B0"/>
                </a:solidFill>
                <a:latin typeface="Calibri"/>
              </a:rPr>
              <a:t>Notice  </a:t>
            </a:r>
            <a:r>
              <a:rPr sz="1500" b="0" i="0">
                <a:solidFill>
                  <a:srgbClr val="FFFFFF"/>
                </a:solidFill>
                <a:latin typeface="Calibri"/>
              </a:rPr>
              <a:t>What it nailed — and what you had to fix</a:t>
            </a:r>
          </a:p>
        </p:txBody>
      </p:sp>
      <p:sp>
        <p:nvSpPr>
          <p:cNvPr id="11" name="Oval 10"/>
          <p:cNvSpPr/>
          <p:nvPr/>
        </p:nvSpPr>
        <p:spPr>
          <a:xfrm>
            <a:off x="1280160" y="4343400"/>
            <a:ext cx="548640" cy="548640"/>
          </a:xfrm>
          <a:prstGeom prst="ellipse">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4343400"/>
            <a:ext cx="548640" cy="548640"/>
          </a:xfrm>
          <a:prstGeom prst="rect">
            <a:avLst/>
          </a:prstGeom>
          <a:noFill/>
        </p:spPr>
        <p:txBody>
          <a:bodyPr wrap="square" anchor="ctr" lIns="0" rIns="0" tIns="0" bIns="0">
            <a:spAutoFit/>
          </a:bodyPr>
          <a:lstStyle/>
          <a:p>
            <a:pPr algn="ctr">
              <a:spcBef>
                <a:spcPts val="0"/>
              </a:spcBef>
              <a:spcAft>
                <a:spcPts val="600"/>
              </a:spcAft>
            </a:pPr>
            <a:r>
              <a:rPr sz="1800" b="1" i="0">
                <a:solidFill>
                  <a:srgbClr val="FFFFFF"/>
                </a:solidFill>
                <a:latin typeface="Calibri"/>
              </a:rPr>
              <a:t>💡</a:t>
            </a:r>
          </a:p>
        </p:txBody>
      </p:sp>
      <p:sp>
        <p:nvSpPr>
          <p:cNvPr id="13" name="TextBox 12"/>
          <p:cNvSpPr txBox="1"/>
          <p:nvPr/>
        </p:nvSpPr>
        <p:spPr>
          <a:xfrm>
            <a:off x="2057400" y="4297680"/>
            <a:ext cx="8686800" cy="640080"/>
          </a:xfrm>
          <a:prstGeom prst="rect">
            <a:avLst/>
          </a:prstGeom>
          <a:noFill/>
        </p:spPr>
        <p:txBody>
          <a:bodyPr wrap="square" anchor="ctr" lIns="0" rIns="0" tIns="0" bIns="0">
            <a:spAutoFit/>
          </a:bodyPr>
          <a:lstStyle/>
          <a:p>
            <a:pPr>
              <a:spcBef>
                <a:spcPts val="0"/>
              </a:spcBef>
              <a:spcAft>
                <a:spcPts val="600"/>
              </a:spcAft>
            </a:pPr>
            <a:r>
              <a:rPr sz="1600" b="1" i="0">
                <a:solidFill>
                  <a:srgbClr val="14B8B0"/>
                </a:solidFill>
                <a:latin typeface="Calibri"/>
              </a:rPr>
              <a:t>That gap  </a:t>
            </a:r>
            <a:r>
              <a:rPr sz="1500" b="0" i="0">
                <a:solidFill>
                  <a:srgbClr val="FFFFFF"/>
                </a:solidFill>
                <a:latin typeface="Calibri"/>
              </a:rPr>
              <a:t>is exactly the skill worth building</a:t>
            </a:r>
          </a:p>
        </p:txBody>
      </p:sp>
      <p:sp>
        <p:nvSpPr>
          <p:cNvPr id="14" name="Rounded Rectangle 13"/>
          <p:cNvSpPr/>
          <p:nvPr/>
        </p:nvSpPr>
        <p:spPr>
          <a:xfrm>
            <a:off x="3977639" y="5486400"/>
            <a:ext cx="4206240" cy="777240"/>
          </a:xfrm>
          <a:prstGeom prst="roundRect">
            <a:avLst/>
          </a:prstGeom>
          <a:solidFill>
            <a:srgbClr val="14B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2000" b="1" i="0">
                <a:solidFill>
                  <a:srgbClr val="0F2A43"/>
                </a:solidFill>
                <a:latin typeface="Calibr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